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Before I explain anything, I am going to show you something. On this table are two USRP B210 radios. In about four minutes I will send an encrypted message between them, and I will show you that on a spectrum analyser that transmission is indistinguishable from the noise floor of an empty room.</a:t>
            </a:r>
          </a:p>
          <a:p>
            <a:br/>
            <a:r>
              <a:t>10-year-old version: We built a radio that whispers so quietly that nobody can tell it is talking.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narrate the chain yet. Just say: this is the transmitter, this is the receiver, watch the spectrum. Send 'ALPHA-INDIA-001'. Let the room see the flat waterfall and then the decoded text. That contrast -- nothing on the spectrum, message received -- is the whole project in one image. Everything in the next four hours is explaining how that is possible and how far it is from being trustworthy.</a:t>
            </a:r>
          </a:p>
          <a:p>
            <a:br/>
            <a:r>
              <a:t>10-year-old version: Look: the picture shows nothing. But the message still arrived.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numbers. KS p-value 0.865 means a statistician looking at my samples cannot reject the hypothesis that they are pure noise. Eight out of eight electronic-warfare test domains pass. A convolutional detector trained specifically on my waveform gets 55.9 percent -- a coin flip is 50. Bit error rate three in a hundred thousand at 6 dB with carrier offset, phase noise, DC offset and IQ imbalance all switched on. And every message came back exactly right. The last card is the one I am most proud of: it is a gate that exits non-zero if any of this regresses, so the numbers cannot silently rot.</a:t>
            </a:r>
          </a:p>
          <a:p>
            <a:br/>
            <a:r>
              <a:t>10-year-old version: Five checks say 'this looks like noise'. One check says 'the message still got through'. Both are true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Officers in the room already know the kill chain; academics want the mechanism. This slide serves both. The single most quotable line is 'encryption protects content, LPI protects existence' -- say it twice, once now and once in the conclusion.</a:t>
            </a:r>
          </a:p>
          <a:p>
            <a:br/>
            <a:r>
              <a:t>10-year-old version: A lock keeps people from reading your letter. But they can still see that a letter was sent, and where it came from. We hide the letter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act is the 'why'. Keep it to eight minutes. It is the part that makes the rest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to land: every one of these five steps happens *before* anyone touches your ciphertext. AES is irrelevant to all of them. Quote the BPSK n=10 number -- it is from the benchmark table and it is the number that makes officers lean forward.</a:t>
            </a:r>
          </a:p>
          <a:p>
            <a:br/>
            <a:r>
              <a:t>10-year-old version: A spy does not need to read your note. They just need to see the light on in your window.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officer asks 'but we already use AES on our radios', this is the slide. The two are complementary, not alternatives. Say explicitly: we use AES too -- AES-128-CTR with a fresh nonce per message, plus CRC-8 and Reed-Solomon. We are adding the layer that was missing, not replacing the one that works.</a:t>
            </a:r>
          </a:p>
          <a:p>
            <a:br/>
            <a:r>
              <a:t>10-year-old version: Locking your diary stops people reading it. It does not stop them seeing you write in it every night at 9 pm.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Academics will ask about the square-root law. The honest answer is: yes, covert capacity is fundamentally sub-linear, and that is exactly why our payload is 24 characters per burst and not streaming video. We are not claiming a broadband covert link; we are claiming a short-burst covert text link, which is what a patrol actually needs.</a:t>
            </a:r>
          </a:p>
          <a:p>
            <a:br/>
            <a:r>
              <a:t>10-year-old version: There is a law of physics that says: the more you hide, the less you can say. We obey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 the examiners care about most, because it is the act that shows work. Tell it chronologically and do not skip the failures. Roughly 45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the novelty claim. It is not 'we invented GANs' and not 'we invented LPI'. It is the *simultaneous* demonstration of four things that prior work each demonstrated alone. Table 9 of the Elsevier draft is the comparison that supports this -- seven prior approaches, none of which has all four.</a:t>
            </a:r>
          </a:p>
          <a:p>
            <a:br/>
            <a:r>
              <a:t>10-year-old version: Other people built the engine, the wheels and the steering wheel separately. We were the first to build a car and drive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as a story, not a list. 'The first time a peak that existed only as a number in a Python block appeared on a spectrum display on another machine, that is when the project stopped being homework.' Then be concrete: the knobs you had to learn were centre frequency, sample rate, TX gain, RX gain and antenna port. Keep `GNU 1.grc` and `USRP testing.grc` open in GRC to show them.</a:t>
            </a:r>
          </a:p>
          <a:p>
            <a:br/>
            <a:r>
              <a:t>10-year-old version: First we made the radio say 'beep'. Then another radio heard the beep. That was step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establishes credibility with the RF people. You built a conventional spread-spectrum BPSK link *before* you touched a neural network, so you know what a good link looks like and you have something to compare the waveform against. Emphasise the RRC filter and the GLFSR spreader -- those are textbook, and you can point at them in the flowgraph.</a:t>
            </a:r>
          </a:p>
          <a:p>
            <a:br/>
            <a:r>
              <a:t>10-year-old version: Before teaching a robot to whisper, we learned to speak properly ourselves.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strong slide for academics because it shows you read the specification critically rather than implementing it blindly. The 336-to-256 truncation bug is the kind of finding that separates a project from a copy. Say it plainly: we found a bug in the design we were given, and here is the line of code that fixes it. Note the RS choice: RS(42,34) with nsize=42 -- RS(255,223) does not fit a 42-byte codeword, and reedsolo silently returns ('', ok=True) if you get that wrong.</a:t>
            </a:r>
          </a:p>
          <a:p>
            <a:br/>
            <a:r>
              <a:t>10-year-old version: We lock the message, add a checksum, then add spare letters so a few damaged ones can be rebuilt.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this become a machine-learning lecture. The one idea that matters: the generator is not free-form. It is a *spreading codebook*, so every transmitted sample is the sum of 128 independent keyed chips -- and a sum of many independent things is Gaussian. That is the central limit theorem doing the stealth, and it is why the stealth is robust instead of tuned. If a professor asks 'is this just DSSS with extra steps', the answer is: it is DSSS where the codes are learned jointly with the receiver and shaped against a trained detector -- and that difference is what removes the cyclostationary signature.</a:t>
            </a:r>
          </a:p>
          <a:p>
            <a:br/>
            <a:r>
              <a:t>10-year-old version: Imagine 128 people each whispering one letter of your message at the same time, all in different voices. To an outsider it is just a crowd noise. Your friend knows each voice, so she can pull each letter back 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normalisation has the highest weight because energy detection is the cheapest and most sensitive EW tool an enemy has -- a radiometer is a diode and an integrator. Also mention the v4 addition that is *not* in the nine: `loss_cov`, a covariance/Gram-spectrum term. Any generator whose internal dimension is smaller than the sample count produces frames in a fixed low-rank subspace, and the eigenvalue detector family used in cooperative spectrum sensing sees exactly that. It is not visible in any of the eight per-frame domains.</a:t>
            </a:r>
          </a:p>
          <a:p>
            <a:br/>
            <a:r>
              <a:t>10-year-old version: Nine different referees, each checking one thing: too loud, too peaked, too rhythmic, too samey. We had to satisfy all nine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question you will definitely get. Read it in words, not numbers: every classical waveform is separated from noise with 100 percent accuracy by a trained detector. Ours sits at 55.6 percent, and 50 is a coin flip. Then explain *why* they fail, because that is the insight: BPSK has a huge IQ circularity of 0.735 because it only ever sits on two points of the complex plane; DSSS and FHSS still have periodic structure, so a cyclostationary detector finds the code rate or the hop rate; OFDM has a cyclic prefix that is a gift to a detector. Note the NRPCS footnote honestly: it scores 50 percent only because its detector collapsed to predicting 'signal' for everything -- that is not stealth.</a:t>
            </a:r>
          </a:p>
          <a:p>
            <a:br/>
            <a:r>
              <a:t>10-year-old version: Every other trick still leaves a footprint in the sand. Ours leaves a footprint that looks exactly like the sand.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intellectually honest slide in the deck and academics will respect it enormously. You are telling them that your headline metric is largely explained by a theorem, not by your tuning -- and that you found this by running the control experiment. It also protects you: if someone says 'your stealth is trivial', you have already said it, and you have already explained what the learning actually contributes (invertibility plus the Gram/covariance domain).</a:t>
            </a:r>
          </a:p>
          <a:p>
            <a:br/>
            <a:r>
              <a:t>10-year-old version: If you add up 128 random little pushes, you always get a bell curve. That is a 300-year-old theorem, and it is doing our hiding for free.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word *independent*. Passing one test proves almost nothing -- a detector can always find another domain. The claim is that all eight pass simultaneously, and that a detector trained in the domains that matter still only reaches 55.9 percent. Also be ready for 'why equal weights?' -- answer: it is a heuristic for comparison only, the paper Monte-Carlo'd the weights and the grade stayed Good or better in all 10^4 draws.</a:t>
            </a:r>
          </a:p>
          <a:p>
            <a:br/>
            <a:r>
              <a:t>10-year-old version: Eight different lie-detector tests, all run at once. Passing one is easy. Passing all eight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act. It is the difference between a project that was assembled and a project that was engineered. Ten to fifteen minutes. It is also where you earn the room's trust, because you are showing your own failures before anyone can find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of these and tell them properly, do not read the table. Bug 6 is the best story: a conjugate-mirrored preamble has *two* identical correlation peaks, so timing is ambiguous by exactly 32 samples, and BER sits at 50 percent with a perfectly healthy-looking loss curve. A week went into that. Bug 7 is the one academics care about most: our detector was scoring 80 percent because the test frames *were* the training frames. Fixing it moved the honest number to 55.9.</a:t>
            </a:r>
          </a:p>
          <a:p>
            <a:br/>
            <a:r>
              <a:t>10-year-old version: Six times the system looked fine and was completely broken, and each time nothing on the screen told us. So we built tests that do tell us.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single-source-of-truth point is a software-engineering point, and it lands well with technical experts. Say it as a rule you now enforce: no dimension exists in two files. Then give the number that makes it concrete: one config, four consumers.</a:t>
            </a:r>
          </a:p>
          <a:p>
            <a:br/>
            <a:r>
              <a:t>10-year-old version: We used to keep the recipe in two notebooks, and they disagreed. Now there is one notebook.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±213 Hz versus ±5 kHz story is the single best piece of RF reasoning in the project. Say it slowly: the pilot repeats once per frame, so per-frame phase only resolves the offset modulo fs/T_frame. Two independent crystals cannot be that close. Therefore a search is not optional -- it is mandatory, and it is built in so that on the bench 'wrong LO offset' is simply not a failure mode.</a:t>
            </a:r>
          </a:p>
          <a:p>
            <a:br/>
            <a:r>
              <a:t>10-year-old version: Two radios are never tuned to exactly the same station. Ours can now find each other even when they are 5000 Hz apart.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demo this slide is your troubleshooting script. If the live link fails, you will look at exactly these four fields in front of an audience -- so say now, calmly, that the tool tells you the cause and you have a card for it. That is what a professional looks like under failure.</a:t>
            </a:r>
          </a:p>
          <a:p>
            <a:br/>
            <a:r>
              <a:t>10-year-old version: When it does not work, the screen tells us which of four things is wrong. We do not guess.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one straight. The web page in the repository was a mock-up and it was broken. We found that, and we fixed it, and the fix was to make every number on it come from the same measurement file the paper quotes. If an examiner opens the Metrics tab they will see KS 0.865 and adversary 55.9 percent with the source filename and the protocol printed above it. Old files are kept as app.py.legacy-v1.bak / index.html.legacy-v1.bak.</a:t>
            </a:r>
          </a:p>
          <a:p>
            <a:br/>
            <a:r>
              <a:t>10-year-old version: The dashboard used to have fake numbers painted on it. Now every number on it is one we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you from every other student project. The specifics matter: name the sha256 manifest, name the AST diff, name the bounds. Then make the argument: a gate that measures the training budget rather than the code is worse than no gate -- CI used to assert KS &gt; 0.05 on a 6-epoch model and went green and red on consecutive commits with no functional change.</a:t>
            </a:r>
          </a:p>
          <a:p>
            <a:br/>
            <a:r>
              <a:t>10-year-old version: We built alarms that ring when a number stops being true — even if the program still runs.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Then the Q&amp;A will live 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three rows aloud, not all twelve: KS, adversary, FER. Then point at the last column of the adversary row and volunteer the caveat yourself -- 55.90 percent at the paper's detector budget, 58.80 percent if you give the detector twice the training steps. That is the sentence that makes an examiner believe every other number on the slide.</a:t>
            </a:r>
          </a:p>
          <a:p>
            <a:br/>
            <a:r>
              <a:t>10-year-old version: Twelve tests. Twelve passes. And we tell you the one test that gets slightly worse if the enemy tries harder.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`--n-msg 64` as arithmetic, not a style choice. With 4 texts a clean run only bounds FER at 52.7 percent. 16 texts bounds it at 17.1, 32 at 8.9 -- still short of the 5 percent target. 64 texts with none lost bounds it at 4.6 percent, which clears the line. So 64 is the minimum sample that can support the claim, and `cp_n_needed()` computes it in reverse: 59 texts for the FER line, 299 bits for the BER line. Also say plainly that 0 dB is below the claimed operating point -- the gate is taken over SNR ≥ 5 dB and the full sweep is printed either way.</a:t>
            </a:r>
          </a:p>
          <a:p>
            <a:br/>
            <a:r>
              <a:t>10-year-old version: Saying 'zero mistakes' with only four tries proves nothing. We did 64 tries so the statement means something.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over-claim here. Say: the comparison is against what the surveyed papers report, not against systems we could test. Our claim is narrow and specific -- the simultaneous demonstration of four things. If someone says 'the autoencoder work is more elegant', agree: it is, and it is also unencrypted and validated on zero EW domains.</a:t>
            </a:r>
          </a:p>
          <a:p>
            <a:br/>
            <a:r>
              <a:t>10-year-old version: Everyone else did one or two of these things. We are the ones who did all four together and flew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convert sceptics. You are showing that you understand your own metric well enough to know the three ways it can be faked, and that you closed all three. The dead-end experiment is the strongest part: you tried the obvious improvement, it made things worse, and you wrote it down so nobody repeats it.</a:t>
            </a:r>
          </a:p>
          <a:p>
            <a:br/>
            <a:r>
              <a:t>10-year-old version: We cheated by accident at first — we tested the robot on questions it had already seen. When we stopped, the honest score was worse. We report the honest score.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LO-leakage bullet carefully and do not soften it. It is the most sophisticated criticism available to an RF examiner and you are making it first. Then give the mitigations: minimum TX gain, a well-calibrated board, and a hardware IQ/DC calibration stage. The per-capture 68–72 % figure is the most important honest number in the whole deck: it is the one an RF examiner could find by running your own console ten times, so say it first and say the ARQ fix in the same breath. Two earlier explanations for it were tested and retracted — `cfo_max` (every measured CFO was ≤197.7 Hz), the random latent seed, and zero-padding. If an earlier slide or answer implied `cfo_max`, correct it here.</a:t>
            </a:r>
          </a:p>
          <a:p>
            <a:br/>
            <a:r>
              <a:t>10-year-old version: Here are the things we do not know yet. We would rather tell you now than have you find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This is the act where officers engage. Be concrete about integration points and be equally concrete about the certification and logistics obstacles.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Counter-UAS deception point is the one that gets attention, and it is honest: a generator that can make a signal indistinguishable from noise can also make a fake signal indistinguishable from a real one. Say it as a dual-use observation, not as a claim you have demonstrated it.</a:t>
            </a:r>
          </a:p>
          <a:p>
            <a:br/>
            <a:r>
              <a:t>10-year-old version: Right now, if a soldier radios in, the enemy learns where he is. This lets him send 24 letters without anyone knowing he spoke.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promise a fielded system. Promise a validated waveform and a reproducible testbench, plus a clear list of what stands between this and a certified radio. Officers respect that distinction far more than enthusiasm. If asked 'could we use this next month', the answer is: as a training aid and a trials asset, yes; as an operational crypto, no, not until key management and certification are done.</a:t>
            </a:r>
          </a:p>
          <a:p>
            <a:br/>
            <a:r>
              <a:t>10-year-old version: We have built the engine and proved it works. It still needs a body, a lock, and a government stamp.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rung 7 out loud. Saying 'the number that matters is the one your own team measures, not mine' is the most credible thing you can say in a five-hour viva, and it is also true -- the 48–56 percent band is a property of the detector's budget.</a:t>
            </a:r>
          </a:p>
          <a:p>
            <a:br/>
            <a:r>
              <a:t>10-year-old version: There are seven steps from 'it runs on my laptop' to 'trust it in a fight'. We have done five. Here are the last two.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 7 is the intellectually interesting one and academics will like it: your preamble is a known structured signal, and a determined detector can correlate against a guessed Zadoff–Chu root. Keying the root mitigates it, but implicit synchronisation is the real fix.</a:t>
            </a:r>
          </a:p>
          <a:p>
            <a:br/>
            <a:r>
              <a:t>10-year-old version: Next: let it carry a voice, test it in real hills, and remove the last thing that still looks like a signal — the sync burst.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talking after this. Let it sit for two seconds, then say 'I am happy to take questions, and the hardware is live if you would like to try it yourself.'</a:t>
            </a:r>
          </a:p>
          <a:p>
            <a:br/>
            <a:r>
              <a:t>10-year-old version: A lock hides your words. This hides the fact that you spoke.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used on demand. Know where each one 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 the first and the third on the whiteboard if asked. They take twenty seconds each and they show the numbers are not magic.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officer asks a question using a term you have not defined, define it in one sentence and then answer. Never answer over an undefined term.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FINDINGS.md open in a second window for the whole session. It is the most persuasive document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technical expert says 'I want to run this myself', this is the slide. Four commands, no radio required, under five minutes, and the fourth one prints its own verdict.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hand over the keyboard. The best thing that can happen in the next four hours is an examiner typing a message and watching it come back.</a:t>
            </a:r>
          </a:p>
          <a:p>
            <a:br/>
            <a:r>
              <a:t>10-year-old version: Come and type something. We dare you to catch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737360"/>
            <a:ext cx="10728655" cy="3291840"/>
          </a:xfrm>
          <a:prstGeom prst="rect">
            <a:avLst/>
          </a:prstGeom>
          <a:noFill/>
        </p:spPr>
        <p:txBody>
          <a:bodyPr wrap="square">
            <a:spAutoFit/>
          </a:bodyPr>
          <a:lstStyle/>
          <a:p>
            <a:pPr>
              <a:spcAft>
                <a:spcPts val="600"/>
              </a:spcAft>
            </a:pPr>
            <a:r>
              <a:rPr sz="1200" b="1" i="0">
                <a:solidFill>
                  <a:srgbClr val="3FB950"/>
                </a:solidFill>
                <a:latin typeface="Segoe UI"/>
              </a:rPr>
              <a:t>M.TECH DISSERTATION  ·  DEFENCE REVIEW</a:t>
            </a:r>
          </a:p>
          <a:p>
            <a:pPr>
              <a:spcAft>
                <a:spcPts val="1400"/>
              </a:spcAft>
            </a:pPr>
            <a:r>
              <a:rPr sz="4800" b="1" i="0">
                <a:solidFill>
                  <a:srgbClr val="E6EDF3"/>
                </a:solidFill>
                <a:latin typeface="Segoe UI"/>
              </a:rPr>
              <a:t>PROJECT ANSHUMAN</a:t>
            </a:r>
          </a:p>
          <a:p>
            <a:pPr>
              <a:spcAft>
                <a:spcPts val="2200"/>
              </a:spcAft>
            </a:pPr>
            <a:r>
              <a:rPr sz="1800" b="0" i="0">
                <a:solidFill>
                  <a:srgbClr val="8B98A5"/>
                </a:solidFill>
                <a:latin typeface="Segoe UI"/>
              </a:rPr>
              <a:t>AI-Generated Noise: an LPI/LPD covert link that carries AES-encrypted text over a USRP B210 and looks like thermal noise to an enemy receiver</a:t>
            </a:r>
          </a:p>
          <a:p>
            <a:pPr>
              <a:spcAft>
                <a:spcPts val="600"/>
              </a:spcAft>
            </a:pPr>
            <a:r>
              <a:rPr sz="1200" b="0" i="0">
                <a:solidFill>
                  <a:srgbClr val="4B5563"/>
                </a:solidFill>
                <a:latin typeface="Segoe UI"/>
              </a:rPr>
              <a:t>ShadowComm LPI-CGAN v4  ·  MCTE Mhow + IIT Indore  ·  IEEE-GCON 2026 accepted  ·  Elsevier journal draft under preparation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274320"/>
            <a:ext cx="2743200" cy="365760"/>
          </a:xfrm>
          <a:prstGeom prst="rect">
            <a:avLst/>
          </a:prstGeom>
          <a:noFill/>
        </p:spPr>
        <p:txBody>
          <a:bodyPr wrap="square">
            <a:spAutoFit/>
          </a:bodyPr>
          <a:lstStyle/>
          <a:p>
            <a:pPr>
              <a:spcAft>
                <a:spcPts val="600"/>
              </a:spcAft>
            </a:pPr>
            <a:r>
              <a:rPr sz="1200" b="1" i="0">
                <a:solidFill>
                  <a:srgbClr val="3FB950"/>
                </a:solidFill>
                <a:latin typeface="Segoe UI"/>
              </a:rPr>
              <a:t>LIVE DEMO</a:t>
            </a:r>
          </a:p>
        </p:txBody>
      </p:sp>
      <p:sp>
        <p:nvSpPr>
          <p:cNvPr id="3" name="TextBox 2"/>
          <p:cNvSpPr txBox="1"/>
          <p:nvPr/>
        </p:nvSpPr>
        <p:spPr>
          <a:xfrm>
            <a:off x="548640" y="566928"/>
            <a:ext cx="11094415" cy="1005840"/>
          </a:xfrm>
          <a:prstGeom prst="rect">
            <a:avLst/>
          </a:prstGeom>
          <a:noFill/>
        </p:spPr>
        <p:txBody>
          <a:bodyPr wrap="square">
            <a:spAutoFit/>
          </a:bodyPr>
          <a:lstStyle/>
          <a:p>
            <a:pPr>
              <a:spcAft>
                <a:spcPts val="600"/>
              </a:spcAft>
            </a:pPr>
            <a:r>
              <a:rPr sz="2800" b="1" i="0">
                <a:solidFill>
                  <a:srgbClr val="E6EDF3"/>
                </a:solidFill>
                <a:latin typeface="Segoe UI"/>
              </a:rPr>
              <a:t>First: the 90-second demo</a:t>
            </a:r>
          </a:p>
        </p:txBody>
      </p:sp>
      <p:sp>
        <p:nvSpPr>
          <p:cNvPr id="4" name="TextBox 3"/>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Watch the spectrum. Then watch the message arrive.</a:t>
            </a:r>
          </a:p>
        </p:txBody>
      </p:sp>
      <p:sp>
        <p:nvSpPr>
          <p:cNvPr id="5" name="TextBox 4"/>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TX box: plaintext → AES-128-CTR → CRC-8 → RS(42,34) → CGAN → IQ → B210</a:t>
            </a:r>
          </a:p>
          <a:p>
            <a:pPr>
              <a:spcAft>
                <a:spcPts val="700"/>
              </a:spcAft>
            </a:pPr>
            <a:r>
              <a:rPr sz="1700" b="0" i="0">
                <a:solidFill>
                  <a:srgbClr val="E6EDF3"/>
                </a:solidFill>
                <a:latin typeface="Segoe UI"/>
              </a:rPr>
              <a:t>▸  RX box: B210 → keyed sync → CFO/phase → decoder → RS → AES → plaintext</a:t>
            </a:r>
          </a:p>
          <a:p>
            <a:pPr>
              <a:spcAft>
                <a:spcPts val="1000"/>
              </a:spcAft>
            </a:pPr>
            <a:r>
              <a:rPr sz="1800" b="1" i="0">
                <a:solidFill>
                  <a:srgbClr val="3FB950"/>
                </a:solidFill>
                <a:latin typeface="Segoe UI"/>
              </a:rPr>
              <a:t>■  Look at the waterfall: there is no bump, no line, no shape to find</a:t>
            </a:r>
          </a:p>
          <a:p>
            <a:pPr>
              <a:spcAft>
                <a:spcPts val="1000"/>
              </a:spcAft>
            </a:pPr>
            <a:r>
              <a:rPr sz="1800" b="1" i="0">
                <a:solidFill>
                  <a:srgbClr val="3FB950"/>
                </a:solidFill>
                <a:latin typeface="Segoe UI"/>
              </a:rPr>
              <a:t>■  Then the exact text appears on the receiver screen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3200" b="1" i="0">
                <a:solidFill>
                  <a:srgbClr val="E6EDF3"/>
                </a:solidFill>
                <a:latin typeface="Segoe UI"/>
              </a:rPr>
              <a:t>The one-slide result</a:t>
            </a:r>
          </a:p>
        </p:txBody>
      </p:sp>
      <p:sp>
        <p:nvSpPr>
          <p:cNvPr id="3" name="TextBox 2"/>
          <p:cNvSpPr txBox="1"/>
          <p:nvPr/>
        </p:nvSpPr>
        <p:spPr>
          <a:xfrm>
            <a:off x="548640" y="1371600"/>
            <a:ext cx="11094415" cy="822960"/>
          </a:xfrm>
          <a:prstGeom prst="rect">
            <a:avLst/>
          </a:prstGeom>
          <a:noFill/>
        </p:spPr>
        <p:txBody>
          <a:bodyPr wrap="square">
            <a:spAutoFit/>
          </a:bodyPr>
          <a:lstStyle/>
          <a:p>
            <a:pPr>
              <a:spcAft>
                <a:spcPts val="600"/>
              </a:spcAft>
            </a:pPr>
            <a:r>
              <a:rPr sz="1500" b="0" i="0">
                <a:solidFill>
                  <a:srgbClr val="8B98A5"/>
                </a:solidFill>
                <a:latin typeface="Segoe UI"/>
              </a:rPr>
              <a:t>Measured on the shipped checkpoint, reproduced again today on CPU</a:t>
            </a:r>
          </a:p>
        </p:txBody>
      </p:sp>
      <p:sp>
        <p:nvSpPr>
          <p:cNvPr id="4" name="Rectangle 3"/>
          <p:cNvSpPr/>
          <p:nvPr/>
        </p:nvSpPr>
        <p:spPr>
          <a:xfrm>
            <a:off x="548640" y="18288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0.865</a:t>
            </a:r>
          </a:p>
          <a:p>
            <a:pPr>
              <a:spcAft>
                <a:spcPts val="600"/>
              </a:spcAft>
            </a:pPr>
            <a:r>
              <a:rPr sz="1100" b="0" i="0">
                <a:solidFill>
                  <a:srgbClr val="8B98A5"/>
                </a:solidFill>
                <a:latin typeface="Segoe UI"/>
              </a:rPr>
              <a:t>KS p-value vs AWGN (cannot reject "this is noise")</a:t>
            </a:r>
          </a:p>
        </p:txBody>
      </p:sp>
      <p:sp>
        <p:nvSpPr>
          <p:cNvPr id="5" name="Rectangle 4"/>
          <p:cNvSpPr/>
          <p:nvPr/>
        </p:nvSpPr>
        <p:spPr>
          <a:xfrm>
            <a:off x="4343400" y="18288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8 / 8</a:t>
            </a:r>
          </a:p>
          <a:p>
            <a:pPr>
              <a:spcAft>
                <a:spcPts val="600"/>
              </a:spcAft>
            </a:pPr>
            <a:r>
              <a:rPr sz="1100" b="0" i="0">
                <a:solidFill>
                  <a:srgbClr val="8B98A5"/>
                </a:solidFill>
                <a:latin typeface="Segoe UI"/>
              </a:rPr>
              <a:t>EW detection domains passed composite Sc = 0.140</a:t>
            </a:r>
          </a:p>
        </p:txBody>
      </p:sp>
      <p:sp>
        <p:nvSpPr>
          <p:cNvPr id="6" name="Rectangle 5"/>
          <p:cNvSpPr/>
          <p:nvPr/>
        </p:nvSpPr>
        <p:spPr>
          <a:xfrm>
            <a:off x="8138160" y="18288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55.9 %</a:t>
            </a:r>
          </a:p>
          <a:p>
            <a:pPr>
              <a:spcAft>
                <a:spcPts val="600"/>
              </a:spcAft>
            </a:pPr>
            <a:r>
              <a:rPr sz="1100" b="0" i="0">
                <a:solidFill>
                  <a:srgbClr val="8B98A5"/>
                </a:solidFill>
                <a:latin typeface="Segoe UI"/>
              </a:rPr>
              <a:t>adversary CNN accuracy (chance = 50 %)</a:t>
            </a:r>
          </a:p>
        </p:txBody>
      </p:sp>
      <p:sp>
        <p:nvSpPr>
          <p:cNvPr id="7" name="Rectangle 6"/>
          <p:cNvSpPr/>
          <p:nvPr/>
        </p:nvSpPr>
        <p:spPr>
          <a:xfrm>
            <a:off x="548640" y="38862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3.05e-05</a:t>
            </a:r>
          </a:p>
          <a:p>
            <a:pPr>
              <a:spcAft>
                <a:spcPts val="600"/>
              </a:spcAft>
            </a:pPr>
            <a:r>
              <a:rPr sz="1100" b="0" i="0">
                <a:solidFill>
                  <a:srgbClr val="8B98A5"/>
                </a:solidFill>
                <a:latin typeface="Segoe UI"/>
              </a:rPr>
              <a:t>field BER at 6 dB (5 real RF impairments)</a:t>
            </a:r>
          </a:p>
        </p:txBody>
      </p:sp>
      <p:sp>
        <p:nvSpPr>
          <p:cNvPr id="8" name="Rectangle 7"/>
          <p:cNvSpPr/>
          <p:nvPr/>
        </p:nvSpPr>
        <p:spPr>
          <a:xfrm>
            <a:off x="4343400" y="38862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0 %</a:t>
            </a:r>
          </a:p>
          <a:p>
            <a:pPr>
              <a:spcAft>
                <a:spcPts val="600"/>
              </a:spcAft>
            </a:pPr>
            <a:r>
              <a:rPr sz="1100" b="0" i="0">
                <a:solidFill>
                  <a:srgbClr val="8B98A5"/>
                </a:solidFill>
                <a:latin typeface="Segoe UI"/>
              </a:rPr>
              <a:t>message FER ≥ 2 dB 64 texts per SNR, all exact</a:t>
            </a:r>
          </a:p>
        </p:txBody>
      </p:sp>
      <p:sp>
        <p:nvSpPr>
          <p:cNvPr id="9" name="Rectangle 8"/>
          <p:cNvSpPr/>
          <p:nvPr/>
        </p:nvSpPr>
        <p:spPr>
          <a:xfrm>
            <a:off x="8138160" y="3886200"/>
            <a:ext cx="3520440" cy="1783080"/>
          </a:xfrm>
          <a:prstGeom prst="rect">
            <a:avLst/>
          </a:prstGeom>
          <a:solidFill>
            <a:srgbClr val="0F141C"/>
          </a:solidFill>
          <a:ln w="1270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28016"/>
          <a:lstStyle/>
          <a:p>
            <a:pPr algn="ctr">
              <a:spcAft>
                <a:spcPts val="400"/>
              </a:spcAft>
            </a:pPr>
            <a:r>
              <a:rPr sz="3000" b="1" i="0">
                <a:solidFill>
                  <a:srgbClr val="3FB950"/>
                </a:solidFill>
                <a:latin typeface="Segoe UI"/>
              </a:rPr>
              <a:t>6 / 6</a:t>
            </a:r>
          </a:p>
          <a:p>
            <a:pPr>
              <a:spcAft>
                <a:spcPts val="600"/>
              </a:spcAft>
            </a:pPr>
            <a:r>
              <a:rPr sz="1100" b="0" i="0">
                <a:solidFill>
                  <a:srgbClr val="8B98A5"/>
                </a:solidFill>
                <a:latin typeface="Segoe UI"/>
              </a:rPr>
              <a:t>acceptance gate checks PASS lpi_eval.py exit code 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What this project is, in one breath</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If you remember one slide, remember this one</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A military radio must do two things at once: deliver the message, and not announce that it exists.</a:t>
            </a:r>
          </a:p>
          <a:p>
            <a:pPr>
              <a:spcAft>
                <a:spcPts val="700"/>
              </a:spcAft>
            </a:pPr>
            <a:r>
              <a:rPr sz="1700" b="0" i="0">
                <a:solidFill>
                  <a:srgbClr val="E6EDF3"/>
                </a:solidFill>
                <a:latin typeface="Segoe UI"/>
              </a:rPr>
              <a:t>▸  Encryption solves the first problem. It does nothing for the second -- the enemy does not need your words, only your position.</a:t>
            </a:r>
          </a:p>
          <a:p>
            <a:pPr>
              <a:spcAft>
                <a:spcPts val="1000"/>
              </a:spcAft>
            </a:pPr>
            <a:r>
              <a:rPr sz="1800" b="1" i="0">
                <a:solidFill>
                  <a:srgbClr val="3FB950"/>
                </a:solidFill>
                <a:latin typeface="Segoe UI"/>
              </a:rPr>
              <a:t>■  Encryption protects CONTENT. LPI protects EXISTENCE.</a:t>
            </a:r>
          </a:p>
          <a:p>
            <a:pPr>
              <a:spcAft>
                <a:spcPts val="700"/>
              </a:spcAft>
            </a:pPr>
            <a:r>
              <a:rPr sz="1700" b="0" i="0">
                <a:solidFill>
                  <a:srgbClr val="E6EDF3"/>
                </a:solidFill>
                <a:latin typeface="Segoe UI"/>
              </a:rPr>
              <a:t>▸  We make the transmitted waveform statistically identical to background thermal noise, across eight independent detection domains, while still carrying an AES-encrypted, error-corrected payload.</a:t>
            </a:r>
          </a:p>
          <a:p>
            <a:pPr>
              <a:spcAft>
                <a:spcPts val="400"/>
              </a:spcAft>
            </a:pPr>
            <a:r>
              <a:rPr sz="1500" b="0" i="0">
                <a:solidFill>
                  <a:srgbClr val="C3CED9"/>
                </a:solidFill>
                <a:latin typeface="Segoe UI"/>
              </a:rPr>
              <a:t>        –  Method: a conditional GAN learns a keyed spreading codebook; the message rides inside 128 chips per frame; the receiver is a matched filter plus a learned head.</a:t>
            </a:r>
          </a:p>
          <a:p>
            <a:pPr>
              <a:spcAft>
                <a:spcPts val="400"/>
              </a:spcAft>
            </a:pPr>
            <a:r>
              <a:rPr sz="1500" b="0" i="0">
                <a:solidFill>
                  <a:srgbClr val="C3CED9"/>
                </a:solidFill>
                <a:latin typeface="Segoe UI"/>
              </a:rPr>
              <a:t>        –  Proof: statistical tests, a trained enemy CNN, per-SNR BER/FER, and over-the-air hardware.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1</a:t>
            </a:r>
          </a:p>
          <a:p>
            <a:pPr>
              <a:spcAft>
                <a:spcPts val="1000"/>
              </a:spcAft>
            </a:pPr>
            <a:r>
              <a:rPr sz="4000" b="1" i="0">
                <a:solidFill>
                  <a:srgbClr val="E6EDF3"/>
                </a:solidFill>
                <a:latin typeface="Segoe UI"/>
              </a:rPr>
              <a:t>How a radio gets caught</a:t>
            </a:r>
          </a:p>
          <a:p>
            <a:pPr>
              <a:spcAft>
                <a:spcPts val="600"/>
              </a:spcAft>
            </a:pPr>
            <a:r>
              <a:rPr sz="1800" b="0" i="0">
                <a:solidFill>
                  <a:srgbClr val="8B98A5"/>
                </a:solidFill>
                <a:latin typeface="Segoe UI"/>
              </a:rPr>
              <a:t>Five steps, and encryption stops none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The intercept kill chain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Detection is a pipeline, not an event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1. Energy detection -- is there power above the noise floor?</a:t>
            </a:r>
          </a:p>
          <a:p>
            <a:pPr>
              <a:spcAft>
                <a:spcPts val="700"/>
              </a:spcAft>
            </a:pPr>
            <a:r>
              <a:rPr sz="1700" b="0" i="0">
                <a:solidFill>
                  <a:srgbClr val="E6EDF3"/>
                </a:solidFill>
                <a:latin typeface="Segoe UI"/>
              </a:rPr>
              <a:t>▸  2. Direction finding -- triangulate the emitter, get a grid square</a:t>
            </a:r>
          </a:p>
          <a:p>
            <a:pPr>
              <a:spcAft>
                <a:spcPts val="700"/>
              </a:spcAft>
            </a:pPr>
            <a:r>
              <a:rPr sz="1700" b="0" i="0">
                <a:solidFill>
                  <a:srgbClr val="E6EDF3"/>
                </a:solidFill>
                <a:latin typeface="Segoe UI"/>
              </a:rPr>
              <a:t>▸  3. Traffic analysis -- even with no words: who talks, when, how often, for how long</a:t>
            </a:r>
          </a:p>
          <a:p>
            <a:pPr>
              <a:spcAft>
                <a:spcPts val="700"/>
              </a:spcAft>
            </a:pPr>
            <a:r>
              <a:rPr sz="1700" b="0" i="0">
                <a:solidFill>
                  <a:srgbClr val="E6EDF3"/>
                </a:solidFill>
                <a:latin typeface="Segoe UI"/>
              </a:rPr>
              <a:t>▸  4. AI classification -- a CNN on I/Q or a spectrogram says 'this is BPSK, this is OFDM'</a:t>
            </a:r>
          </a:p>
          <a:p>
            <a:pPr>
              <a:spcAft>
                <a:spcPts val="700"/>
              </a:spcAft>
            </a:pPr>
            <a:r>
              <a:rPr sz="1700" b="0" i="0">
                <a:solidFill>
                  <a:srgbClr val="E6EDF3"/>
                </a:solidFill>
                <a:latin typeface="Segoe UI"/>
              </a:rPr>
              <a:t>▸  5. Jam or intercept -- targeted denial, or a recorded capture for offline attack</a:t>
            </a:r>
          </a:p>
          <a:p>
            <a:pPr>
              <a:spcAft>
                <a:spcPts val="1000"/>
              </a:spcAft>
            </a:pPr>
            <a:r>
              <a:rPr sz="1800" b="1" i="0">
                <a:solidFill>
                  <a:srgbClr val="3FB950"/>
                </a:solidFill>
                <a:latin typeface="Segoe UI"/>
              </a:rPr>
              <a:t>■  Steps 1 to 3 need nothing from your cryptography. Step 4 needs ten samples.</a:t>
            </a:r>
          </a:p>
          <a:p>
            <a:pPr>
              <a:spcAft>
                <a:spcPts val="700"/>
              </a:spcAft>
            </a:pPr>
            <a:r>
              <a:rPr sz="1700" b="0" i="0">
                <a:solidFill>
                  <a:srgbClr val="E6EDF3"/>
                </a:solidFill>
                <a:latin typeface="Segoe UI"/>
              </a:rPr>
              <a:t>▸  Reference: BPSK reaches 100 % detection accuracy at n = 10 training samples.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Encryption is not covertness</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Two different problems, two different defences</a:t>
            </a:r>
          </a:p>
        </p:txBody>
      </p:sp>
      <p:graphicFrame>
        <p:nvGraphicFramePr>
          <p:cNvPr id="4" name="Table 3"/>
          <p:cNvGraphicFramePr>
            <a:graphicFrameLocks noGrp="1"/>
          </p:cNvGraphicFramePr>
          <p:nvPr/>
        </p:nvGraphicFramePr>
        <p:xfrm>
          <a:off x="502920" y="1783080"/>
          <a:ext cx="11185855" cy="1865376"/>
        </p:xfrm>
        <a:graphic>
          <a:graphicData uri="http://schemas.openxmlformats.org/drawingml/2006/table">
            <a:tbl>
              <a:tblPr firstRow="1" bandRow="1">
                <a:tableStyleId>{5C22544A-7EE6-4342-B048-85BDC9FD1C3A}</a:tableStyleId>
              </a:tblPr>
              <a:tblGrid>
                <a:gridCol w="3728618"/>
                <a:gridCol w="3728618"/>
                <a:gridCol w="3728619"/>
              </a:tblGrid>
              <a:tr h="310896">
                <a:tc>
                  <a:txBody>
                    <a:bodyPr/>
                    <a:lstStyle/>
                    <a:p/>
                  </a:txBody>
                  <a:tcPr marT="25400" marB="25400" marL="63500" marR="63500" anchor="ctr">
                    <a:solidFill>
                      <a:srgbClr val="0A0E14"/>
                    </a:solidFill>
                  </a:tcPr>
                </a:tc>
                <a:tc>
                  <a:txBody>
                    <a:bodyPr/>
                    <a:lstStyle/>
                    <a:p>
                      <a:r>
                        <a:rPr sz="1300" b="1">
                          <a:solidFill>
                            <a:srgbClr val="58A6FF"/>
                          </a:solidFill>
                          <a:latin typeface="Segoe UI"/>
                        </a:rPr>
                        <a:t>Encryption (AES)</a:t>
                      </a:r>
                    </a:p>
                  </a:txBody>
                  <a:tcPr marT="25400" marB="25400" marL="63500" marR="63500" anchor="ctr">
                    <a:solidFill>
                      <a:srgbClr val="0A0E14"/>
                    </a:solidFill>
                  </a:tcPr>
                </a:tc>
                <a:tc>
                  <a:txBody>
                    <a:bodyPr/>
                    <a:lstStyle/>
                    <a:p>
                      <a:r>
                        <a:rPr sz="1300" b="1">
                          <a:solidFill>
                            <a:srgbClr val="58A6FF"/>
                          </a:solidFill>
                          <a:latin typeface="Segoe UI"/>
                        </a:rPr>
                        <a:t>LPI (this project)</a:t>
                      </a:r>
                    </a:p>
                  </a:txBody>
                  <a:tcPr marT="25400" marB="25400" marL="63500" marR="63500" anchor="ctr">
                    <a:solidFill>
                      <a:srgbClr val="0A0E14"/>
                    </a:solidFill>
                  </a:tcPr>
                </a:tc>
              </a:tr>
              <a:tr h="310896">
                <a:tc>
                  <a:txBody>
                    <a:bodyPr/>
                    <a:lstStyle/>
                    <a:p>
                      <a:r>
                        <a:rPr sz="1300" b="0">
                          <a:solidFill>
                            <a:srgbClr val="E6EDF3"/>
                          </a:solidFill>
                          <a:latin typeface="Segoe UI"/>
                        </a:rPr>
                        <a:t>What it hides</a:t>
                      </a:r>
                    </a:p>
                  </a:txBody>
                  <a:tcPr marT="25400" marB="25400" marL="63500" marR="63500" anchor="ctr">
                    <a:solidFill>
                      <a:srgbClr val="0F141C"/>
                    </a:solidFill>
                  </a:tcPr>
                </a:tc>
                <a:tc>
                  <a:txBody>
                    <a:bodyPr/>
                    <a:lstStyle/>
                    <a:p>
                      <a:r>
                        <a:rPr sz="1300" b="0">
                          <a:solidFill>
                            <a:srgbClr val="E6EDF3"/>
                          </a:solidFill>
                          <a:latin typeface="Segoe UI"/>
                        </a:rPr>
                        <a:t>the meaning of the message</a:t>
                      </a:r>
                    </a:p>
                  </a:txBody>
                  <a:tcPr marT="25400" marB="25400" marL="63500" marR="63500" anchor="ctr">
                    <a:solidFill>
                      <a:srgbClr val="0F141C"/>
                    </a:solidFill>
                  </a:tcPr>
                </a:tc>
                <a:tc>
                  <a:txBody>
                    <a:bodyPr/>
                    <a:lstStyle/>
                    <a:p>
                      <a:r>
                        <a:rPr sz="1300" b="0">
                          <a:solidFill>
                            <a:srgbClr val="E6EDF3"/>
                          </a:solidFill>
                          <a:latin typeface="Segoe UI"/>
                        </a:rPr>
                        <a:t>the fact that you transmitted</a:t>
                      </a:r>
                    </a:p>
                  </a:txBody>
                  <a:tcPr marT="25400" marB="25400" marL="63500" marR="63500" anchor="ctr">
                    <a:solidFill>
                      <a:srgbClr val="0F141C"/>
                    </a:solidFill>
                  </a:tcPr>
                </a:tc>
              </a:tr>
              <a:tr h="310896">
                <a:tc>
                  <a:txBody>
                    <a:bodyPr/>
                    <a:lstStyle/>
                    <a:p>
                      <a:r>
                        <a:rPr sz="1300" b="0">
                          <a:solidFill>
                            <a:srgbClr val="E6EDF3"/>
                          </a:solidFill>
                          <a:latin typeface="Segoe UI"/>
                        </a:rPr>
                        <a:t>What the enemy learns anyway</a:t>
                      </a:r>
                    </a:p>
                  </a:txBody>
                  <a:tcPr marT="25400" marB="25400" marL="63500" marR="63500" anchor="ctr">
                    <a:solidFill>
                      <a:srgbClr val="0A0E14"/>
                    </a:solidFill>
                  </a:tcPr>
                </a:tc>
                <a:tc>
                  <a:txBody>
                    <a:bodyPr/>
                    <a:lstStyle/>
                    <a:p>
                      <a:r>
                        <a:rPr sz="1300" b="0">
                          <a:solidFill>
                            <a:srgbClr val="E6EDF3"/>
                          </a:solidFill>
                          <a:latin typeface="Segoe UI"/>
                        </a:rPr>
                        <a:t>that someone is transmitting, from where, when</a:t>
                      </a:r>
                    </a:p>
                  </a:txBody>
                  <a:tcPr marT="25400" marB="25400" marL="63500" marR="63500" anchor="ctr">
                    <a:solidFill>
                      <a:srgbClr val="0A0E14"/>
                    </a:solidFill>
                  </a:tcPr>
                </a:tc>
                <a:tc>
                  <a:txBody>
                    <a:bodyPr/>
                    <a:lstStyle/>
                    <a:p>
                      <a:r>
                        <a:rPr sz="1300" b="0">
                          <a:solidFill>
                            <a:srgbClr val="E6EDF3"/>
                          </a:solidFill>
                          <a:latin typeface="Segoe UI"/>
                        </a:rPr>
                        <a:t>nothing — the samples look like noise</a:t>
                      </a:r>
                    </a:p>
                  </a:txBody>
                  <a:tcPr marT="25400" marB="25400" marL="63500" marR="63500" anchor="ctr">
                    <a:solidFill>
                      <a:srgbClr val="0A0E14"/>
                    </a:solidFill>
                  </a:tcPr>
                </a:tc>
              </a:tr>
              <a:tr h="310896">
                <a:tc>
                  <a:txBody>
                    <a:bodyPr/>
                    <a:lstStyle/>
                    <a:p>
                      <a:r>
                        <a:rPr sz="1300" b="0">
                          <a:solidFill>
                            <a:srgbClr val="E6EDF3"/>
                          </a:solidFill>
                          <a:latin typeface="Segoe UI"/>
                        </a:rPr>
                        <a:t>Failure mode</a:t>
                      </a:r>
                    </a:p>
                  </a:txBody>
                  <a:tcPr marT="25400" marB="25400" marL="63500" marR="63500" anchor="ctr">
                    <a:solidFill>
                      <a:srgbClr val="0F141C"/>
                    </a:solidFill>
                  </a:tcPr>
                </a:tc>
                <a:tc>
                  <a:txBody>
                    <a:bodyPr/>
                    <a:lstStyle/>
                    <a:p>
                      <a:r>
                        <a:rPr sz="1300" b="0">
                          <a:solidFill>
                            <a:srgbClr val="E6EDF3"/>
                          </a:solidFill>
                          <a:latin typeface="Segoe UI"/>
                        </a:rPr>
                        <a:t>key compromise</a:t>
                      </a:r>
                    </a:p>
                  </a:txBody>
                  <a:tcPr marT="25400" marB="25400" marL="63500" marR="63500" anchor="ctr">
                    <a:solidFill>
                      <a:srgbClr val="0F141C"/>
                    </a:solidFill>
                  </a:tcPr>
                </a:tc>
                <a:tc>
                  <a:txBody>
                    <a:bodyPr/>
                    <a:lstStyle/>
                    <a:p>
                      <a:r>
                        <a:rPr sz="1300" b="0">
                          <a:solidFill>
                            <a:srgbClr val="E6EDF3"/>
                          </a:solidFill>
                          <a:latin typeface="Segoe UI"/>
                        </a:rPr>
                        <a:t>statistical fingerprint</a:t>
                      </a:r>
                    </a:p>
                  </a:txBody>
                  <a:tcPr marT="25400" marB="25400" marL="63500" marR="63500" anchor="ctr">
                    <a:solidFill>
                      <a:srgbClr val="0F141C"/>
                    </a:solidFill>
                  </a:tcPr>
                </a:tc>
              </a:tr>
              <a:tr h="310896">
                <a:tc>
                  <a:txBody>
                    <a:bodyPr/>
                    <a:lstStyle/>
                    <a:p>
                      <a:r>
                        <a:rPr sz="1300" b="0">
                          <a:solidFill>
                            <a:srgbClr val="E6EDF3"/>
                          </a:solidFill>
                          <a:latin typeface="Segoe UI"/>
                        </a:rPr>
                        <a:t>Test</a:t>
                      </a:r>
                    </a:p>
                  </a:txBody>
                  <a:tcPr marT="25400" marB="25400" marL="63500" marR="63500" anchor="ctr">
                    <a:solidFill>
                      <a:srgbClr val="0A0E14"/>
                    </a:solidFill>
                  </a:tcPr>
                </a:tc>
                <a:tc>
                  <a:txBody>
                    <a:bodyPr/>
                    <a:lstStyle/>
                    <a:p>
                      <a:r>
                        <a:rPr sz="1300" b="0">
                          <a:solidFill>
                            <a:srgbClr val="E6EDF3"/>
                          </a:solidFill>
                          <a:latin typeface="Segoe UI"/>
                        </a:rPr>
                        <a:t>cryptanalysis</a:t>
                      </a:r>
                    </a:p>
                  </a:txBody>
                  <a:tcPr marT="25400" marB="25400" marL="63500" marR="63500" anchor="ctr">
                    <a:solidFill>
                      <a:srgbClr val="0A0E14"/>
                    </a:solidFill>
                  </a:tcPr>
                </a:tc>
                <a:tc>
                  <a:txBody>
                    <a:bodyPr/>
                    <a:lstStyle/>
                    <a:p>
                      <a:r>
                        <a:rPr sz="1300" b="0">
                          <a:solidFill>
                            <a:srgbClr val="E6EDF3"/>
                          </a:solidFill>
                          <a:latin typeface="Segoe UI"/>
                        </a:rPr>
                        <a:t>KS test, spectral flatness, SCF, HOS, CNN</a:t>
                      </a:r>
                    </a:p>
                  </a:txBody>
                  <a:tcPr marT="25400" marB="25400" marL="63500" marR="63500" anchor="ctr">
                    <a:solidFill>
                      <a:srgbClr val="0A0E14"/>
                    </a:solidFill>
                  </a:tcPr>
                </a:tc>
              </a:tr>
              <a:tr h="310896">
                <a:tc>
                  <a:txBody>
                    <a:bodyPr/>
                    <a:lstStyle/>
                    <a:p>
                      <a:r>
                        <a:rPr sz="1300" b="0">
                          <a:solidFill>
                            <a:srgbClr val="E6EDF3"/>
                          </a:solidFill>
                          <a:latin typeface="Segoe UI"/>
                        </a:rPr>
                        <a:t>Where it lives</a:t>
                      </a:r>
                    </a:p>
                  </a:txBody>
                  <a:tcPr marT="25400" marB="25400" marL="63500" marR="63500" anchor="ctr">
                    <a:solidFill>
                      <a:srgbClr val="0F141C"/>
                    </a:solidFill>
                  </a:tcPr>
                </a:tc>
                <a:tc>
                  <a:txBody>
                    <a:bodyPr/>
                    <a:lstStyle/>
                    <a:p>
                      <a:r>
                        <a:rPr sz="1300" b="0">
                          <a:solidFill>
                            <a:srgbClr val="E6EDF3"/>
                          </a:solidFill>
                          <a:latin typeface="Segoe UI"/>
                        </a:rPr>
                        <a:t>application / payload layer</a:t>
                      </a:r>
                    </a:p>
                  </a:txBody>
                  <a:tcPr marT="25400" marB="25400" marL="63500" marR="63500" anchor="ctr">
                    <a:solidFill>
                      <a:srgbClr val="0F141C"/>
                    </a:solidFill>
                  </a:tcPr>
                </a:tc>
                <a:tc>
                  <a:txBody>
                    <a:bodyPr/>
                    <a:lstStyle/>
                    <a:p>
                      <a:r>
                        <a:rPr sz="1300" b="0">
                          <a:solidFill>
                            <a:srgbClr val="E6EDF3"/>
                          </a:solidFill>
                          <a:latin typeface="Segoe UI"/>
                        </a:rPr>
                        <a:t>physical layer / waveform</a:t>
                      </a:r>
                    </a:p>
                  </a:txBody>
                  <a:tcPr marT="25400" marB="25400" marL="63500" marR="63500" anchor="ctr">
                    <a:solidFill>
                      <a:srgbClr val="0F141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LPI, LPD, LPE — and the law we have to obey</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Definitions you will be asked about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LPI — Low Probability of Intercept: the enemy cannot detect/classify the transmission</a:t>
            </a:r>
          </a:p>
          <a:p>
            <a:pPr>
              <a:spcAft>
                <a:spcPts val="700"/>
              </a:spcAft>
            </a:pPr>
            <a:r>
              <a:rPr sz="1700" b="0" i="0">
                <a:solidFill>
                  <a:srgbClr val="E6EDF3"/>
                </a:solidFill>
                <a:latin typeface="Segoe UI"/>
              </a:rPr>
              <a:t>▸  LPD — Low Probability of Detection: the enemy cannot tell signal from noise at all</a:t>
            </a:r>
          </a:p>
          <a:p>
            <a:pPr>
              <a:spcAft>
                <a:spcPts val="700"/>
              </a:spcAft>
            </a:pPr>
            <a:r>
              <a:rPr sz="1700" b="0" i="0">
                <a:solidFill>
                  <a:srgbClr val="E6EDF3"/>
                </a:solidFill>
                <a:latin typeface="Segoe UI"/>
              </a:rPr>
              <a:t>▸  LPE — Low Probability of Exploitation: even if detected, it cannot be decoded or geolocated usefully</a:t>
            </a:r>
          </a:p>
          <a:p>
            <a:pPr>
              <a:spcAft>
                <a:spcPts val="400"/>
              </a:spcAft>
            </a:pPr>
            <a:r>
              <a:rPr sz="1500" b="0" i="0">
                <a:solidFill>
                  <a:srgbClr val="C3CED9"/>
                </a:solidFill>
                <a:latin typeface="Segoe UI"/>
              </a:rPr>
              <a:t>        –  We target LPI/LPD by statistics, LPE by keying (the spreading codebook is derived from the session key)</a:t>
            </a:r>
          </a:p>
          <a:p>
            <a:pPr>
              <a:spcAft>
                <a:spcPts val="1000"/>
              </a:spcAft>
            </a:pPr>
            <a:r>
              <a:rPr sz="1800" b="1" i="0">
                <a:solidFill>
                  <a:srgbClr val="3FB950"/>
                </a:solidFill>
                <a:latin typeface="Segoe UI"/>
              </a:rPr>
              <a:t>■  Bash et al. square-root law: covert throughput grows like √n, not n. Covert is intrinsically low-rate.</a:t>
            </a:r>
          </a:p>
          <a:p>
            <a:pPr>
              <a:spcAft>
                <a:spcPts val="700"/>
              </a:spcAft>
            </a:pPr>
            <a:r>
              <a:rPr sz="1700" b="0" i="0">
                <a:solidFill>
                  <a:srgbClr val="E6EDF3"/>
                </a:solidFill>
                <a:latin typeface="Segoe UI"/>
              </a:rPr>
              <a:t>▸  Our honest rate today: 128 bits per 2.34 ms frame = 54.6 kb/s gross, 24 characters per 7.0 ms burst 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2</a:t>
            </a:r>
          </a:p>
          <a:p>
            <a:pPr>
              <a:spcAft>
                <a:spcPts val="1000"/>
              </a:spcAft>
            </a:pPr>
            <a:r>
              <a:rPr sz="4000" b="1" i="0">
                <a:solidFill>
                  <a:srgbClr val="E6EDF3"/>
                </a:solidFill>
                <a:latin typeface="Segoe UI"/>
              </a:rPr>
              <a:t>How we got here</a:t>
            </a:r>
          </a:p>
          <a:p>
            <a:pPr>
              <a:spcAft>
                <a:spcPts val="600"/>
              </a:spcAft>
            </a:pPr>
            <a:r>
              <a:rPr sz="1800" b="0" i="0">
                <a:solidFill>
                  <a:srgbClr val="8B98A5"/>
                </a:solidFill>
                <a:latin typeface="Segoe UI"/>
              </a:rPr>
              <a:t>Nine steps, in the order they actually happened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0 — Literature and the gap</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Three pillars we stand on, and the hole between them</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Pillar 1 — End-to-end deep learning for the physical layer (O'Shea &amp; Hoydis 2017): a network can jointly learn transmitter and receiver.</a:t>
            </a:r>
          </a:p>
          <a:p>
            <a:pPr>
              <a:spcAft>
                <a:spcPts val="700"/>
              </a:spcAft>
            </a:pPr>
            <a:r>
              <a:rPr sz="1700" b="0" i="0">
                <a:solidFill>
                  <a:srgbClr val="E6EDF3"/>
                </a:solidFill>
                <a:latin typeface="Segoe UI"/>
              </a:rPr>
              <a:t>▸  Pillar 2 — Conditional GAN (Mirza &amp; Osindero 2014): condition a generator on a label. We condition it on the message bits themselves.</a:t>
            </a:r>
          </a:p>
          <a:p>
            <a:pPr>
              <a:spcAft>
                <a:spcPts val="700"/>
              </a:spcAft>
            </a:pPr>
            <a:r>
              <a:rPr sz="1700" b="0" i="0">
                <a:solidFill>
                  <a:srgbClr val="E6EDF3"/>
                </a:solidFill>
                <a:latin typeface="Segoe UI"/>
              </a:rPr>
              <a:t>▸  Pillar 3 — Covert capacity, the √n law (Bash et al. 2013): the ceiling any LPI design must respect.</a:t>
            </a:r>
          </a:p>
          <a:p>
            <a:pPr>
              <a:spcAft>
                <a:spcPts val="1000"/>
              </a:spcAft>
            </a:pPr>
            <a:r>
              <a:rPr sz="1800" b="1" i="0">
                <a:solidFill>
                  <a:srgbClr val="3FB950"/>
                </a:solidFill>
                <a:latin typeface="Segoe UI"/>
              </a:rPr>
              <a:t>■  The gap: no published system combined (a) a CGAN waveform, (b) multi-domain EW evaluation, (c) few-shot detector resistance, and (d) commercial-SDR over-the-air validation with encryption.</a:t>
            </a:r>
          </a:p>
          <a:p>
            <a:pPr>
              <a:spcAft>
                <a:spcPts val="700"/>
              </a:spcAft>
            </a:pPr>
            <a:r>
              <a:rPr sz="1700" b="0" i="0">
                <a:solidFill>
                  <a:srgbClr val="E6EDF3"/>
                </a:solidFill>
                <a:latin typeface="Segoe UI"/>
              </a:rPr>
              <a:t>▸  That four-way intersection is the contribution.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1 — GNU Radio: the first transmission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Before any AI: can we put a signal on the air and see it come back?</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First flowgraph (GNU 1.grc): Signal Source → Throttle → QT Time Sink. A tone, in software, no radio.</a:t>
            </a:r>
          </a:p>
          <a:p>
            <a:pPr>
              <a:spcAft>
                <a:spcPts val="700"/>
              </a:spcAft>
            </a:pPr>
            <a:r>
              <a:rPr sz="1700" b="0" i="0">
                <a:solidFill>
                  <a:srgbClr val="E6EDF3"/>
                </a:solidFill>
                <a:latin typeface="Segoe UI"/>
              </a:rPr>
              <a:t>▸  Then USRP testing.grc: Signal Source → UHD USRP Sink, and UHD USRP Source → QT Frequency Sink.</a:t>
            </a:r>
          </a:p>
          <a:p>
            <a:pPr>
              <a:spcAft>
                <a:spcPts val="1000"/>
              </a:spcAft>
            </a:pPr>
            <a:r>
              <a:rPr sz="1800" b="1" i="0">
                <a:solidFill>
                  <a:srgbClr val="3FB950"/>
                </a:solidFill>
                <a:latin typeface="Segoe UI"/>
              </a:rPr>
              <a:t>■  The moment the project became real: a peak we created in software appeared on the FFT of a second radio across the room.</a:t>
            </a:r>
          </a:p>
          <a:p>
            <a:pPr>
              <a:spcAft>
                <a:spcPts val="700"/>
              </a:spcAft>
            </a:pPr>
            <a:r>
              <a:rPr sz="1700" b="0" i="0">
                <a:solidFill>
                  <a:srgbClr val="E6EDF3"/>
                </a:solidFill>
                <a:latin typeface="Segoe UI"/>
              </a:rPr>
              <a:t>▸  What that proved: sample rates, gains, frequencies and cabling are all real constraints, and the FFT is the truth-teller.</a:t>
            </a:r>
          </a:p>
          <a:p>
            <a:pPr>
              <a:spcAft>
                <a:spcPts val="700"/>
              </a:spcAft>
            </a:pPr>
            <a:r>
              <a:rPr sz="1700" b="0" i="0">
                <a:solidFill>
                  <a:srgbClr val="E6EDF3"/>
                </a:solidFill>
                <a:latin typeface="Segoe UI"/>
              </a:rPr>
              <a:t>▸  First mistake everyone makes: TX gain too high, RX saturated, or TX/RX frequency off by the LO offset.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2 — The test bench: a real DSP chain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TESTbench.grc — the classical chain, built block by block</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File Source (bits) → Unpack k Bits → Chunks to Symbols → BPSK map (−1, +1)</a:t>
            </a:r>
          </a:p>
          <a:p>
            <a:pPr>
              <a:spcAft>
                <a:spcPts val="700"/>
              </a:spcAft>
            </a:pPr>
            <a:r>
              <a:rPr sz="1700" b="0" i="0">
                <a:solidFill>
                  <a:srgbClr val="E6EDF3"/>
                </a:solidFill>
                <a:latin typeface="Segoe UI"/>
              </a:rPr>
              <a:t>▸  → Root-Raised-Cosine filter (pulse shaping, band-limiting)</a:t>
            </a:r>
          </a:p>
          <a:p>
            <a:pPr>
              <a:spcAft>
                <a:spcPts val="700"/>
              </a:spcAft>
            </a:pPr>
            <a:r>
              <a:rPr sz="1700" b="0" i="0">
                <a:solidFill>
                  <a:srgbClr val="E6EDF3"/>
                </a:solidFill>
                <a:latin typeface="Segoe UI"/>
              </a:rPr>
              <a:t>▸  → Multiply by a GLFSR sequence (direct-sequence spreading)</a:t>
            </a:r>
          </a:p>
          <a:p>
            <a:pPr>
              <a:spcAft>
                <a:spcPts val="700"/>
              </a:spcAft>
            </a:pPr>
            <a:r>
              <a:rPr sz="1700" b="0" i="0">
                <a:solidFill>
                  <a:srgbClr val="E6EDF3"/>
                </a:solidFill>
                <a:latin typeface="Segoe UI"/>
              </a:rPr>
              <a:t>▸  → UHD USRP Sink  |  UHD USRP Source → the mirror chain → File Sink</a:t>
            </a:r>
          </a:p>
          <a:p>
            <a:pPr>
              <a:spcAft>
                <a:spcPts val="700"/>
              </a:spcAft>
            </a:pPr>
            <a:r>
              <a:rPr sz="1700" b="0" i="0">
                <a:solidFill>
                  <a:srgbClr val="E6EDF3"/>
                </a:solidFill>
                <a:latin typeface="Segoe UI"/>
              </a:rPr>
              <a:t>▸  Python blocks (TESTbench_epy_block_0..3.py) carried the parts GRC has no block for</a:t>
            </a:r>
          </a:p>
          <a:p>
            <a:pPr>
              <a:spcAft>
                <a:spcPts val="1000"/>
              </a:spcAft>
            </a:pPr>
            <a:r>
              <a:rPr sz="1800" b="1" i="0">
                <a:solidFill>
                  <a:srgbClr val="3FB950"/>
                </a:solidFill>
                <a:latin typeface="Segoe UI"/>
              </a:rPr>
              <a:t>■  This bench is why we could later say 'the AI is not the reason it works' -- we had a working conventional link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3 — The payload: AES + CRC + Reed–Solomon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lpi_v4/lpi_crypto.py — 24 characters in, 336 coded bits out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plaintext (≤ 24 B) → fresh 8-byte nonce + AES-128-CTR ciphertext → CRC-8 = 34 data symbols</a:t>
            </a:r>
          </a:p>
          <a:p>
            <a:pPr>
              <a:spcAft>
                <a:spcPts val="700"/>
              </a:spcAft>
            </a:pPr>
            <a:r>
              <a:rPr sz="1500" b="0" i="0">
                <a:solidFill>
                  <a:srgbClr val="E6EDF3"/>
                </a:solidFill>
                <a:latin typeface="Segoe UI"/>
              </a:rPr>
              <a:t>▸  → RS(42,34): 8 parity symbols, corrects up to 4 bad bytes = 42 symbols = 336 bits</a:t>
            </a:r>
          </a:p>
          <a:p>
            <a:pPr>
              <a:spcAft>
                <a:spcPts val="700"/>
              </a:spcAft>
            </a:pPr>
            <a:r>
              <a:rPr sz="1500" b="0" i="0">
                <a:solidFill>
                  <a:srgbClr val="E6EDF3"/>
                </a:solidFill>
                <a:latin typeface="Segoe UI"/>
              </a:rPr>
              <a:t>▸  → 3 covert frames of 128 bits (384 bits, 48 bits of zero padding at the end)</a:t>
            </a:r>
          </a:p>
          <a:p>
            <a:pPr>
              <a:spcAft>
                <a:spcPts val="1000"/>
              </a:spcAft>
            </a:pPr>
            <a:r>
              <a:rPr sz="1600" b="1" i="0">
                <a:solidFill>
                  <a:srgbClr val="3FB950"/>
                </a:solidFill>
                <a:latin typeface="Segoe UI"/>
              </a:rPr>
              <a:t>■  Three bugs this layer had to fix, all of them silent:</a:t>
            </a:r>
          </a:p>
          <a:p>
            <a:pPr>
              <a:spcAft>
                <a:spcPts val="400"/>
              </a:spcAft>
            </a:pPr>
            <a:r>
              <a:rPr sz="1300" b="0" i="0">
                <a:solidFill>
                  <a:srgbClr val="C3CED9"/>
                </a:solidFill>
                <a:latin typeface="Segoe UI"/>
              </a:rPr>
              <a:t>        –  (a) the reference draft pads 336 bits into 256 -- that destroys 80 payload bits, so a 'BER = 0' claim cannot be true for the whole message. We derive the frame count instead.</a:t>
            </a:r>
          </a:p>
          <a:p>
            <a:pPr>
              <a:spcAft>
                <a:spcPts val="400"/>
              </a:spcAft>
            </a:pPr>
            <a:r>
              <a:rPr sz="1300" b="0" i="0">
                <a:solidFill>
                  <a:srgbClr val="C3CED9"/>
                </a:solidFill>
                <a:latin typeface="Segoe UI"/>
              </a:rPr>
              <a:t>        –  (b) the web app encrypted a string while the GRC chain modulated raw file bytes -- TX and RX were not speaking the same protocol.</a:t>
            </a:r>
          </a:p>
          <a:p>
            <a:pPr>
              <a:spcAft>
                <a:spcPts val="400"/>
              </a:spcAft>
            </a:pPr>
            <a:r>
              <a:rPr sz="1300" b="0" i="0">
                <a:solidFill>
                  <a:srgbClr val="C3CED9"/>
                </a:solidFill>
                <a:latin typeface="Segoe UI"/>
              </a:rPr>
              <a:t>        –  (c) AES-CTR with a counter fixed at 0 is a two-time pad: keystream reuse is total loss. The nonce is now per message.</a:t>
            </a:r>
          </a:p>
          <a:p>
            <a:pPr>
              <a:spcAft>
                <a:spcPts val="700"/>
              </a:spcAft>
            </a:pPr>
            <a:r>
              <a:rPr sz="1500" b="0" i="0">
                <a:solidFill>
                  <a:srgbClr val="E6EDF3"/>
                </a:solidFill>
                <a:latin typeface="Segoe UI"/>
              </a:rPr>
              <a:t>▸  GCM mode also implemented (20 B payload, 4-byte truncated tag) for authenticated encryption.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4 — The C-GAN: what it actually is</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Not a black box — three networks with three different jobs</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GENERATOR — takes latent noise z (64-dim) + the 128 message bits, outputs 2×512 real samples (512 complex).</a:t>
            </a:r>
          </a:p>
          <a:p>
            <a:pPr>
              <a:spcAft>
                <a:spcPts val="400"/>
              </a:spcAft>
            </a:pPr>
            <a:r>
              <a:rPr sz="1500" b="0" i="0">
                <a:solidFill>
                  <a:srgbClr val="C3CED9"/>
                </a:solidFill>
                <a:latin typeface="Segoe UI"/>
              </a:rPr>
              <a:t>        –  Its core is a *learned keyed spreading codebook*: a 128 → 1024 linear layer, one code vector per bit.</a:t>
            </a:r>
          </a:p>
          <a:p>
            <a:pPr>
              <a:spcAft>
                <a:spcPts val="400"/>
              </a:spcAft>
            </a:pPr>
            <a:r>
              <a:rPr sz="1500" b="0" i="0">
                <a:solidFill>
                  <a:srgbClr val="C3CED9"/>
                </a:solidFill>
                <a:latin typeface="Segoe UI"/>
              </a:rPr>
              <a:t>        –  A small conv head (gain 0.2) refines the result to remove residual structure.</a:t>
            </a:r>
          </a:p>
          <a:p>
            <a:pPr>
              <a:spcAft>
                <a:spcPts val="700"/>
              </a:spcAft>
            </a:pPr>
            <a:r>
              <a:rPr sz="1700" b="0" i="0">
                <a:solidFill>
                  <a:srgbClr val="E6EDF3"/>
                </a:solidFill>
                <a:latin typeface="Segoe UI"/>
              </a:rPr>
              <a:t>▸  DISCRIMINATOR — sees a frame and answers 'noise or message?'. Two of them; D2 is reinitialised every 25 epochs so the generator cannot memorise one boundary.</a:t>
            </a:r>
          </a:p>
          <a:p>
            <a:pPr>
              <a:spcAft>
                <a:spcPts val="700"/>
              </a:spcAft>
            </a:pPr>
            <a:r>
              <a:rPr sz="1700" b="0" i="0">
                <a:solidFill>
                  <a:srgbClr val="E6EDF3"/>
                </a:solidFill>
                <a:latin typeface="Segoe UI"/>
              </a:rPr>
              <a:t>▸  DECODER — the friendly receiver. A matched filter against the same codebook, then a learned conv head that outputs one logit per bit.</a:t>
            </a:r>
          </a:p>
          <a:p>
            <a:pPr>
              <a:spcAft>
                <a:spcPts val="1000"/>
              </a:spcAft>
            </a:pPr>
            <a:r>
              <a:rPr sz="1800" b="1" i="0">
                <a:solidFill>
                  <a:srgbClr val="3FB950"/>
                </a:solidFill>
                <a:latin typeface="Segoe UI"/>
              </a:rPr>
              <a:t>■  The weights *are* the key. Same architecture, wrong key → the preamble will not even lock.</a:t>
            </a:r>
          </a:p>
          <a:p>
            <a:pPr>
              <a:spcAft>
                <a:spcPts val="700"/>
              </a:spcAft>
            </a:pPr>
            <a:r>
              <a:rPr sz="1700" b="0" i="0">
                <a:solidFill>
                  <a:srgbClr val="E6EDF3"/>
                </a:solidFill>
                <a:latin typeface="Segoe UI"/>
              </a:rPr>
              <a:t>▸  Training: 500 epochs, batch 128, Adam (β = 0.5, 0.999), η_G = 2e-4, η_D = 1e-4, on a Colab T4.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Step 4b — The nine-component loss</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Every term is aimed at one specific detector. Nothing is decorative.</a:t>
            </a:r>
          </a:p>
        </p:txBody>
      </p:sp>
      <p:graphicFrame>
        <p:nvGraphicFramePr>
          <p:cNvPr id="4" name="Table 3"/>
          <p:cNvGraphicFramePr>
            <a:graphicFrameLocks noGrp="1"/>
          </p:cNvGraphicFramePr>
          <p:nvPr/>
        </p:nvGraphicFramePr>
        <p:xfrm>
          <a:off x="502920" y="1783080"/>
          <a:ext cx="11185855" cy="3108960"/>
        </p:xfrm>
        <a:graphic>
          <a:graphicData uri="http://schemas.openxmlformats.org/drawingml/2006/table">
            <a:tbl>
              <a:tblPr firstRow="1" bandRow="1">
                <a:tableStyleId>{5C22544A-7EE6-4342-B048-85BDC9FD1C3A}</a:tableStyleId>
              </a:tblPr>
              <a:tblGrid>
                <a:gridCol w="2796463"/>
                <a:gridCol w="2796463"/>
                <a:gridCol w="2796463"/>
                <a:gridCol w="2796466"/>
              </a:tblGrid>
              <a:tr h="310896">
                <a:tc>
                  <a:txBody>
                    <a:bodyPr/>
                    <a:lstStyle/>
                    <a:p>
                      <a:r>
                        <a:rPr sz="1000" b="1">
                          <a:solidFill>
                            <a:srgbClr val="58A6FF"/>
                          </a:solidFill>
                          <a:latin typeface="Segoe UI"/>
                        </a:rPr>
                        <a:t>Loss term</a:t>
                      </a:r>
                    </a:p>
                  </a:txBody>
                  <a:tcPr marT="25400" marB="25400" marL="63500" marR="63500" anchor="ctr">
                    <a:solidFill>
                      <a:srgbClr val="0A0E14"/>
                    </a:solidFill>
                  </a:tcPr>
                </a:tc>
                <a:tc>
                  <a:txBody>
                    <a:bodyPr/>
                    <a:lstStyle/>
                    <a:p>
                      <a:r>
                        <a:rPr sz="1000" b="1">
                          <a:solidFill>
                            <a:srgbClr val="58A6FF"/>
                          </a:solidFill>
                          <a:latin typeface="Segoe UI"/>
                        </a:rPr>
                        <a:t>λ</a:t>
                      </a:r>
                    </a:p>
                  </a:txBody>
                  <a:tcPr marT="25400" marB="25400" marL="63500" marR="63500" anchor="ctr">
                    <a:solidFill>
                      <a:srgbClr val="0A0E14"/>
                    </a:solidFill>
                  </a:tcPr>
                </a:tc>
                <a:tc>
                  <a:txBody>
                    <a:bodyPr/>
                    <a:lstStyle/>
                    <a:p>
                      <a:r>
                        <a:rPr sz="1000" b="1">
                          <a:solidFill>
                            <a:srgbClr val="58A6FF"/>
                          </a:solidFill>
                          <a:latin typeface="Segoe UI"/>
                        </a:rPr>
                        <a:t>EW domain it defeats</a:t>
                      </a:r>
                    </a:p>
                  </a:txBody>
                  <a:tcPr marT="25400" marB="25400" marL="63500" marR="63500" anchor="ctr">
                    <a:solidFill>
                      <a:srgbClr val="0A0E14"/>
                    </a:solidFill>
                  </a:tcPr>
                </a:tc>
                <a:tc>
                  <a:txBody>
                    <a:bodyPr/>
                    <a:lstStyle/>
                    <a:p>
                      <a:r>
                        <a:rPr sz="1000" b="1">
                          <a:solidFill>
                            <a:srgbClr val="58A6FF"/>
                          </a:solidFill>
                          <a:latin typeface="Segoe UI"/>
                        </a:rPr>
                        <a:t>What it enforces</a:t>
                      </a:r>
                    </a:p>
                  </a:txBody>
                  <a:tcPr marT="25400" marB="25400" marL="63500" marR="63500" anchor="ctr">
                    <a:solidFill>
                      <a:srgbClr val="0A0E14"/>
                    </a:solidFill>
                  </a:tcPr>
                </a:tc>
              </a:tr>
              <a:tr h="310896">
                <a:tc>
                  <a:txBody>
                    <a:bodyPr/>
                    <a:lstStyle/>
                    <a:p>
                      <a:r>
                        <a:rPr sz="1000" b="0">
                          <a:solidFill>
                            <a:srgbClr val="E6EDF3"/>
                          </a:solidFill>
                          <a:latin typeface="Segoe UI"/>
                        </a:rPr>
                        <a:t>Adversarial (D1)</a:t>
                      </a:r>
                    </a:p>
                  </a:txBody>
                  <a:tcPr marT="25400" marB="25400" marL="63500" marR="63500" anchor="ctr">
                    <a:solidFill>
                      <a:srgbClr val="0F141C"/>
                    </a:solidFill>
                  </a:tcPr>
                </a:tc>
                <a:tc>
                  <a:txBody>
                    <a:bodyPr/>
                    <a:lstStyle/>
                    <a:p>
                      <a:r>
                        <a:rPr sz="1000" b="0">
                          <a:solidFill>
                            <a:srgbClr val="E6EDF3"/>
                          </a:solidFill>
                          <a:latin typeface="Segoe UI"/>
                        </a:rPr>
                        <a:t>1.0</a:t>
                      </a:r>
                    </a:p>
                  </a:txBody>
                  <a:tcPr marT="25400" marB="25400" marL="63500" marR="63500" anchor="ctr">
                    <a:solidFill>
                      <a:srgbClr val="0F141C"/>
                    </a:solidFill>
                  </a:tcPr>
                </a:tc>
                <a:tc>
                  <a:txBody>
                    <a:bodyPr/>
                    <a:lstStyle/>
                    <a:p>
                      <a:r>
                        <a:rPr sz="1000" b="0">
                          <a:solidFill>
                            <a:srgbClr val="E6EDF3"/>
                          </a:solidFill>
                          <a:latin typeface="Segoe UI"/>
                        </a:rPr>
                        <a:t>ML classification</a:t>
                      </a:r>
                    </a:p>
                  </a:txBody>
                  <a:tcPr marT="25400" marB="25400" marL="63500" marR="63500" anchor="ctr">
                    <a:solidFill>
                      <a:srgbClr val="0F141C"/>
                    </a:solidFill>
                  </a:tcPr>
                </a:tc>
                <a:tc>
                  <a:txBody>
                    <a:bodyPr/>
                    <a:lstStyle/>
                    <a:p>
                      <a:r>
                        <a:rPr sz="1000" b="0">
                          <a:solidFill>
                            <a:srgbClr val="E6EDF3"/>
                          </a:solidFill>
                          <a:latin typeface="Segoe UI"/>
                        </a:rPr>
                        <a:t>primary detector → 50 %</a:t>
                      </a:r>
                    </a:p>
                  </a:txBody>
                  <a:tcPr marT="25400" marB="25400" marL="63500" marR="63500" anchor="ctr">
                    <a:solidFill>
                      <a:srgbClr val="0F141C"/>
                    </a:solidFill>
                  </a:tcPr>
                </a:tc>
              </a:tr>
              <a:tr h="310896">
                <a:tc>
                  <a:txBody>
                    <a:bodyPr/>
                    <a:lstStyle/>
                    <a:p>
                      <a:r>
                        <a:rPr sz="1000" b="0">
                          <a:solidFill>
                            <a:srgbClr val="E6EDF3"/>
                          </a:solidFill>
                          <a:latin typeface="Segoe UI"/>
                        </a:rPr>
                        <a:t>Adversarial (D2, refreshed)</a:t>
                      </a:r>
                    </a:p>
                  </a:txBody>
                  <a:tcPr marT="25400" marB="25400" marL="63500" marR="63500" anchor="ctr">
                    <a:solidFill>
                      <a:srgbClr val="0A0E14"/>
                    </a:solidFill>
                  </a:tcPr>
                </a:tc>
                <a:tc>
                  <a:txBody>
                    <a:bodyPr/>
                    <a:lstStyle/>
                    <a:p>
                      <a:r>
                        <a:rPr sz="1000" b="0">
                          <a:solidFill>
                            <a:srgbClr val="E6EDF3"/>
                          </a:solidFill>
                          <a:latin typeface="Segoe UI"/>
                        </a:rPr>
                        <a:t>0.5</a:t>
                      </a:r>
                    </a:p>
                  </a:txBody>
                  <a:tcPr marT="25400" marB="25400" marL="63500" marR="63500" anchor="ctr">
                    <a:solidFill>
                      <a:srgbClr val="0A0E14"/>
                    </a:solidFill>
                  </a:tcPr>
                </a:tc>
                <a:tc>
                  <a:txBody>
                    <a:bodyPr/>
                    <a:lstStyle/>
                    <a:p>
                      <a:r>
                        <a:rPr sz="1000" b="0">
                          <a:solidFill>
                            <a:srgbClr val="E6EDF3"/>
                          </a:solidFill>
                          <a:latin typeface="Segoe UI"/>
                        </a:rPr>
                        <a:t>ML, unseen detectors</a:t>
                      </a:r>
                    </a:p>
                  </a:txBody>
                  <a:tcPr marT="25400" marB="25400" marL="63500" marR="63500" anchor="ctr">
                    <a:solidFill>
                      <a:srgbClr val="0A0E14"/>
                    </a:solidFill>
                  </a:tcPr>
                </a:tc>
                <a:tc>
                  <a:txBody>
                    <a:bodyPr/>
                    <a:lstStyle/>
                    <a:p>
                      <a:r>
                        <a:rPr sz="1000" b="0">
                          <a:solidFill>
                            <a:srgbClr val="E6EDF3"/>
                          </a:solidFill>
                          <a:latin typeface="Segoe UI"/>
                        </a:rPr>
                        <a:t>generalisation, not memorisation</a:t>
                      </a:r>
                    </a:p>
                  </a:txBody>
                  <a:tcPr marT="25400" marB="25400" marL="63500" marR="63500" anchor="ctr">
                    <a:solidFill>
                      <a:srgbClr val="0A0E14"/>
                    </a:solidFill>
                  </a:tcPr>
                </a:tc>
              </a:tr>
              <a:tr h="310896">
                <a:tc>
                  <a:txBody>
                    <a:bodyPr/>
                    <a:lstStyle/>
                    <a:p>
                      <a:r>
                        <a:rPr sz="1000" b="0">
                          <a:solidFill>
                            <a:srgbClr val="E6EDF3"/>
                          </a:solidFill>
                          <a:latin typeface="Segoe UI"/>
                        </a:rPr>
                        <a:t>Mean regularisation</a:t>
                      </a:r>
                    </a:p>
                  </a:txBody>
                  <a:tcPr marT="25400" marB="25400" marL="63500" marR="63500" anchor="ctr">
                    <a:solidFill>
                      <a:srgbClr val="0F141C"/>
                    </a:solidFill>
                  </a:tcPr>
                </a:tc>
                <a:tc>
                  <a:txBody>
                    <a:bodyPr/>
                    <a:lstStyle/>
                    <a:p>
                      <a:r>
                        <a:rPr sz="1000" b="0">
                          <a:solidFill>
                            <a:srgbClr val="E6EDF3"/>
                          </a:solidFill>
                          <a:latin typeface="Segoe UI"/>
                        </a:rPr>
                        <a:t>0.5</a:t>
                      </a:r>
                    </a:p>
                  </a:txBody>
                  <a:tcPr marT="25400" marB="25400" marL="63500" marR="63500" anchor="ctr">
                    <a:solidFill>
                      <a:srgbClr val="0F141C"/>
                    </a:solidFill>
                  </a:tcPr>
                </a:tc>
                <a:tc>
                  <a:txBody>
                    <a:bodyPr/>
                    <a:lstStyle/>
                    <a:p>
                      <a:r>
                        <a:rPr sz="1000" b="0">
                          <a:solidFill>
                            <a:srgbClr val="E6EDF3"/>
                          </a:solidFill>
                          <a:latin typeface="Segoe UI"/>
                        </a:rPr>
                        <a:t>KS / 1st order</a:t>
                      </a:r>
                    </a:p>
                  </a:txBody>
                  <a:tcPr marT="25400" marB="25400" marL="63500" marR="63500" anchor="ctr">
                    <a:solidFill>
                      <a:srgbClr val="0F141C"/>
                    </a:solidFill>
                  </a:tcPr>
                </a:tc>
                <a:tc>
                  <a:txBody>
                    <a:bodyPr/>
                    <a:lstStyle/>
                    <a:p>
                      <a:r>
                        <a:rPr sz="1000" b="0">
                          <a:solidFill>
                            <a:srgbClr val="E6EDF3"/>
                          </a:solidFill>
                          <a:latin typeface="Segoe UI"/>
                        </a:rPr>
                        <a:t>zero mean</a:t>
                      </a:r>
                    </a:p>
                  </a:txBody>
                  <a:tcPr marT="25400" marB="25400" marL="63500" marR="63500" anchor="ctr">
                    <a:solidFill>
                      <a:srgbClr val="0F141C"/>
                    </a:solidFill>
                  </a:tcPr>
                </a:tc>
              </a:tr>
              <a:tr h="310896">
                <a:tc>
                  <a:txBody>
                    <a:bodyPr/>
                    <a:lstStyle/>
                    <a:p>
                      <a:r>
                        <a:rPr sz="1000" b="0">
                          <a:solidFill>
                            <a:srgbClr val="E6EDF3"/>
                          </a:solidFill>
                          <a:latin typeface="Segoe UI"/>
                        </a:rPr>
                        <a:t>Variance regularisation</a:t>
                      </a:r>
                    </a:p>
                  </a:txBody>
                  <a:tcPr marT="25400" marB="25400" marL="63500" marR="63500" anchor="ctr">
                    <a:solidFill>
                      <a:srgbClr val="0A0E14"/>
                    </a:solidFill>
                  </a:tcPr>
                </a:tc>
                <a:tc>
                  <a:txBody>
                    <a:bodyPr/>
                    <a:lstStyle/>
                    <a:p>
                      <a:r>
                        <a:rPr sz="1000" b="0">
                          <a:solidFill>
                            <a:srgbClr val="E6EDF3"/>
                          </a:solidFill>
                          <a:latin typeface="Segoe UI"/>
                        </a:rPr>
                        <a:t>0.5</a:t>
                      </a:r>
                    </a:p>
                  </a:txBody>
                  <a:tcPr marT="25400" marB="25400" marL="63500" marR="63500" anchor="ctr">
                    <a:solidFill>
                      <a:srgbClr val="0A0E14"/>
                    </a:solidFill>
                  </a:tcPr>
                </a:tc>
                <a:tc>
                  <a:txBody>
                    <a:bodyPr/>
                    <a:lstStyle/>
                    <a:p>
                      <a:r>
                        <a:rPr sz="1000" b="0">
                          <a:solidFill>
                            <a:srgbClr val="E6EDF3"/>
                          </a:solidFill>
                          <a:latin typeface="Segoe UI"/>
                        </a:rPr>
                        <a:t>kurtosis / 2nd order</a:t>
                      </a:r>
                    </a:p>
                  </a:txBody>
                  <a:tcPr marT="25400" marB="25400" marL="63500" marR="63500" anchor="ctr">
                    <a:solidFill>
                      <a:srgbClr val="0A0E14"/>
                    </a:solidFill>
                  </a:tcPr>
                </a:tc>
                <a:tc>
                  <a:txBody>
                    <a:bodyPr/>
                    <a:lstStyle/>
                    <a:p>
                      <a:r>
                        <a:rPr sz="1000" b="0">
                          <a:solidFill>
                            <a:srgbClr val="E6EDF3"/>
                          </a:solidFill>
                          <a:latin typeface="Segoe UI"/>
                        </a:rPr>
                        <a:t>unit variance</a:t>
                      </a:r>
                    </a:p>
                  </a:txBody>
                  <a:tcPr marT="25400" marB="25400" marL="63500" marR="63500" anchor="ctr">
                    <a:solidFill>
                      <a:srgbClr val="0A0E14"/>
                    </a:solidFill>
                  </a:tcPr>
                </a:tc>
              </a:tr>
              <a:tr h="310896">
                <a:tc>
                  <a:txBody>
                    <a:bodyPr/>
                    <a:lstStyle/>
                    <a:p>
                      <a:r>
                        <a:rPr sz="1000" b="0">
                          <a:solidFill>
                            <a:srgbClr val="E6EDF3"/>
                          </a:solidFill>
                          <a:latin typeface="Segoe UI"/>
                        </a:rPr>
                        <a:t>Power constraint</a:t>
                      </a:r>
                    </a:p>
                  </a:txBody>
                  <a:tcPr marT="25400" marB="25400" marL="63500" marR="63500" anchor="ctr">
                    <a:solidFill>
                      <a:srgbClr val="0F141C"/>
                    </a:solidFill>
                  </a:tcPr>
                </a:tc>
                <a:tc>
                  <a:txBody>
                    <a:bodyPr/>
                    <a:lstStyle/>
                    <a:p>
                      <a:r>
                        <a:rPr sz="1000" b="0">
                          <a:solidFill>
                            <a:srgbClr val="E6EDF3"/>
                          </a:solidFill>
                          <a:latin typeface="Segoe UI"/>
                        </a:rPr>
                        <a:t>3.0</a:t>
                      </a:r>
                    </a:p>
                  </a:txBody>
                  <a:tcPr marT="25400" marB="25400" marL="63500" marR="63500" anchor="ctr">
                    <a:solidFill>
                      <a:srgbClr val="0F141C"/>
                    </a:solidFill>
                  </a:tcPr>
                </a:tc>
                <a:tc>
                  <a:txBody>
                    <a:bodyPr/>
                    <a:lstStyle/>
                    <a:p>
                      <a:r>
                        <a:rPr sz="1000" b="0">
                          <a:solidFill>
                            <a:srgbClr val="E6EDF3"/>
                          </a:solidFill>
                          <a:latin typeface="Segoe UI"/>
                        </a:rPr>
                        <a:t>energy radiometry</a:t>
                      </a:r>
                    </a:p>
                  </a:txBody>
                  <a:tcPr marT="25400" marB="25400" marL="63500" marR="63500" anchor="ctr">
                    <a:solidFill>
                      <a:srgbClr val="0F141C"/>
                    </a:solidFill>
                  </a:tcPr>
                </a:tc>
                <a:tc>
                  <a:txBody>
                    <a:bodyPr/>
                    <a:lstStyle/>
                    <a:p>
                      <a:r>
                        <a:rPr sz="1000" b="0">
                          <a:solidFill>
                            <a:srgbClr val="E6EDF3"/>
                          </a:solidFill>
                          <a:latin typeface="Segoe UI"/>
                        </a:rPr>
                        <a:t>P_sig ≤ 1.01 × P_noise</a:t>
                      </a:r>
                    </a:p>
                  </a:txBody>
                  <a:tcPr marT="25400" marB="25400" marL="63500" marR="63500" anchor="ctr">
                    <a:solidFill>
                      <a:srgbClr val="0F141C"/>
                    </a:solidFill>
                  </a:tcPr>
                </a:tc>
              </a:tr>
              <a:tr h="310896">
                <a:tc>
                  <a:txBody>
                    <a:bodyPr/>
                    <a:lstStyle/>
                    <a:p>
                      <a:r>
                        <a:rPr sz="1000" b="0">
                          <a:solidFill>
                            <a:srgbClr val="E6EDF3"/>
                          </a:solidFill>
                          <a:latin typeface="Segoe UI"/>
                        </a:rPr>
                        <a:t>Spectral flatness</a:t>
                      </a:r>
                    </a:p>
                  </a:txBody>
                  <a:tcPr marT="25400" marB="25400" marL="63500" marR="63500" anchor="ctr">
                    <a:solidFill>
                      <a:srgbClr val="0A0E14"/>
                    </a:solidFill>
                  </a:tcPr>
                </a:tc>
                <a:tc>
                  <a:txBody>
                    <a:bodyPr/>
                    <a:lstStyle/>
                    <a:p>
                      <a:r>
                        <a:rPr sz="1000" b="0">
                          <a:solidFill>
                            <a:srgbClr val="E6EDF3"/>
                          </a:solidFill>
                          <a:latin typeface="Segoe UI"/>
                        </a:rPr>
                        <a:t>3.0</a:t>
                      </a:r>
                    </a:p>
                  </a:txBody>
                  <a:tcPr marT="25400" marB="25400" marL="63500" marR="63500" anchor="ctr">
                    <a:solidFill>
                      <a:srgbClr val="0A0E14"/>
                    </a:solidFill>
                  </a:tcPr>
                </a:tc>
                <a:tc>
                  <a:txBody>
                    <a:bodyPr/>
                    <a:lstStyle/>
                    <a:p>
                      <a:r>
                        <a:rPr sz="1000" b="0">
                          <a:solidFill>
                            <a:srgbClr val="E6EDF3"/>
                          </a:solidFill>
                          <a:latin typeface="Segoe UI"/>
                        </a:rPr>
                        <a:t>spectral entropy</a:t>
                      </a:r>
                    </a:p>
                  </a:txBody>
                  <a:tcPr marT="25400" marB="25400" marL="63500" marR="63500" anchor="ctr">
                    <a:solidFill>
                      <a:srgbClr val="0A0E14"/>
                    </a:solidFill>
                  </a:tcPr>
                </a:tc>
                <a:tc>
                  <a:txBody>
                    <a:bodyPr/>
                    <a:lstStyle/>
                    <a:p>
                      <a:r>
                        <a:rPr sz="1000" b="0">
                          <a:solidFill>
                            <a:srgbClr val="E6EDF3"/>
                          </a:solidFill>
                          <a:latin typeface="Segoe UI"/>
                        </a:rPr>
                        <a:t>no peaks, no tilt</a:t>
                      </a:r>
                    </a:p>
                  </a:txBody>
                  <a:tcPr marT="25400" marB="25400" marL="63500" marR="63500" anchor="ctr">
                    <a:solidFill>
                      <a:srgbClr val="0A0E14"/>
                    </a:solidFill>
                  </a:tcPr>
                </a:tc>
              </a:tr>
              <a:tr h="310896">
                <a:tc>
                  <a:txBody>
                    <a:bodyPr/>
                    <a:lstStyle/>
                    <a:p>
                      <a:r>
                        <a:rPr sz="1000" b="0">
                          <a:solidFill>
                            <a:srgbClr val="E6EDF3"/>
                          </a:solidFill>
                          <a:latin typeface="Segoe UI"/>
                        </a:rPr>
                        <a:t>Cyclostationary suppression</a:t>
                      </a:r>
                    </a:p>
                  </a:txBody>
                  <a:tcPr marT="25400" marB="25400" marL="63500" marR="63500" anchor="ctr">
                    <a:solidFill>
                      <a:srgbClr val="0F141C"/>
                    </a:solidFill>
                  </a:tcPr>
                </a:tc>
                <a:tc>
                  <a:txBody>
                    <a:bodyPr/>
                    <a:lstStyle/>
                    <a:p>
                      <a:r>
                        <a:rPr sz="1000" b="0">
                          <a:solidFill>
                            <a:srgbClr val="E6EDF3"/>
                          </a:solidFill>
                          <a:latin typeface="Segoe UI"/>
                        </a:rPr>
                        <a:t>2.5</a:t>
                      </a:r>
                    </a:p>
                  </a:txBody>
                  <a:tcPr marT="25400" marB="25400" marL="63500" marR="63500" anchor="ctr">
                    <a:solidFill>
                      <a:srgbClr val="0F141C"/>
                    </a:solidFill>
                  </a:tcPr>
                </a:tc>
                <a:tc>
                  <a:txBody>
                    <a:bodyPr/>
                    <a:lstStyle/>
                    <a:p>
                      <a:r>
                        <a:rPr sz="1000" b="0">
                          <a:solidFill>
                            <a:srgbClr val="E6EDF3"/>
                          </a:solidFill>
                          <a:latin typeface="Segoe UI"/>
                        </a:rPr>
                        <a:t>SCF</a:t>
                      </a:r>
                    </a:p>
                  </a:txBody>
                  <a:tcPr marT="25400" marB="25400" marL="63500" marR="63500" anchor="ctr">
                    <a:solidFill>
                      <a:srgbClr val="0F141C"/>
                    </a:solidFill>
                  </a:tcPr>
                </a:tc>
                <a:tc>
                  <a:txBody>
                    <a:bodyPr/>
                    <a:lstStyle/>
                    <a:p>
                      <a:r>
                        <a:rPr sz="1000" b="0">
                          <a:solidFill>
                            <a:srgbClr val="E6EDF3"/>
                          </a:solidFill>
                          <a:latin typeface="Segoe UI"/>
                        </a:rPr>
                        <a:t>R_xx(τ) → 0 for all lags</a:t>
                      </a:r>
                    </a:p>
                  </a:txBody>
                  <a:tcPr marT="25400" marB="25400" marL="63500" marR="63500" anchor="ctr">
                    <a:solidFill>
                      <a:srgbClr val="0F141C"/>
                    </a:solidFill>
                  </a:tcPr>
                </a:tc>
              </a:tr>
              <a:tr h="310896">
                <a:tc>
                  <a:txBody>
                    <a:bodyPr/>
                    <a:lstStyle/>
                    <a:p>
                      <a:r>
                        <a:rPr sz="1000" b="0">
                          <a:solidFill>
                            <a:srgbClr val="E6EDF3"/>
                          </a:solidFill>
                          <a:latin typeface="Segoe UI"/>
                        </a:rPr>
                        <a:t>Power normalisation</a:t>
                      </a:r>
                    </a:p>
                  </a:txBody>
                  <a:tcPr marT="25400" marB="25400" marL="63500" marR="63500" anchor="ctr">
                    <a:solidFill>
                      <a:srgbClr val="0A0E14"/>
                    </a:solidFill>
                  </a:tcPr>
                </a:tc>
                <a:tc>
                  <a:txBody>
                    <a:bodyPr/>
                    <a:lstStyle/>
                    <a:p>
                      <a:r>
                        <a:rPr sz="1000" b="0">
                          <a:solidFill>
                            <a:srgbClr val="E6EDF3"/>
                          </a:solidFill>
                          <a:latin typeface="Segoe UI"/>
                        </a:rPr>
                        <a:t>6.0 ★</a:t>
                      </a:r>
                    </a:p>
                  </a:txBody>
                  <a:tcPr marT="25400" marB="25400" marL="63500" marR="63500" anchor="ctr">
                    <a:solidFill>
                      <a:srgbClr val="0A0E14"/>
                    </a:solidFill>
                  </a:tcPr>
                </a:tc>
                <a:tc>
                  <a:txBody>
                    <a:bodyPr/>
                    <a:lstStyle/>
                    <a:p>
                      <a:r>
                        <a:rPr sz="1000" b="0">
                          <a:solidFill>
                            <a:srgbClr val="E6EDF3"/>
                          </a:solidFill>
                          <a:latin typeface="Segoe UI"/>
                        </a:rPr>
                        <a:t>energy / PAPR</a:t>
                      </a:r>
                    </a:p>
                  </a:txBody>
                  <a:tcPr marT="25400" marB="25400" marL="63500" marR="63500" anchor="ctr">
                    <a:solidFill>
                      <a:srgbClr val="0A0E14"/>
                    </a:solidFill>
                  </a:tcPr>
                </a:tc>
                <a:tc>
                  <a:txBody>
                    <a:bodyPr/>
                    <a:lstStyle/>
                    <a:p>
                      <a:r>
                        <a:rPr sz="1000" b="0">
                          <a:solidFill>
                            <a:srgbClr val="E6EDF3"/>
                          </a:solidFill>
                          <a:latin typeface="Segoe UI"/>
                        </a:rPr>
                        <a:t>log²(P_sig/P_noise) → 0</a:t>
                      </a:r>
                    </a:p>
                  </a:txBody>
                  <a:tcPr marT="25400" marB="25400" marL="63500" marR="63500" anchor="ctr">
                    <a:solidFill>
                      <a:srgbClr val="0A0E14"/>
                    </a:solidFill>
                  </a:tcPr>
                </a:tc>
              </a:tr>
              <a:tr h="310896">
                <a:tc>
                  <a:txBody>
                    <a:bodyPr/>
                    <a:lstStyle/>
                    <a:p>
                      <a:r>
                        <a:rPr sz="1000" b="0">
                          <a:solidFill>
                            <a:srgbClr val="E6EDF3"/>
                          </a:solidFill>
                          <a:latin typeface="Segoe UI"/>
                        </a:rPr>
                        <a:t>Diversity regularisation</a:t>
                      </a:r>
                    </a:p>
                  </a:txBody>
                  <a:tcPr marT="25400" marB="25400" marL="63500" marR="63500" anchor="ctr">
                    <a:solidFill>
                      <a:srgbClr val="0F141C"/>
                    </a:solidFill>
                  </a:tcPr>
                </a:tc>
                <a:tc>
                  <a:txBody>
                    <a:bodyPr/>
                    <a:lstStyle/>
                    <a:p>
                      <a:r>
                        <a:rPr sz="1000" b="0">
                          <a:solidFill>
                            <a:srgbClr val="E6EDF3"/>
                          </a:solidFill>
                          <a:latin typeface="Segoe UI"/>
                        </a:rPr>
                        <a:t>3.0</a:t>
                      </a:r>
                    </a:p>
                  </a:txBody>
                  <a:tcPr marT="25400" marB="25400" marL="63500" marR="63500" anchor="ctr">
                    <a:solidFill>
                      <a:srgbClr val="0F141C"/>
                    </a:solidFill>
                  </a:tcPr>
                </a:tc>
                <a:tc>
                  <a:txBody>
                    <a:bodyPr/>
                    <a:lstStyle/>
                    <a:p>
                      <a:r>
                        <a:rPr sz="1000" b="0">
                          <a:solidFill>
                            <a:srgbClr val="E6EDF3"/>
                          </a:solidFill>
                          <a:latin typeface="Segoe UI"/>
                        </a:rPr>
                        <a:t>HOS / fingerprinting</a:t>
                      </a:r>
                    </a:p>
                  </a:txBody>
                  <a:tcPr marT="25400" marB="25400" marL="63500" marR="63500" anchor="ctr">
                    <a:solidFill>
                      <a:srgbClr val="0F141C"/>
                    </a:solidFill>
                  </a:tcPr>
                </a:tc>
                <a:tc>
                  <a:txBody>
                    <a:bodyPr/>
                    <a:lstStyle/>
                    <a:p>
                      <a:r>
                        <a:rPr sz="1000" b="0">
                          <a:solidFill>
                            <a:srgbClr val="E6EDF3"/>
                          </a:solidFill>
                          <a:latin typeface="Segoe UI"/>
                        </a:rPr>
                        <a:t>no mode collapse to one subspace</a:t>
                      </a:r>
                    </a:p>
                  </a:txBody>
                  <a:tcPr marT="25400" marB="25400" marL="63500" marR="63500" anchor="ctr">
                    <a:solidFill>
                      <a:srgbClr val="0F141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Why not DSSS / FHSS / QPSK / OFDM?</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Measured, not asserted — same 512-sample frames, same −5 dB SNR, a fresh detector per waveform</a:t>
            </a:r>
          </a:p>
        </p:txBody>
      </p:sp>
      <p:graphicFrame>
        <p:nvGraphicFramePr>
          <p:cNvPr id="4" name="Table 3"/>
          <p:cNvGraphicFramePr>
            <a:graphicFrameLocks noGrp="1"/>
          </p:cNvGraphicFramePr>
          <p:nvPr/>
        </p:nvGraphicFramePr>
        <p:xfrm>
          <a:off x="502920" y="1783080"/>
          <a:ext cx="11185855" cy="2798064"/>
        </p:xfrm>
        <a:graphic>
          <a:graphicData uri="http://schemas.openxmlformats.org/drawingml/2006/table">
            <a:tbl>
              <a:tblPr firstRow="1" bandRow="1">
                <a:tableStyleId>{5C22544A-7EE6-4342-B048-85BDC9FD1C3A}</a:tableStyleId>
              </a:tblPr>
              <a:tblGrid>
                <a:gridCol w="1398231"/>
                <a:gridCol w="1398231"/>
                <a:gridCol w="1398231"/>
                <a:gridCol w="1398231"/>
                <a:gridCol w="1398231"/>
                <a:gridCol w="1398231"/>
                <a:gridCol w="1398231"/>
                <a:gridCol w="1398238"/>
              </a:tblGrid>
              <a:tr h="310896">
                <a:tc>
                  <a:txBody>
                    <a:bodyPr/>
                    <a:lstStyle/>
                    <a:p>
                      <a:r>
                        <a:rPr sz="1000" b="1">
                          <a:solidFill>
                            <a:srgbClr val="58A6FF"/>
                          </a:solidFill>
                          <a:latin typeface="Segoe UI"/>
                        </a:rPr>
                        <a:t>Waveform</a:t>
                      </a:r>
                    </a:p>
                  </a:txBody>
                  <a:tcPr marT="25400" marB="25400" marL="63500" marR="63500" anchor="ctr">
                    <a:solidFill>
                      <a:srgbClr val="0A0E14"/>
                    </a:solidFill>
                  </a:tcPr>
                </a:tc>
                <a:tc>
                  <a:txBody>
                    <a:bodyPr/>
                    <a:lstStyle/>
                    <a:p>
                      <a:r>
                        <a:rPr sz="1000" b="1">
                          <a:solidFill>
                            <a:srgbClr val="58A6FF"/>
                          </a:solidFill>
                          <a:latin typeface="Segoe UI"/>
                        </a:rPr>
                        <a:t>KS p</a:t>
                      </a:r>
                    </a:p>
                  </a:txBody>
                  <a:tcPr marT="25400" marB="25400" marL="63500" marR="63500" anchor="ctr">
                    <a:solidFill>
                      <a:srgbClr val="0A0E14"/>
                    </a:solidFill>
                  </a:tcPr>
                </a:tc>
                <a:tc>
                  <a:txBody>
                    <a:bodyPr/>
                    <a:lstStyle/>
                    <a:p>
                      <a:r>
                        <a:rPr sz="1000" b="1">
                          <a:solidFill>
                            <a:srgbClr val="58A6FF"/>
                          </a:solidFill>
                          <a:latin typeface="Segoe UI"/>
                        </a:rPr>
                        <a:t>Entropy</a:t>
                      </a:r>
                    </a:p>
                  </a:txBody>
                  <a:tcPr marT="25400" marB="25400" marL="63500" marR="63500" anchor="ctr">
                    <a:solidFill>
                      <a:srgbClr val="0A0E14"/>
                    </a:solidFill>
                  </a:tcPr>
                </a:tc>
                <a:tc>
                  <a:txBody>
                    <a:bodyPr/>
                    <a:lstStyle/>
                    <a:p>
                      <a:r>
                        <a:rPr sz="1000" b="1">
                          <a:solidFill>
                            <a:srgbClr val="58A6FF"/>
                          </a:solidFill>
                          <a:latin typeface="Segoe UI"/>
                        </a:rPr>
                        <a:t>IQ circ.</a:t>
                      </a:r>
                    </a:p>
                  </a:txBody>
                  <a:tcPr marT="25400" marB="25400" marL="63500" marR="63500" anchor="ctr">
                    <a:solidFill>
                      <a:srgbClr val="0A0E14"/>
                    </a:solidFill>
                  </a:tcPr>
                </a:tc>
                <a:tc>
                  <a:txBody>
                    <a:bodyPr/>
                    <a:lstStyle/>
                    <a:p>
                      <a:r>
                        <a:rPr sz="1000" b="1">
                          <a:solidFill>
                            <a:srgbClr val="58A6FF"/>
                          </a:solidFill>
                          <a:latin typeface="Segoe UI"/>
                        </a:rPr>
                        <a:t>SCF</a:t>
                      </a:r>
                    </a:p>
                  </a:txBody>
                  <a:tcPr marT="25400" marB="25400" marL="63500" marR="63500" anchor="ctr">
                    <a:solidFill>
                      <a:srgbClr val="0A0E14"/>
                    </a:solidFill>
                  </a:tcPr>
                </a:tc>
                <a:tc>
                  <a:txBody>
                    <a:bodyPr/>
                    <a:lstStyle/>
                    <a:p>
                      <a:r>
                        <a:rPr sz="1000" b="1">
                          <a:solidFill>
                            <a:srgbClr val="58A6FF"/>
                          </a:solidFill>
                          <a:latin typeface="Segoe UI"/>
                        </a:rPr>
                        <a:t>WVD</a:t>
                      </a:r>
                    </a:p>
                  </a:txBody>
                  <a:tcPr marT="25400" marB="25400" marL="63500" marR="63500" anchor="ctr">
                    <a:solidFill>
                      <a:srgbClr val="0A0E14"/>
                    </a:solidFill>
                  </a:tcPr>
                </a:tc>
                <a:tc>
                  <a:txBody>
                    <a:bodyPr/>
                    <a:lstStyle/>
                    <a:p>
                      <a:r>
                        <a:rPr sz="1000" b="1">
                          <a:solidFill>
                            <a:srgbClr val="58A6FF"/>
                          </a:solidFill>
                          <a:latin typeface="Segoe UI"/>
                        </a:rPr>
                        <a:t>Detector acc.</a:t>
                      </a:r>
                    </a:p>
                  </a:txBody>
                  <a:tcPr marT="25400" marB="25400" marL="63500" marR="63500" anchor="ctr">
                    <a:solidFill>
                      <a:srgbClr val="0A0E14"/>
                    </a:solidFill>
                  </a:tcPr>
                </a:tc>
                <a:tc>
                  <a:txBody>
                    <a:bodyPr/>
                    <a:lstStyle/>
                    <a:p>
                      <a:r>
                        <a:rPr sz="1000" b="1">
                          <a:solidFill>
                            <a:srgbClr val="58A6FF"/>
                          </a:solidFill>
                          <a:latin typeface="Segoe UI"/>
                        </a:rPr>
                        <a:t>EW pass</a:t>
                      </a:r>
                    </a:p>
                  </a:txBody>
                  <a:tcPr marT="25400" marB="25400" marL="63500" marR="63500" anchor="ctr">
                    <a:solidFill>
                      <a:srgbClr val="0A0E14"/>
                    </a:solidFill>
                  </a:tcPr>
                </a:tc>
              </a:tr>
              <a:tr h="310896">
                <a:tc>
                  <a:txBody>
                    <a:bodyPr/>
                    <a:lstStyle/>
                    <a:p>
                      <a:r>
                        <a:rPr sz="1000" b="1">
                          <a:solidFill>
                            <a:srgbClr val="3FB950"/>
                          </a:solidFill>
                          <a:latin typeface="Segoe UI"/>
                        </a:rPr>
                        <a:t>LPI GAN (ours)</a:t>
                      </a:r>
                    </a:p>
                  </a:txBody>
                  <a:tcPr marT="25400" marB="25400" marL="63500" marR="63500" anchor="ctr">
                    <a:solidFill>
                      <a:srgbClr val="121A14"/>
                    </a:solidFill>
                  </a:tcPr>
                </a:tc>
                <a:tc>
                  <a:txBody>
                    <a:bodyPr/>
                    <a:lstStyle/>
                    <a:p>
                      <a:r>
                        <a:rPr sz="1000" b="1">
                          <a:solidFill>
                            <a:srgbClr val="3FB950"/>
                          </a:solidFill>
                          <a:latin typeface="Segoe UI"/>
                        </a:rPr>
                        <a:t>0.870</a:t>
                      </a:r>
                    </a:p>
                  </a:txBody>
                  <a:tcPr marT="25400" marB="25400" marL="63500" marR="63500" anchor="ctr">
                    <a:solidFill>
                      <a:srgbClr val="121A14"/>
                    </a:solidFill>
                  </a:tcPr>
                </a:tc>
                <a:tc>
                  <a:txBody>
                    <a:bodyPr/>
                    <a:lstStyle/>
                    <a:p>
                      <a:r>
                        <a:rPr sz="1000" b="1">
                          <a:solidFill>
                            <a:srgbClr val="3FB950"/>
                          </a:solidFill>
                          <a:latin typeface="Segoe UI"/>
                        </a:rPr>
                        <a:t>0.994</a:t>
                      </a:r>
                    </a:p>
                  </a:txBody>
                  <a:tcPr marT="25400" marB="25400" marL="63500" marR="63500" anchor="ctr">
                    <a:solidFill>
                      <a:srgbClr val="121A14"/>
                    </a:solidFill>
                  </a:tcPr>
                </a:tc>
                <a:tc>
                  <a:txBody>
                    <a:bodyPr/>
                    <a:lstStyle/>
                    <a:p>
                      <a:r>
                        <a:rPr sz="1000" b="1">
                          <a:solidFill>
                            <a:srgbClr val="3FB950"/>
                          </a:solidFill>
                          <a:latin typeface="Segoe UI"/>
                        </a:rPr>
                        <a:t>0.036</a:t>
                      </a:r>
                    </a:p>
                  </a:txBody>
                  <a:tcPr marT="25400" marB="25400" marL="63500" marR="63500" anchor="ctr">
                    <a:solidFill>
                      <a:srgbClr val="121A14"/>
                    </a:solidFill>
                  </a:tcPr>
                </a:tc>
                <a:tc>
                  <a:txBody>
                    <a:bodyPr/>
                    <a:lstStyle/>
                    <a:p>
                      <a:r>
                        <a:rPr sz="1000" b="1">
                          <a:solidFill>
                            <a:srgbClr val="3FB950"/>
                          </a:solidFill>
                          <a:latin typeface="Segoe UI"/>
                        </a:rPr>
                        <a:t>0.970</a:t>
                      </a:r>
                    </a:p>
                  </a:txBody>
                  <a:tcPr marT="25400" marB="25400" marL="63500" marR="63500" anchor="ctr">
                    <a:solidFill>
                      <a:srgbClr val="121A14"/>
                    </a:solidFill>
                  </a:tcPr>
                </a:tc>
                <a:tc>
                  <a:txBody>
                    <a:bodyPr/>
                    <a:lstStyle/>
                    <a:p>
                      <a:r>
                        <a:rPr sz="1000" b="1">
                          <a:solidFill>
                            <a:srgbClr val="3FB950"/>
                          </a:solidFill>
                          <a:latin typeface="Segoe UI"/>
                        </a:rPr>
                        <a:t>1.275</a:t>
                      </a:r>
                    </a:p>
                  </a:txBody>
                  <a:tcPr marT="25400" marB="25400" marL="63500" marR="63500" anchor="ctr">
                    <a:solidFill>
                      <a:srgbClr val="121A14"/>
                    </a:solidFill>
                  </a:tcPr>
                </a:tc>
                <a:tc>
                  <a:txBody>
                    <a:bodyPr/>
                    <a:lstStyle/>
                    <a:p>
                      <a:r>
                        <a:rPr sz="1000" b="1">
                          <a:solidFill>
                            <a:srgbClr val="3FB950"/>
                          </a:solidFill>
                          <a:latin typeface="Segoe UI"/>
                        </a:rPr>
                        <a:t>55.6 %</a:t>
                      </a:r>
                    </a:p>
                  </a:txBody>
                  <a:tcPr marT="25400" marB="25400" marL="63500" marR="63500" anchor="ctr">
                    <a:solidFill>
                      <a:srgbClr val="121A14"/>
                    </a:solidFill>
                  </a:tcPr>
                </a:tc>
                <a:tc>
                  <a:txBody>
                    <a:bodyPr/>
                    <a:lstStyle/>
                    <a:p>
                      <a:r>
                        <a:rPr sz="1000" b="1">
                          <a:solidFill>
                            <a:srgbClr val="3FB950"/>
                          </a:solidFill>
                          <a:latin typeface="Segoe UI"/>
                        </a:rPr>
                        <a:t>8/8</a:t>
                      </a:r>
                    </a:p>
                  </a:txBody>
                  <a:tcPr marT="25400" marB="25400" marL="63500" marR="63500" anchor="ctr">
                    <a:solidFill>
                      <a:srgbClr val="121A14"/>
                    </a:solidFill>
                  </a:tcPr>
                </a:tc>
              </a:tr>
              <a:tr h="310896">
                <a:tc>
                  <a:txBody>
                    <a:bodyPr/>
                    <a:lstStyle/>
                    <a:p>
                      <a:r>
                        <a:rPr sz="1000" b="0">
                          <a:solidFill>
                            <a:srgbClr val="E6EDF3"/>
                          </a:solidFill>
                          <a:latin typeface="Segoe UI"/>
                        </a:rPr>
                        <a:t>AWGN (reference)</a:t>
                      </a:r>
                    </a:p>
                  </a:txBody>
                  <a:tcPr marT="25400" marB="25400" marL="63500" marR="63500" anchor="ctr">
                    <a:solidFill>
                      <a:srgbClr val="0A0E14"/>
                    </a:solidFill>
                  </a:tcPr>
                </a:tc>
                <a:tc>
                  <a:txBody>
                    <a:bodyPr/>
                    <a:lstStyle/>
                    <a:p>
                      <a:r>
                        <a:rPr sz="1000" b="0">
                          <a:solidFill>
                            <a:srgbClr val="E6EDF3"/>
                          </a:solidFill>
                          <a:latin typeface="Segoe UI"/>
                        </a:rPr>
                        <a:t>0.789</a:t>
                      </a:r>
                    </a:p>
                  </a:txBody>
                  <a:tcPr marT="25400" marB="25400" marL="63500" marR="63500" anchor="ctr">
                    <a:solidFill>
                      <a:srgbClr val="0A0E14"/>
                    </a:solidFill>
                  </a:tcPr>
                </a:tc>
                <a:tc>
                  <a:txBody>
                    <a:bodyPr/>
                    <a:lstStyle/>
                    <a:p>
                      <a:r>
                        <a:rPr sz="1000" b="0">
                          <a:solidFill>
                            <a:srgbClr val="E6EDF3"/>
                          </a:solidFill>
                          <a:latin typeface="Segoe UI"/>
                        </a:rPr>
                        <a:t>1.002</a:t>
                      </a:r>
                    </a:p>
                  </a:txBody>
                  <a:tcPr marT="25400" marB="25400" marL="63500" marR="63500" anchor="ctr">
                    <a:solidFill>
                      <a:srgbClr val="0A0E14"/>
                    </a:solidFill>
                  </a:tcPr>
                </a:tc>
                <a:tc>
                  <a:txBody>
                    <a:bodyPr/>
                    <a:lstStyle/>
                    <a:p>
                      <a:r>
                        <a:rPr sz="1000" b="0">
                          <a:solidFill>
                            <a:srgbClr val="E6EDF3"/>
                          </a:solidFill>
                          <a:latin typeface="Segoe UI"/>
                        </a:rPr>
                        <a:t>0.055</a:t>
                      </a:r>
                    </a:p>
                  </a:txBody>
                  <a:tcPr marT="25400" marB="25400" marL="63500" marR="63500" anchor="ctr">
                    <a:solidFill>
                      <a:srgbClr val="0A0E14"/>
                    </a:solidFill>
                  </a:tcPr>
                </a:tc>
                <a:tc>
                  <a:txBody>
                    <a:bodyPr/>
                    <a:lstStyle/>
                    <a:p>
                      <a:r>
                        <a:rPr sz="1000" b="0">
                          <a:solidFill>
                            <a:srgbClr val="E6EDF3"/>
                          </a:solidFill>
                          <a:latin typeface="Segoe UI"/>
                        </a:rPr>
                        <a:t>1.130</a:t>
                      </a:r>
                    </a:p>
                  </a:txBody>
                  <a:tcPr marT="25400" marB="25400" marL="63500" marR="63500" anchor="ctr">
                    <a:solidFill>
                      <a:srgbClr val="0A0E14"/>
                    </a:solidFill>
                  </a:tcPr>
                </a:tc>
                <a:tc>
                  <a:txBody>
                    <a:bodyPr/>
                    <a:lstStyle/>
                    <a:p>
                      <a:r>
                        <a:rPr sz="1000" b="0">
                          <a:solidFill>
                            <a:srgbClr val="E6EDF3"/>
                          </a:solidFill>
                          <a:latin typeface="Segoe UI"/>
                        </a:rPr>
                        <a:t>1.186</a:t>
                      </a:r>
                    </a:p>
                  </a:txBody>
                  <a:tcPr marT="25400" marB="25400" marL="63500" marR="63500" anchor="ctr">
                    <a:solidFill>
                      <a:srgbClr val="0A0E14"/>
                    </a:solidFill>
                  </a:tcPr>
                </a:tc>
                <a:tc>
                  <a:txBody>
                    <a:bodyPr/>
                    <a:lstStyle/>
                    <a:p>
                      <a:r>
                        <a:rPr sz="1000" b="0">
                          <a:solidFill>
                            <a:srgbClr val="E6EDF3"/>
                          </a:solidFill>
                          <a:latin typeface="Segoe UI"/>
                        </a:rPr>
                        <a:t>53.5 %</a:t>
                      </a:r>
                    </a:p>
                  </a:txBody>
                  <a:tcPr marT="25400" marB="25400" marL="63500" marR="63500" anchor="ctr">
                    <a:solidFill>
                      <a:srgbClr val="0A0E14"/>
                    </a:solidFill>
                  </a:tcPr>
                </a:tc>
                <a:tc>
                  <a:txBody>
                    <a:bodyPr/>
                    <a:lstStyle/>
                    <a:p>
                      <a:r>
                        <a:rPr sz="1000" b="0">
                          <a:solidFill>
                            <a:srgbClr val="E6EDF3"/>
                          </a:solidFill>
                          <a:latin typeface="Segoe UI"/>
                        </a:rPr>
                        <a:t>—</a:t>
                      </a:r>
                    </a:p>
                  </a:txBody>
                  <a:tcPr marT="25400" marB="25400" marL="63500" marR="63500" anchor="ctr">
                    <a:solidFill>
                      <a:srgbClr val="0A0E14"/>
                    </a:solidFill>
                  </a:tcPr>
                </a:tc>
              </a:tr>
              <a:tr h="310896">
                <a:tc>
                  <a:txBody>
                    <a:bodyPr/>
                    <a:lstStyle/>
                    <a:p>
                      <a:r>
                        <a:rPr sz="1000" b="0">
                          <a:solidFill>
                            <a:srgbClr val="E6EDF3"/>
                          </a:solidFill>
                          <a:latin typeface="Segoe UI"/>
                        </a:rPr>
                        <a:t>NRPCS-like</a:t>
                      </a:r>
                    </a:p>
                  </a:txBody>
                  <a:tcPr marT="25400" marB="25400" marL="63500" marR="63500" anchor="ctr">
                    <a:solidFill>
                      <a:srgbClr val="0F141C"/>
                    </a:solidFill>
                  </a:tcPr>
                </a:tc>
                <a:tc>
                  <a:txBody>
                    <a:bodyPr/>
                    <a:lstStyle/>
                    <a:p>
                      <a:r>
                        <a:rPr sz="1000" b="0">
                          <a:solidFill>
                            <a:srgbClr val="E6EDF3"/>
                          </a:solidFill>
                          <a:latin typeface="Segoe UI"/>
                        </a:rPr>
                        <a:t>0.775</a:t>
                      </a:r>
                    </a:p>
                  </a:txBody>
                  <a:tcPr marT="25400" marB="25400" marL="63500" marR="63500" anchor="ctr">
                    <a:solidFill>
                      <a:srgbClr val="0F141C"/>
                    </a:solidFill>
                  </a:tcPr>
                </a:tc>
                <a:tc>
                  <a:txBody>
                    <a:bodyPr/>
                    <a:lstStyle/>
                    <a:p>
                      <a:r>
                        <a:rPr sz="1000" b="0">
                          <a:solidFill>
                            <a:srgbClr val="E6EDF3"/>
                          </a:solidFill>
                          <a:latin typeface="Segoe UI"/>
                        </a:rPr>
                        <a:t>0.840</a:t>
                      </a:r>
                    </a:p>
                  </a:txBody>
                  <a:tcPr marT="25400" marB="25400" marL="63500" marR="63500" anchor="ctr">
                    <a:solidFill>
                      <a:srgbClr val="0F141C"/>
                    </a:solidFill>
                  </a:tcPr>
                </a:tc>
                <a:tc>
                  <a:txBody>
                    <a:bodyPr/>
                    <a:lstStyle/>
                    <a:p>
                      <a:r>
                        <a:rPr sz="1000" b="0">
                          <a:solidFill>
                            <a:srgbClr val="E6EDF3"/>
                          </a:solidFill>
                          <a:latin typeface="Segoe UI"/>
                        </a:rPr>
                        <a:t>0.088</a:t>
                      </a:r>
                    </a:p>
                  </a:txBody>
                  <a:tcPr marT="25400" marB="25400" marL="63500" marR="63500" anchor="ctr">
                    <a:solidFill>
                      <a:srgbClr val="0F141C"/>
                    </a:solidFill>
                  </a:tcPr>
                </a:tc>
                <a:tc>
                  <a:txBody>
                    <a:bodyPr/>
                    <a:lstStyle/>
                    <a:p>
                      <a:r>
                        <a:rPr sz="1000" b="0">
                          <a:solidFill>
                            <a:srgbClr val="E6EDF3"/>
                          </a:solidFill>
                          <a:latin typeface="Segoe UI"/>
                        </a:rPr>
                        <a:t>0.513</a:t>
                      </a:r>
                    </a:p>
                  </a:txBody>
                  <a:tcPr marT="25400" marB="25400" marL="63500" marR="63500" anchor="ctr">
                    <a:solidFill>
                      <a:srgbClr val="0F141C"/>
                    </a:solidFill>
                  </a:tcPr>
                </a:tc>
                <a:tc>
                  <a:txBody>
                    <a:bodyPr/>
                    <a:lstStyle/>
                    <a:p>
                      <a:r>
                        <a:rPr sz="1000" b="0">
                          <a:solidFill>
                            <a:srgbClr val="E6EDF3"/>
                          </a:solidFill>
                          <a:latin typeface="Segoe UI"/>
                        </a:rPr>
                        <a:t>0.646</a:t>
                      </a:r>
                    </a:p>
                  </a:txBody>
                  <a:tcPr marT="25400" marB="25400" marL="63500" marR="63500" anchor="ctr">
                    <a:solidFill>
                      <a:srgbClr val="0F141C"/>
                    </a:solidFill>
                  </a:tcPr>
                </a:tc>
                <a:tc>
                  <a:txBody>
                    <a:bodyPr/>
                    <a:lstStyle/>
                    <a:p>
                      <a:r>
                        <a:rPr sz="1000" b="0">
                          <a:solidFill>
                            <a:srgbClr val="E6EDF3"/>
                          </a:solidFill>
                          <a:latin typeface="Segoe UI"/>
                        </a:rPr>
                        <a:t>100 %</a:t>
                      </a:r>
                    </a:p>
                  </a:txBody>
                  <a:tcPr marT="25400" marB="25400" marL="63500" marR="63500" anchor="ctr">
                    <a:solidFill>
                      <a:srgbClr val="0F141C"/>
                    </a:solidFill>
                  </a:tcPr>
                </a:tc>
                <a:tc>
                  <a:txBody>
                    <a:bodyPr/>
                    <a:lstStyle/>
                    <a:p>
                      <a:r>
                        <a:rPr sz="1000" b="0">
                          <a:solidFill>
                            <a:srgbClr val="E6EDF3"/>
                          </a:solidFill>
                          <a:latin typeface="Segoe UI"/>
                        </a:rPr>
                        <a:t>0/8</a:t>
                      </a:r>
                    </a:p>
                  </a:txBody>
                  <a:tcPr marT="25400" marB="25400" marL="63500" marR="63500" anchor="ctr">
                    <a:solidFill>
                      <a:srgbClr val="0F141C"/>
                    </a:solidFill>
                  </a:tcPr>
                </a:tc>
              </a:tr>
              <a:tr h="310896">
                <a:tc>
                  <a:txBody>
                    <a:bodyPr/>
                    <a:lstStyle/>
                    <a:p>
                      <a:r>
                        <a:rPr sz="1000" b="0">
                          <a:solidFill>
                            <a:srgbClr val="E6EDF3"/>
                          </a:solidFill>
                          <a:latin typeface="Segoe UI"/>
                        </a:rPr>
                        <a:t>OFDM</a:t>
                      </a:r>
                    </a:p>
                  </a:txBody>
                  <a:tcPr marT="25400" marB="25400" marL="63500" marR="63500" anchor="ctr">
                    <a:solidFill>
                      <a:srgbClr val="0A0E14"/>
                    </a:solidFill>
                  </a:tcPr>
                </a:tc>
                <a:tc>
                  <a:txBody>
                    <a:bodyPr/>
                    <a:lstStyle/>
                    <a:p>
                      <a:r>
                        <a:rPr sz="1000" b="0">
                          <a:solidFill>
                            <a:srgbClr val="E6EDF3"/>
                          </a:solidFill>
                          <a:latin typeface="Segoe UI"/>
                        </a:rPr>
                        <a:t>0.507</a:t>
                      </a:r>
                    </a:p>
                  </a:txBody>
                  <a:tcPr marT="25400" marB="25400" marL="63500" marR="63500" anchor="ctr">
                    <a:solidFill>
                      <a:srgbClr val="0A0E14"/>
                    </a:solidFill>
                  </a:tcPr>
                </a:tc>
                <a:tc>
                  <a:txBody>
                    <a:bodyPr/>
                    <a:lstStyle/>
                    <a:p>
                      <a:r>
                        <a:rPr sz="1000" b="0">
                          <a:solidFill>
                            <a:srgbClr val="E6EDF3"/>
                          </a:solidFill>
                          <a:latin typeface="Segoe UI"/>
                        </a:rPr>
                        <a:t>0.964</a:t>
                      </a:r>
                    </a:p>
                  </a:txBody>
                  <a:tcPr marT="25400" marB="25400" marL="63500" marR="63500" anchor="ctr">
                    <a:solidFill>
                      <a:srgbClr val="0A0E14"/>
                    </a:solidFill>
                  </a:tcPr>
                </a:tc>
                <a:tc>
                  <a:txBody>
                    <a:bodyPr/>
                    <a:lstStyle/>
                    <a:p>
                      <a:r>
                        <a:rPr sz="1000" b="0">
                          <a:solidFill>
                            <a:srgbClr val="E6EDF3"/>
                          </a:solidFill>
                          <a:latin typeface="Segoe UI"/>
                        </a:rPr>
                        <a:t>0.006</a:t>
                      </a:r>
                    </a:p>
                  </a:txBody>
                  <a:tcPr marT="25400" marB="25400" marL="63500" marR="63500" anchor="ctr">
                    <a:solidFill>
                      <a:srgbClr val="0A0E14"/>
                    </a:solidFill>
                  </a:tcPr>
                </a:tc>
                <a:tc>
                  <a:txBody>
                    <a:bodyPr/>
                    <a:lstStyle/>
                    <a:p>
                      <a:r>
                        <a:rPr sz="1000" b="0">
                          <a:solidFill>
                            <a:srgbClr val="E6EDF3"/>
                          </a:solidFill>
                          <a:latin typeface="Segoe UI"/>
                        </a:rPr>
                        <a:t>0.493</a:t>
                      </a:r>
                    </a:p>
                  </a:txBody>
                  <a:tcPr marT="25400" marB="25400" marL="63500" marR="63500" anchor="ctr">
                    <a:solidFill>
                      <a:srgbClr val="0A0E14"/>
                    </a:solidFill>
                  </a:tcPr>
                </a:tc>
                <a:tc>
                  <a:txBody>
                    <a:bodyPr/>
                    <a:lstStyle/>
                    <a:p>
                      <a:r>
                        <a:rPr sz="1000" b="0">
                          <a:solidFill>
                            <a:srgbClr val="E6EDF3"/>
                          </a:solidFill>
                          <a:latin typeface="Segoe UI"/>
                        </a:rPr>
                        <a:t>0.049</a:t>
                      </a:r>
                    </a:p>
                  </a:txBody>
                  <a:tcPr marT="25400" marB="25400" marL="63500" marR="63500" anchor="ctr">
                    <a:solidFill>
                      <a:srgbClr val="0A0E14"/>
                    </a:solidFill>
                  </a:tcPr>
                </a:tc>
                <a:tc>
                  <a:txBody>
                    <a:bodyPr/>
                    <a:lstStyle/>
                    <a:p>
                      <a:r>
                        <a:rPr sz="1000" b="0">
                          <a:solidFill>
                            <a:srgbClr val="E6EDF3"/>
                          </a:solidFill>
                          <a:latin typeface="Segoe UI"/>
                        </a:rPr>
                        <a:t>100 %</a:t>
                      </a:r>
                    </a:p>
                  </a:txBody>
                  <a:tcPr marT="25400" marB="25400" marL="63500" marR="63500" anchor="ctr">
                    <a:solidFill>
                      <a:srgbClr val="0A0E14"/>
                    </a:solidFill>
                  </a:tcPr>
                </a:tc>
                <a:tc>
                  <a:txBody>
                    <a:bodyPr/>
                    <a:lstStyle/>
                    <a:p>
                      <a:r>
                        <a:rPr sz="1000" b="0">
                          <a:solidFill>
                            <a:srgbClr val="E6EDF3"/>
                          </a:solidFill>
                          <a:latin typeface="Segoe UI"/>
                        </a:rPr>
                        <a:t>0/8</a:t>
                      </a:r>
                    </a:p>
                  </a:txBody>
                  <a:tcPr marT="25400" marB="25400" marL="63500" marR="63500" anchor="ctr">
                    <a:solidFill>
                      <a:srgbClr val="0A0E14"/>
                    </a:solidFill>
                  </a:tcPr>
                </a:tc>
              </a:tr>
              <a:tr h="310896">
                <a:tc>
                  <a:txBody>
                    <a:bodyPr/>
                    <a:lstStyle/>
                    <a:p>
                      <a:r>
                        <a:rPr sz="1000" b="0">
                          <a:solidFill>
                            <a:srgbClr val="E6EDF3"/>
                          </a:solidFill>
                          <a:latin typeface="Segoe UI"/>
                        </a:rPr>
                        <a:t>FHSS</a:t>
                      </a:r>
                    </a:p>
                  </a:txBody>
                  <a:tcPr marT="25400" marB="25400" marL="63500" marR="63500" anchor="ctr">
                    <a:solidFill>
                      <a:srgbClr val="0F141C"/>
                    </a:solidFill>
                  </a:tcPr>
                </a:tc>
                <a:tc>
                  <a:txBody>
                    <a:bodyPr/>
                    <a:lstStyle/>
                    <a:p>
                      <a:r>
                        <a:rPr sz="1000" b="0">
                          <a:solidFill>
                            <a:srgbClr val="E6EDF3"/>
                          </a:solidFill>
                          <a:latin typeface="Segoe UI"/>
                        </a:rPr>
                        <a:t>0.001</a:t>
                      </a:r>
                    </a:p>
                  </a:txBody>
                  <a:tcPr marT="25400" marB="25400" marL="63500" marR="63500" anchor="ctr">
                    <a:solidFill>
                      <a:srgbClr val="0F141C"/>
                    </a:solidFill>
                  </a:tcPr>
                </a:tc>
                <a:tc>
                  <a:txBody>
                    <a:bodyPr/>
                    <a:lstStyle/>
                    <a:p>
                      <a:r>
                        <a:rPr sz="1000" b="0">
                          <a:solidFill>
                            <a:srgbClr val="E6EDF3"/>
                          </a:solidFill>
                          <a:latin typeface="Segoe UI"/>
                        </a:rPr>
                        <a:t>0.844</a:t>
                      </a:r>
                    </a:p>
                  </a:txBody>
                  <a:tcPr marT="25400" marB="25400" marL="63500" marR="63500" anchor="ctr">
                    <a:solidFill>
                      <a:srgbClr val="0F141C"/>
                    </a:solidFill>
                  </a:tcPr>
                </a:tc>
                <a:tc>
                  <a:txBody>
                    <a:bodyPr/>
                    <a:lstStyle/>
                    <a:p>
                      <a:r>
                        <a:rPr sz="1000" b="0">
                          <a:solidFill>
                            <a:srgbClr val="E6EDF3"/>
                          </a:solidFill>
                          <a:latin typeface="Segoe UI"/>
                        </a:rPr>
                        <a:t>0.022</a:t>
                      </a:r>
                    </a:p>
                  </a:txBody>
                  <a:tcPr marT="25400" marB="25400" marL="63500" marR="63500" anchor="ctr">
                    <a:solidFill>
                      <a:srgbClr val="0F141C"/>
                    </a:solidFill>
                  </a:tcPr>
                </a:tc>
                <a:tc>
                  <a:txBody>
                    <a:bodyPr/>
                    <a:lstStyle/>
                    <a:p>
                      <a:r>
                        <a:rPr sz="1000" b="0">
                          <a:solidFill>
                            <a:srgbClr val="E6EDF3"/>
                          </a:solidFill>
                          <a:latin typeface="Segoe UI"/>
                        </a:rPr>
                        <a:t>0.510</a:t>
                      </a:r>
                    </a:p>
                  </a:txBody>
                  <a:tcPr marT="25400" marB="25400" marL="63500" marR="63500" anchor="ctr">
                    <a:solidFill>
                      <a:srgbClr val="0F141C"/>
                    </a:solidFill>
                  </a:tcPr>
                </a:tc>
                <a:tc>
                  <a:txBody>
                    <a:bodyPr/>
                    <a:lstStyle/>
                    <a:p>
                      <a:r>
                        <a:rPr sz="1000" b="0">
                          <a:solidFill>
                            <a:srgbClr val="E6EDF3"/>
                          </a:solidFill>
                          <a:latin typeface="Segoe UI"/>
                        </a:rPr>
                        <a:t>0.044</a:t>
                      </a:r>
                    </a:p>
                  </a:txBody>
                  <a:tcPr marT="25400" marB="25400" marL="63500" marR="63500" anchor="ctr">
                    <a:solidFill>
                      <a:srgbClr val="0F141C"/>
                    </a:solidFill>
                  </a:tcPr>
                </a:tc>
                <a:tc>
                  <a:txBody>
                    <a:bodyPr/>
                    <a:lstStyle/>
                    <a:p>
                      <a:r>
                        <a:rPr sz="1000" b="0">
                          <a:solidFill>
                            <a:srgbClr val="E6EDF3"/>
                          </a:solidFill>
                          <a:latin typeface="Segoe UI"/>
                        </a:rPr>
                        <a:t>100 %</a:t>
                      </a:r>
                    </a:p>
                  </a:txBody>
                  <a:tcPr marT="25400" marB="25400" marL="63500" marR="63500" anchor="ctr">
                    <a:solidFill>
                      <a:srgbClr val="0F141C"/>
                    </a:solidFill>
                  </a:tcPr>
                </a:tc>
                <a:tc>
                  <a:txBody>
                    <a:bodyPr/>
                    <a:lstStyle/>
                    <a:p>
                      <a:r>
                        <a:rPr sz="1000" b="0">
                          <a:solidFill>
                            <a:srgbClr val="E6EDF3"/>
                          </a:solidFill>
                          <a:latin typeface="Segoe UI"/>
                        </a:rPr>
                        <a:t>0/8</a:t>
                      </a:r>
                    </a:p>
                  </a:txBody>
                  <a:tcPr marT="25400" marB="25400" marL="63500" marR="63500" anchor="ctr">
                    <a:solidFill>
                      <a:srgbClr val="0F141C"/>
                    </a:solidFill>
                  </a:tcPr>
                </a:tc>
              </a:tr>
              <a:tr h="310896">
                <a:tc>
                  <a:txBody>
                    <a:bodyPr/>
                    <a:lstStyle/>
                    <a:p>
                      <a:r>
                        <a:rPr sz="1000" b="0">
                          <a:solidFill>
                            <a:srgbClr val="E6EDF3"/>
                          </a:solidFill>
                          <a:latin typeface="Segoe UI"/>
                        </a:rPr>
                        <a:t>QPSK</a:t>
                      </a:r>
                    </a:p>
                  </a:txBody>
                  <a:tcPr marT="25400" marB="25400" marL="63500" marR="63500" anchor="ctr">
                    <a:solidFill>
                      <a:srgbClr val="0A0E14"/>
                    </a:solidFill>
                  </a:tcPr>
                </a:tc>
                <a:tc>
                  <a:txBody>
                    <a:bodyPr/>
                    <a:lstStyle/>
                    <a:p>
                      <a:r>
                        <a:rPr sz="1000" b="0">
                          <a:solidFill>
                            <a:srgbClr val="E6EDF3"/>
                          </a:solidFill>
                          <a:latin typeface="Segoe UI"/>
                        </a:rPr>
                        <a:t>0.000</a:t>
                      </a:r>
                    </a:p>
                  </a:txBody>
                  <a:tcPr marT="25400" marB="25400" marL="63500" marR="63500" anchor="ctr">
                    <a:solidFill>
                      <a:srgbClr val="0A0E14"/>
                    </a:solidFill>
                  </a:tcPr>
                </a:tc>
                <a:tc>
                  <a:txBody>
                    <a:bodyPr/>
                    <a:lstStyle/>
                    <a:p>
                      <a:r>
                        <a:rPr sz="1000" b="0">
                          <a:solidFill>
                            <a:srgbClr val="E6EDF3"/>
                          </a:solidFill>
                          <a:latin typeface="Segoe UI"/>
                        </a:rPr>
                        <a:t>0.674</a:t>
                      </a:r>
                    </a:p>
                  </a:txBody>
                  <a:tcPr marT="25400" marB="25400" marL="63500" marR="63500" anchor="ctr">
                    <a:solidFill>
                      <a:srgbClr val="0A0E14"/>
                    </a:solidFill>
                  </a:tcPr>
                </a:tc>
                <a:tc>
                  <a:txBody>
                    <a:bodyPr/>
                    <a:lstStyle/>
                    <a:p>
                      <a:r>
                        <a:rPr sz="1000" b="0">
                          <a:solidFill>
                            <a:srgbClr val="E6EDF3"/>
                          </a:solidFill>
                          <a:latin typeface="Segoe UI"/>
                        </a:rPr>
                        <a:t>0.102</a:t>
                      </a:r>
                    </a:p>
                  </a:txBody>
                  <a:tcPr marT="25400" marB="25400" marL="63500" marR="63500" anchor="ctr">
                    <a:solidFill>
                      <a:srgbClr val="0A0E14"/>
                    </a:solidFill>
                  </a:tcPr>
                </a:tc>
                <a:tc>
                  <a:txBody>
                    <a:bodyPr/>
                    <a:lstStyle/>
                    <a:p>
                      <a:r>
                        <a:rPr sz="1000" b="0">
                          <a:solidFill>
                            <a:srgbClr val="E6EDF3"/>
                          </a:solidFill>
                          <a:latin typeface="Segoe UI"/>
                        </a:rPr>
                        <a:t>0.449</a:t>
                      </a:r>
                    </a:p>
                  </a:txBody>
                  <a:tcPr marT="25400" marB="25400" marL="63500" marR="63500" anchor="ctr">
                    <a:solidFill>
                      <a:srgbClr val="0A0E14"/>
                    </a:solidFill>
                  </a:tcPr>
                </a:tc>
                <a:tc>
                  <a:txBody>
                    <a:bodyPr/>
                    <a:lstStyle/>
                    <a:p>
                      <a:r>
                        <a:rPr sz="1000" b="0">
                          <a:solidFill>
                            <a:srgbClr val="E6EDF3"/>
                          </a:solidFill>
                          <a:latin typeface="Segoe UI"/>
                        </a:rPr>
                        <a:t>0.023</a:t>
                      </a:r>
                    </a:p>
                  </a:txBody>
                  <a:tcPr marT="25400" marB="25400" marL="63500" marR="63500" anchor="ctr">
                    <a:solidFill>
                      <a:srgbClr val="0A0E14"/>
                    </a:solidFill>
                  </a:tcPr>
                </a:tc>
                <a:tc>
                  <a:txBody>
                    <a:bodyPr/>
                    <a:lstStyle/>
                    <a:p>
                      <a:r>
                        <a:rPr sz="1000" b="0">
                          <a:solidFill>
                            <a:srgbClr val="E6EDF3"/>
                          </a:solidFill>
                          <a:latin typeface="Segoe UI"/>
                        </a:rPr>
                        <a:t>100 %</a:t>
                      </a:r>
                    </a:p>
                  </a:txBody>
                  <a:tcPr marT="25400" marB="25400" marL="63500" marR="63500" anchor="ctr">
                    <a:solidFill>
                      <a:srgbClr val="0A0E14"/>
                    </a:solidFill>
                  </a:tcPr>
                </a:tc>
                <a:tc>
                  <a:txBody>
                    <a:bodyPr/>
                    <a:lstStyle/>
                    <a:p>
                      <a:r>
                        <a:rPr sz="1000" b="0">
                          <a:solidFill>
                            <a:srgbClr val="E6EDF3"/>
                          </a:solidFill>
                          <a:latin typeface="Segoe UI"/>
                        </a:rPr>
                        <a:t>0/8</a:t>
                      </a:r>
                    </a:p>
                  </a:txBody>
                  <a:tcPr marT="25400" marB="25400" marL="63500" marR="63500" anchor="ctr">
                    <a:solidFill>
                      <a:srgbClr val="0A0E14"/>
                    </a:solidFill>
                  </a:tcPr>
                </a:tc>
              </a:tr>
              <a:tr h="310896">
                <a:tc>
                  <a:txBody>
                    <a:bodyPr/>
                    <a:lstStyle/>
                    <a:p>
                      <a:r>
                        <a:rPr sz="1000" b="0">
                          <a:solidFill>
                            <a:srgbClr val="E6EDF3"/>
                          </a:solidFill>
                          <a:latin typeface="Segoe UI"/>
                        </a:rPr>
                        <a:t>BPSK</a:t>
                      </a:r>
                    </a:p>
                  </a:txBody>
                  <a:tcPr marT="25400" marB="25400" marL="63500" marR="63500" anchor="ctr">
                    <a:solidFill>
                      <a:srgbClr val="0F141C"/>
                    </a:solidFill>
                  </a:tcPr>
                </a:tc>
                <a:tc>
                  <a:txBody>
                    <a:bodyPr/>
                    <a:lstStyle/>
                    <a:p>
                      <a:r>
                        <a:rPr sz="1000" b="0">
                          <a:solidFill>
                            <a:srgbClr val="E6EDF3"/>
                          </a:solidFill>
                          <a:latin typeface="Segoe UI"/>
                        </a:rPr>
                        <a:t>0.145</a:t>
                      </a:r>
                    </a:p>
                  </a:txBody>
                  <a:tcPr marT="25400" marB="25400" marL="63500" marR="63500" anchor="ctr">
                    <a:solidFill>
                      <a:srgbClr val="0F141C"/>
                    </a:solidFill>
                  </a:tcPr>
                </a:tc>
                <a:tc>
                  <a:txBody>
                    <a:bodyPr/>
                    <a:lstStyle/>
                    <a:p>
                      <a:r>
                        <a:rPr sz="1000" b="0">
                          <a:solidFill>
                            <a:srgbClr val="E6EDF3"/>
                          </a:solidFill>
                          <a:latin typeface="Segoe UI"/>
                        </a:rPr>
                        <a:t>0.844</a:t>
                      </a:r>
                    </a:p>
                  </a:txBody>
                  <a:tcPr marT="25400" marB="25400" marL="63500" marR="63500" anchor="ctr">
                    <a:solidFill>
                      <a:srgbClr val="0F141C"/>
                    </a:solidFill>
                  </a:tcPr>
                </a:tc>
                <a:tc>
                  <a:txBody>
                    <a:bodyPr/>
                    <a:lstStyle/>
                    <a:p>
                      <a:r>
                        <a:rPr sz="1000" b="0">
                          <a:solidFill>
                            <a:srgbClr val="E6EDF3"/>
                          </a:solidFill>
                          <a:latin typeface="Segoe UI"/>
                        </a:rPr>
                        <a:t>0.735</a:t>
                      </a:r>
                    </a:p>
                  </a:txBody>
                  <a:tcPr marT="25400" marB="25400" marL="63500" marR="63500" anchor="ctr">
                    <a:solidFill>
                      <a:srgbClr val="0F141C"/>
                    </a:solidFill>
                  </a:tcPr>
                </a:tc>
                <a:tc>
                  <a:txBody>
                    <a:bodyPr/>
                    <a:lstStyle/>
                    <a:p>
                      <a:r>
                        <a:rPr sz="1000" b="0">
                          <a:solidFill>
                            <a:srgbClr val="E6EDF3"/>
                          </a:solidFill>
                          <a:latin typeface="Segoe UI"/>
                        </a:rPr>
                        <a:t>0.896</a:t>
                      </a:r>
                    </a:p>
                  </a:txBody>
                  <a:tcPr marT="25400" marB="25400" marL="63500" marR="63500" anchor="ctr">
                    <a:solidFill>
                      <a:srgbClr val="0F141C"/>
                    </a:solidFill>
                  </a:tcPr>
                </a:tc>
                <a:tc>
                  <a:txBody>
                    <a:bodyPr/>
                    <a:lstStyle/>
                    <a:p>
                      <a:r>
                        <a:rPr sz="1000" b="0">
                          <a:solidFill>
                            <a:srgbClr val="E6EDF3"/>
                          </a:solidFill>
                          <a:latin typeface="Segoe UI"/>
                        </a:rPr>
                        <a:t>0.248</a:t>
                      </a:r>
                    </a:p>
                  </a:txBody>
                  <a:tcPr marT="25400" marB="25400" marL="63500" marR="63500" anchor="ctr">
                    <a:solidFill>
                      <a:srgbClr val="0F141C"/>
                    </a:solidFill>
                  </a:tcPr>
                </a:tc>
                <a:tc>
                  <a:txBody>
                    <a:bodyPr/>
                    <a:lstStyle/>
                    <a:p>
                      <a:r>
                        <a:rPr sz="1000" b="0">
                          <a:solidFill>
                            <a:srgbClr val="E6EDF3"/>
                          </a:solidFill>
                          <a:latin typeface="Segoe UI"/>
                        </a:rPr>
                        <a:t>100 %</a:t>
                      </a:r>
                    </a:p>
                  </a:txBody>
                  <a:tcPr marT="25400" marB="25400" marL="63500" marR="63500" anchor="ctr">
                    <a:solidFill>
                      <a:srgbClr val="0F141C"/>
                    </a:solidFill>
                  </a:tcPr>
                </a:tc>
                <a:tc>
                  <a:txBody>
                    <a:bodyPr/>
                    <a:lstStyle/>
                    <a:p>
                      <a:r>
                        <a:rPr sz="1000" b="0">
                          <a:solidFill>
                            <a:srgbClr val="E6EDF3"/>
                          </a:solidFill>
                          <a:latin typeface="Segoe UI"/>
                        </a:rPr>
                        <a:t>0/8</a:t>
                      </a:r>
                    </a:p>
                  </a:txBody>
                  <a:tcPr marT="25400" marB="25400" marL="63500" marR="63500" anchor="ctr">
                    <a:solidFill>
                      <a:srgbClr val="0F141C"/>
                    </a:solidFill>
                  </a:tcPr>
                </a:tc>
              </a:tr>
              <a:tr h="310896">
                <a:tc>
                  <a:txBody>
                    <a:bodyPr/>
                    <a:lstStyle/>
                    <a:p>
                      <a:r>
                        <a:rPr sz="1000" b="0">
                          <a:solidFill>
                            <a:srgbClr val="E6EDF3"/>
                          </a:solidFill>
                          <a:latin typeface="Segoe UI"/>
                        </a:rPr>
                        <a:t>DSSS</a:t>
                      </a:r>
                    </a:p>
                  </a:txBody>
                  <a:tcPr marT="25400" marB="25400" marL="63500" marR="63500" anchor="ctr">
                    <a:solidFill>
                      <a:srgbClr val="0A0E14"/>
                    </a:solidFill>
                  </a:tcPr>
                </a:tc>
                <a:tc>
                  <a:txBody>
                    <a:bodyPr/>
                    <a:lstStyle/>
                    <a:p>
                      <a:r>
                        <a:rPr sz="1000" b="0">
                          <a:solidFill>
                            <a:srgbClr val="E6EDF3"/>
                          </a:solidFill>
                          <a:latin typeface="Segoe UI"/>
                        </a:rPr>
                        <a:t>0.002</a:t>
                      </a:r>
                    </a:p>
                  </a:txBody>
                  <a:tcPr marT="25400" marB="25400" marL="63500" marR="63500" anchor="ctr">
                    <a:solidFill>
                      <a:srgbClr val="0A0E14"/>
                    </a:solidFill>
                  </a:tcPr>
                </a:tc>
                <a:tc>
                  <a:txBody>
                    <a:bodyPr/>
                    <a:lstStyle/>
                    <a:p>
                      <a:r>
                        <a:rPr sz="1000" b="0">
                          <a:solidFill>
                            <a:srgbClr val="E6EDF3"/>
                          </a:solidFill>
                          <a:latin typeface="Segoe UI"/>
                        </a:rPr>
                        <a:t>0.968</a:t>
                      </a:r>
                    </a:p>
                  </a:txBody>
                  <a:tcPr marT="25400" marB="25400" marL="63500" marR="63500" anchor="ctr">
                    <a:solidFill>
                      <a:srgbClr val="0A0E14"/>
                    </a:solidFill>
                  </a:tcPr>
                </a:tc>
                <a:tc>
                  <a:txBody>
                    <a:bodyPr/>
                    <a:lstStyle/>
                    <a:p>
                      <a:r>
                        <a:rPr sz="1000" b="0">
                          <a:solidFill>
                            <a:srgbClr val="E6EDF3"/>
                          </a:solidFill>
                          <a:latin typeface="Segoe UI"/>
                        </a:rPr>
                        <a:t>0.021</a:t>
                      </a:r>
                    </a:p>
                  </a:txBody>
                  <a:tcPr marT="25400" marB="25400" marL="63500" marR="63500" anchor="ctr">
                    <a:solidFill>
                      <a:srgbClr val="0A0E14"/>
                    </a:solidFill>
                  </a:tcPr>
                </a:tc>
                <a:tc>
                  <a:txBody>
                    <a:bodyPr/>
                    <a:lstStyle/>
                    <a:p>
                      <a:r>
                        <a:rPr sz="1000" b="0">
                          <a:solidFill>
                            <a:srgbClr val="E6EDF3"/>
                          </a:solidFill>
                          <a:latin typeface="Segoe UI"/>
                        </a:rPr>
                        <a:t>0.478</a:t>
                      </a:r>
                    </a:p>
                  </a:txBody>
                  <a:tcPr marT="25400" marB="25400" marL="63500" marR="63500" anchor="ctr">
                    <a:solidFill>
                      <a:srgbClr val="0A0E14"/>
                    </a:solidFill>
                  </a:tcPr>
                </a:tc>
                <a:tc>
                  <a:txBody>
                    <a:bodyPr/>
                    <a:lstStyle/>
                    <a:p>
                      <a:r>
                        <a:rPr sz="1000" b="0">
                          <a:solidFill>
                            <a:srgbClr val="E6EDF3"/>
                          </a:solidFill>
                          <a:latin typeface="Segoe UI"/>
                        </a:rPr>
                        <a:t>0.043</a:t>
                      </a:r>
                    </a:p>
                  </a:txBody>
                  <a:tcPr marT="25400" marB="25400" marL="63500" marR="63500" anchor="ctr">
                    <a:solidFill>
                      <a:srgbClr val="0A0E14"/>
                    </a:solidFill>
                  </a:tcPr>
                </a:tc>
                <a:tc>
                  <a:txBody>
                    <a:bodyPr/>
                    <a:lstStyle/>
                    <a:p>
                      <a:r>
                        <a:rPr sz="1000" b="0">
                          <a:solidFill>
                            <a:srgbClr val="E6EDF3"/>
                          </a:solidFill>
                          <a:latin typeface="Segoe UI"/>
                        </a:rPr>
                        <a:t>100 %</a:t>
                      </a:r>
                    </a:p>
                  </a:txBody>
                  <a:tcPr marT="25400" marB="25400" marL="63500" marR="63500" anchor="ctr">
                    <a:solidFill>
                      <a:srgbClr val="0A0E14"/>
                    </a:solidFill>
                  </a:tcPr>
                </a:tc>
                <a:tc>
                  <a:txBody>
                    <a:bodyPr/>
                    <a:lstStyle/>
                    <a:p>
                      <a:r>
                        <a:rPr sz="1000" b="0">
                          <a:solidFill>
                            <a:srgbClr val="E6EDF3"/>
                          </a:solidFill>
                          <a:latin typeface="Segoe UI"/>
                        </a:rPr>
                        <a:t>0/8</a:t>
                      </a:r>
                    </a:p>
                  </a:txBody>
                  <a:tcPr marT="25400" marB="25400" marL="63500" marR="63500" anchor="ctr">
                    <a:solidFill>
                      <a:srgbClr val="0A0E14"/>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5 — How we hit the AWGN statistics</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The honest version, including the result that surprised us</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Target: amplitude marginal Gaussian, flat PSD, zero autocorrelation, kurtosis 3, IQ circularly symmetric.</a:t>
            </a:r>
          </a:p>
          <a:p>
            <a:pPr>
              <a:spcAft>
                <a:spcPts val="700"/>
              </a:spcAft>
            </a:pPr>
            <a:r>
              <a:rPr sz="1700" b="0" i="0">
                <a:solidFill>
                  <a:srgbClr val="E6EDF3"/>
                </a:solidFill>
                <a:latin typeface="Segoe UI"/>
              </a:rPr>
              <a:t>▸  We expected to *tune* our way there with nine loss weights. We measured something better.</a:t>
            </a:r>
          </a:p>
          <a:p>
            <a:pPr>
              <a:spcAft>
                <a:spcPts val="1000"/>
              </a:spcAft>
            </a:pPr>
            <a:r>
              <a:rPr sz="1800" b="1" i="0">
                <a:solidFill>
                  <a:srgbClr val="3FB950"/>
                </a:solidFill>
                <a:latin typeface="Segoe UI"/>
              </a:rPr>
              <a:t>■  An entirely untrained generator (random weights, 512 frames) already scores KS p 0.857, kurtosis 2.998, entropy 0.959, 8/8 domains, and 1.6e-4 BER through the field path.</a:t>
            </a:r>
          </a:p>
          <a:p>
            <a:pPr>
              <a:spcAft>
                <a:spcPts val="700"/>
              </a:spcAft>
            </a:pPr>
            <a:r>
              <a:rPr sz="1700" b="0" i="0">
                <a:solidFill>
                  <a:srgbClr val="E6EDF3"/>
                </a:solidFill>
                <a:latin typeface="Segoe UI"/>
              </a:rPr>
              <a:t>▸  So the Gaussianity comes from the central limit theorem over 128 keyed chips per frame, plus the ε-blend — it is free.</a:t>
            </a:r>
          </a:p>
          <a:p>
            <a:pPr>
              <a:spcAft>
                <a:spcPts val="700"/>
              </a:spcAft>
            </a:pPr>
            <a:r>
              <a:rPr sz="1700" b="0" i="0">
                <a:solidFill>
                  <a:srgbClr val="E6EDF3"/>
                </a:solidFill>
                <a:latin typeface="Segoe UI"/>
              </a:rPr>
              <a:t>▸  What the losses actually buy: keeping it Gaussian *while* the waveform is made invertible, and killing the covariance-domain fingerprint.</a:t>
            </a:r>
          </a:p>
          <a:p>
            <a:pPr>
              <a:spcAft>
                <a:spcPts val="1000"/>
              </a:spcAft>
            </a:pPr>
            <a:r>
              <a:rPr sz="1800" b="1" i="0">
                <a:solidFill>
                  <a:srgbClr val="3FB950"/>
                </a:solidFill>
                <a:latin typeface="Segoe UI"/>
              </a:rPr>
              <a:t>■  The lesson we now teach: do not tune for KS. Tune the two things that fight each other — ε (masking) and the reconstruction weight — and let the CLT do the rest.</a:t>
            </a:r>
          </a:p>
          <a:p>
            <a:pPr>
              <a:spcAft>
                <a:spcPts val="700"/>
              </a:spcAft>
            </a:pPr>
            <a:r>
              <a:rPr sz="1700" b="0" i="0">
                <a:solidFill>
                  <a:srgbClr val="E6EDF3"/>
                </a:solidFill>
                <a:latin typeface="Segoe UI"/>
              </a:rPr>
              <a:t>▸  ε is the single stealth↔reliability knob: x = √(1−ε)·s + √ε·n₀. Shipped value 0.10.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6 — The eight-domain EW evaluation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One waveform, eight independent referees</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1 KS p-value on the I/Q amplitude marginal — distributional</a:t>
            </a:r>
          </a:p>
          <a:p>
            <a:pPr>
              <a:spcAft>
                <a:spcPts val="700"/>
              </a:spcAft>
            </a:pPr>
            <a:r>
              <a:rPr sz="1500" b="0" i="0">
                <a:solidFill>
                  <a:srgbClr val="E6EDF3"/>
                </a:solidFill>
                <a:latin typeface="Segoe UI"/>
              </a:rPr>
              <a:t>▸  2 excess kurtosis (target 3.0 ± 0.15) — distributional</a:t>
            </a:r>
          </a:p>
          <a:p>
            <a:pPr>
              <a:spcAft>
                <a:spcPts val="700"/>
              </a:spcAft>
            </a:pPr>
            <a:r>
              <a:rPr sz="1500" b="0" i="0">
                <a:solidFill>
                  <a:srgbClr val="E6EDF3"/>
                </a:solidFill>
                <a:latin typeface="Segoe UI"/>
              </a:rPr>
              <a:t>▸  3 spectral entropy &gt; 0.95 (Welch/Hann) — spectral</a:t>
            </a:r>
          </a:p>
          <a:p>
            <a:pPr>
              <a:spcAft>
                <a:spcPts val="700"/>
              </a:spcAft>
            </a:pPr>
            <a:r>
              <a:rPr sz="1500" b="0" i="0">
                <a:solidFill>
                  <a:srgbClr val="E6EDF3"/>
                </a:solidFill>
                <a:latin typeface="Segoe UI"/>
              </a:rPr>
              <a:t>▸  4 IQ circularity &lt; 0.15 — second-order</a:t>
            </a:r>
          </a:p>
          <a:p>
            <a:pPr>
              <a:spcAft>
                <a:spcPts val="700"/>
              </a:spcAft>
            </a:pPr>
            <a:r>
              <a:rPr sz="1500" b="0" i="0">
                <a:solidFill>
                  <a:srgbClr val="E6EDF3"/>
                </a:solidFill>
                <a:latin typeface="Segoe UI"/>
              </a:rPr>
              <a:t>▸  5 PAPR deviation &lt; 3 dB — envelope / energy</a:t>
            </a:r>
          </a:p>
          <a:p>
            <a:pPr>
              <a:spcAft>
                <a:spcPts val="700"/>
              </a:spcAft>
            </a:pPr>
            <a:r>
              <a:rPr sz="1500" b="0" i="0">
                <a:solidFill>
                  <a:srgbClr val="E6EDF3"/>
                </a:solidFill>
                <a:latin typeface="Segoe UI"/>
              </a:rPr>
              <a:t>▸  6 SCF ratio &lt; 3 (cyclostationary feature analysis) — cyclostationary</a:t>
            </a:r>
          </a:p>
          <a:p>
            <a:pPr>
              <a:spcAft>
                <a:spcPts val="700"/>
              </a:spcAft>
            </a:pPr>
            <a:r>
              <a:rPr sz="1500" b="0" i="0">
                <a:solidFill>
                  <a:srgbClr val="E6EDF3"/>
                </a:solidFill>
                <a:latin typeface="Segoe UI"/>
              </a:rPr>
              <a:t>▸  7 HOS cumulant C42 &lt; 0.3 — higher-order</a:t>
            </a:r>
          </a:p>
          <a:p>
            <a:pPr>
              <a:spcAft>
                <a:spcPts val="700"/>
              </a:spcAft>
            </a:pPr>
            <a:r>
              <a:rPr sz="1500" b="0" i="0">
                <a:solidFill>
                  <a:srgbClr val="E6EDF3"/>
                </a:solidFill>
                <a:latin typeface="Segoe UI"/>
              </a:rPr>
              <a:t>▸  8 WVD time–frequency ratio &lt; 3.7 — time-frequency</a:t>
            </a:r>
          </a:p>
          <a:p>
            <a:pPr>
              <a:spcAft>
                <a:spcPts val="1000"/>
              </a:spcAft>
            </a:pPr>
            <a:r>
              <a:rPr sz="1600" b="1" i="0">
                <a:solidFill>
                  <a:srgbClr val="3FB950"/>
                </a:solidFill>
                <a:latin typeface="Segoe UI"/>
              </a:rPr>
              <a:t>■  Composite Sc = weighted mean deviation, equal weights. 0.140 = 'Good' (Excellent is &lt; 0.10). It never touches training — it is a reporting heuristic only.</a:t>
            </a:r>
          </a:p>
          <a:p>
            <a:pPr>
              <a:spcAft>
                <a:spcPts val="700"/>
              </a:spcAft>
            </a:pPr>
            <a:r>
              <a:rPr sz="1500" b="0" i="0">
                <a:solidFill>
                  <a:srgbClr val="E6EDF3"/>
                </a:solidFill>
                <a:latin typeface="Segoe UI"/>
              </a:rPr>
              <a:t>▸  Plus the detectors that are not statistics: a fitted RadioML-style CNN on raw I/Q, a PSD-CNN and a TF-CNN.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3</a:t>
            </a:r>
          </a:p>
          <a:p>
            <a:pPr>
              <a:spcAft>
                <a:spcPts val="1000"/>
              </a:spcAft>
            </a:pPr>
            <a:r>
              <a:rPr sz="4000" b="1" i="0">
                <a:solidFill>
                  <a:srgbClr val="E6EDF3"/>
                </a:solidFill>
                <a:latin typeface="Segoe UI"/>
              </a:rPr>
              <a:t>Why it failed — and the v4 rewrite</a:t>
            </a:r>
          </a:p>
          <a:p>
            <a:pPr>
              <a:spcAft>
                <a:spcPts val="600"/>
              </a:spcAft>
            </a:pPr>
            <a:r>
              <a:rPr sz="1800" b="0" i="0">
                <a:solidFill>
                  <a:srgbClr val="8B98A5"/>
                </a:solidFill>
                <a:latin typeface="Segoe UI"/>
              </a:rPr>
              <a:t>Six silent bugs, a 2.7 % BER floor, and what replaced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v1–v3: six silent bugs, each measured</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Every 'do not do this' below cost at least one full training run</a:t>
            </a:r>
          </a:p>
        </p:txBody>
      </p:sp>
      <p:graphicFrame>
        <p:nvGraphicFramePr>
          <p:cNvPr id="4" name="Table 3"/>
          <p:cNvGraphicFramePr>
            <a:graphicFrameLocks noGrp="1"/>
          </p:cNvGraphicFramePr>
          <p:nvPr/>
        </p:nvGraphicFramePr>
        <p:xfrm>
          <a:off x="502920" y="1783080"/>
          <a:ext cx="11185855" cy="2487168"/>
        </p:xfrm>
        <a:graphic>
          <a:graphicData uri="http://schemas.openxmlformats.org/drawingml/2006/table">
            <a:tbl>
              <a:tblPr firstRow="1" bandRow="1">
                <a:tableStyleId>{5C22544A-7EE6-4342-B048-85BDC9FD1C3A}</a:tableStyleId>
              </a:tblPr>
              <a:tblGrid>
                <a:gridCol w="2796463"/>
                <a:gridCol w="2796463"/>
                <a:gridCol w="2796463"/>
                <a:gridCol w="2796466"/>
              </a:tblGrid>
              <a:tr h="310896">
                <a:tc>
                  <a:txBody>
                    <a:bodyPr/>
                    <a:lstStyle/>
                    <a:p>
                      <a:r>
                        <a:rPr sz="1300" b="1">
                          <a:solidFill>
                            <a:srgbClr val="58A6FF"/>
                          </a:solidFill>
                          <a:latin typeface="Segoe UI"/>
                        </a:rPr>
                        <a:t>#</a:t>
                      </a:r>
                    </a:p>
                  </a:txBody>
                  <a:tcPr marT="25400" marB="25400" marL="63500" marR="63500" anchor="ctr">
                    <a:solidFill>
                      <a:srgbClr val="0A0E14"/>
                    </a:solidFill>
                  </a:tcPr>
                </a:tc>
                <a:tc>
                  <a:txBody>
                    <a:bodyPr/>
                    <a:lstStyle/>
                    <a:p>
                      <a:r>
                        <a:rPr sz="1300" b="1">
                          <a:solidFill>
                            <a:srgbClr val="58A6FF"/>
                          </a:solidFill>
                          <a:latin typeface="Segoe UI"/>
                        </a:rPr>
                        <a:t>Root cause</a:t>
                      </a:r>
                    </a:p>
                  </a:txBody>
                  <a:tcPr marT="25400" marB="25400" marL="63500" marR="63500" anchor="ctr">
                    <a:solidFill>
                      <a:srgbClr val="0A0E14"/>
                    </a:solidFill>
                  </a:tcPr>
                </a:tc>
                <a:tc>
                  <a:txBody>
                    <a:bodyPr/>
                    <a:lstStyle/>
                    <a:p>
                      <a:r>
                        <a:rPr sz="1300" b="1">
                          <a:solidFill>
                            <a:srgbClr val="58A6FF"/>
                          </a:solidFill>
                          <a:latin typeface="Segoe UI"/>
                        </a:rPr>
                        <a:t>Symptom</a:t>
                      </a:r>
                    </a:p>
                  </a:txBody>
                  <a:tcPr marT="25400" marB="25400" marL="63500" marR="63500" anchor="ctr">
                    <a:solidFill>
                      <a:srgbClr val="0A0E14"/>
                    </a:solidFill>
                  </a:tcPr>
                </a:tc>
                <a:tc>
                  <a:txBody>
                    <a:bodyPr/>
                    <a:lstStyle/>
                    <a:p>
                      <a:r>
                        <a:rPr sz="1300" b="1">
                          <a:solidFill>
                            <a:srgbClr val="58A6FF"/>
                          </a:solidFill>
                          <a:latin typeface="Segoe UI"/>
                        </a:rPr>
                        <a:t>v4 fix</a:t>
                      </a:r>
                    </a:p>
                  </a:txBody>
                  <a:tcPr marT="25400" marB="25400" marL="63500" marR="63500" anchor="ctr">
                    <a:solidFill>
                      <a:srgbClr val="0A0E14"/>
                    </a:solidFill>
                  </a:tcPr>
                </a:tc>
              </a:tr>
              <a:tr h="310896">
                <a:tc>
                  <a:txBody>
                    <a:bodyPr/>
                    <a:lstStyle/>
                    <a:p>
                      <a:r>
                        <a:rPr sz="1300" b="0">
                          <a:solidFill>
                            <a:srgbClr val="E6EDF3"/>
                          </a:solidFill>
                          <a:latin typeface="Segoe UI"/>
                        </a:rPr>
                        <a:t>1</a:t>
                      </a:r>
                    </a:p>
                  </a:txBody>
                  <a:tcPr marT="25400" marB="25400" marL="63500" marR="63500" anchor="ctr">
                    <a:solidFill>
                      <a:srgbClr val="0F141C"/>
                    </a:solidFill>
                  </a:tcPr>
                </a:tc>
                <a:tc>
                  <a:txBody>
                    <a:bodyPr/>
                    <a:lstStyle/>
                    <a:p>
                      <a:r>
                        <a:rPr sz="1300" b="0">
                          <a:solidFill>
                            <a:srgbClr val="E6EDF3"/>
                          </a:solidFill>
                          <a:latin typeface="Segoe UI"/>
                        </a:rPr>
                        <a:t>No spreading gain — 1 complex sample per bit</a:t>
                      </a:r>
                    </a:p>
                  </a:txBody>
                  <a:tcPr marT="25400" marB="25400" marL="63500" marR="63500" anchor="ctr">
                    <a:solidFill>
                      <a:srgbClr val="0F141C"/>
                    </a:solidFill>
                  </a:tcPr>
                </a:tc>
                <a:tc>
                  <a:txBody>
                    <a:bodyPr/>
                    <a:lstStyle/>
                    <a:p>
                      <a:r>
                        <a:rPr sz="1300" b="0">
                          <a:solidFill>
                            <a:srgbClr val="E6EDF3"/>
                          </a:solidFill>
                          <a:latin typeface="Segoe UI"/>
                        </a:rPr>
                        <a:t>BER floor 2.69 % at every SNR</a:t>
                      </a:r>
                    </a:p>
                  </a:txBody>
                  <a:tcPr marT="25400" marB="25400" marL="63500" marR="63500" anchor="ctr">
                    <a:solidFill>
                      <a:srgbClr val="0F141C"/>
                    </a:solidFill>
                  </a:tcPr>
                </a:tc>
                <a:tc>
                  <a:txBody>
                    <a:bodyPr/>
                    <a:lstStyle/>
                    <a:p>
                      <a:r>
                        <a:rPr sz="1300" b="0">
                          <a:solidFill>
                            <a:srgbClr val="E6EDF3"/>
                          </a:solidFill>
                          <a:latin typeface="Segoe UI"/>
                        </a:rPr>
                        <a:t>4 chips/bit → 9.03 dB processing gain</a:t>
                      </a:r>
                    </a:p>
                  </a:txBody>
                  <a:tcPr marT="25400" marB="25400" marL="63500" marR="63500" anchor="ctr">
                    <a:solidFill>
                      <a:srgbClr val="0F141C"/>
                    </a:solidFill>
                  </a:tcPr>
                </a:tc>
              </a:tr>
              <a:tr h="310896">
                <a:tc>
                  <a:txBody>
                    <a:bodyPr/>
                    <a:lstStyle/>
                    <a:p>
                      <a:r>
                        <a:rPr sz="1300" b="0">
                          <a:solidFill>
                            <a:srgbClr val="E6EDF3"/>
                          </a:solidFill>
                          <a:latin typeface="Segoe UI"/>
                        </a:rPr>
                        <a:t>2</a:t>
                      </a:r>
                    </a:p>
                  </a:txBody>
                  <a:tcPr marT="25400" marB="25400" marL="63500" marR="63500" anchor="ctr">
                    <a:solidFill>
                      <a:srgbClr val="0A0E14"/>
                    </a:solidFill>
                  </a:tcPr>
                </a:tc>
                <a:tc>
                  <a:txBody>
                    <a:bodyPr/>
                    <a:lstStyle/>
                    <a:p>
                      <a:r>
                        <a:rPr sz="1300" b="0">
                          <a:solidFill>
                            <a:srgbClr val="E6EDF3"/>
                          </a:solidFill>
                          <a:latin typeface="Segoe UI"/>
                        </a:rPr>
                        <a:t>MSE against ±1 labels — optimum sits *between* symbols</a:t>
                      </a:r>
                    </a:p>
                  </a:txBody>
                  <a:tcPr marT="25400" marB="25400" marL="63500" marR="63500" anchor="ctr">
                    <a:solidFill>
                      <a:srgbClr val="0A0E14"/>
                    </a:solidFill>
                  </a:tcPr>
                </a:tc>
                <a:tc>
                  <a:txBody>
                    <a:bodyPr/>
                    <a:lstStyle/>
                    <a:p>
                      <a:r>
                        <a:rPr sz="1300" b="0">
                          <a:solidFill>
                            <a:srgbClr val="E6EDF3"/>
                          </a:solidFill>
                          <a:latin typeface="Segoe UI"/>
                        </a:rPr>
                        <a:t>soft outputs cluster at 0, BER ~10 %</a:t>
                      </a:r>
                    </a:p>
                  </a:txBody>
                  <a:tcPr marT="25400" marB="25400" marL="63500" marR="63500" anchor="ctr">
                    <a:solidFill>
                      <a:srgbClr val="0A0E14"/>
                    </a:solidFill>
                  </a:tcPr>
                </a:tc>
                <a:tc>
                  <a:txBody>
                    <a:bodyPr/>
                    <a:lstStyle/>
                    <a:p>
                      <a:r>
                        <a:rPr sz="1300" b="0">
                          <a:solidFill>
                            <a:srgbClr val="E6EDF3"/>
                          </a:solidFill>
                          <a:latin typeface="Segoe UI"/>
                        </a:rPr>
                        <a:t>BCE on logits; bits = sign(logit)</a:t>
                      </a:r>
                    </a:p>
                  </a:txBody>
                  <a:tcPr marT="25400" marB="25400" marL="63500" marR="63500" anchor="ctr">
                    <a:solidFill>
                      <a:srgbClr val="0A0E14"/>
                    </a:solidFill>
                  </a:tcPr>
                </a:tc>
              </a:tr>
              <a:tr h="310896">
                <a:tc>
                  <a:txBody>
                    <a:bodyPr/>
                    <a:lstStyle/>
                    <a:p>
                      <a:r>
                        <a:rPr sz="1300" b="0">
                          <a:solidFill>
                            <a:srgbClr val="E6EDF3"/>
                          </a:solidFill>
                          <a:latin typeface="Segoe UI"/>
                        </a:rPr>
                        <a:t>3</a:t>
                      </a:r>
                    </a:p>
                  </a:txBody>
                  <a:tcPr marT="25400" marB="25400" marL="63500" marR="63500" anchor="ctr">
                    <a:solidFill>
                      <a:srgbClr val="0F141C"/>
                    </a:solidFill>
                  </a:tcPr>
                </a:tc>
                <a:tc>
                  <a:txBody>
                    <a:bodyPr/>
                    <a:lstStyle/>
                    <a:p>
                      <a:r>
                        <a:rPr sz="1300" b="0">
                          <a:solidFill>
                            <a:srgbClr val="E6EDF3"/>
                          </a:solidFill>
                          <a:latin typeface="Segoe UI"/>
                        </a:rPr>
                        <a:t>0.30σ dither, i.i.d., no whitening</a:t>
                      </a:r>
                    </a:p>
                  </a:txBody>
                  <a:tcPr marT="25400" marB="25400" marL="63500" marR="63500" anchor="ctr">
                    <a:solidFill>
                      <a:srgbClr val="0F141C"/>
                    </a:solidFill>
                  </a:tcPr>
                </a:tc>
                <a:tc>
                  <a:txBody>
                    <a:bodyPr/>
                    <a:lstStyle/>
                    <a:p>
                      <a:r>
                        <a:rPr sz="1300" b="0">
                          <a:solidFill>
                            <a:srgbClr val="E6EDF3"/>
                          </a:solidFill>
                          <a:latin typeface="Segoe UI"/>
                        </a:rPr>
                        <a:t>stealth perfect (KS p 0.99), BER 8 %</a:t>
                      </a:r>
                    </a:p>
                  </a:txBody>
                  <a:tcPr marT="25400" marB="25400" marL="63500" marR="63500" anchor="ctr">
                    <a:solidFill>
                      <a:srgbClr val="0F141C"/>
                    </a:solidFill>
                  </a:tcPr>
                </a:tc>
                <a:tc>
                  <a:txBody>
                    <a:bodyPr/>
                    <a:lstStyle/>
                    <a:p>
                      <a:r>
                        <a:rPr sz="1300" b="0">
                          <a:solidFill>
                            <a:srgbClr val="E6EDF3"/>
                          </a:solidFill>
                          <a:latin typeface="Segoe UI"/>
                        </a:rPr>
                        <a:t>ZF/decorrelating detection + learned head; ε is one explicit knob</a:t>
                      </a:r>
                    </a:p>
                  </a:txBody>
                  <a:tcPr marT="25400" marB="25400" marL="63500" marR="63500" anchor="ctr">
                    <a:solidFill>
                      <a:srgbClr val="0F141C"/>
                    </a:solidFill>
                  </a:tcPr>
                </a:tc>
              </a:tr>
              <a:tr h="310896">
                <a:tc>
                  <a:txBody>
                    <a:bodyPr/>
                    <a:lstStyle/>
                    <a:p>
                      <a:r>
                        <a:rPr sz="1300" b="0">
                          <a:solidFill>
                            <a:srgbClr val="E6EDF3"/>
                          </a:solidFill>
                          <a:latin typeface="Segoe UI"/>
                        </a:rPr>
                        <a:t>4</a:t>
                      </a:r>
                    </a:p>
                  </a:txBody>
                  <a:tcPr marT="25400" marB="25400" marL="63500" marR="63500" anchor="ctr">
                    <a:solidFill>
                      <a:srgbClr val="0A0E14"/>
                    </a:solidFill>
                  </a:tcPr>
                </a:tc>
                <a:tc>
                  <a:txBody>
                    <a:bodyPr/>
                    <a:lstStyle/>
                    <a:p>
                      <a:r>
                        <a:rPr sz="1300" b="0">
                          <a:solidFill>
                            <a:srgbClr val="E6EDF3"/>
                          </a:solidFill>
                          <a:latin typeface="Segoe UI"/>
                        </a:rPr>
                        <a:t>Trained on a noiseless channel</a:t>
                      </a:r>
                    </a:p>
                  </a:txBody>
                  <a:tcPr marT="25400" marB="25400" marL="63500" marR="63500" anchor="ctr">
                    <a:solidFill>
                      <a:srgbClr val="0A0E14"/>
                    </a:solidFill>
                  </a:tcPr>
                </a:tc>
                <a:tc>
                  <a:txBody>
                    <a:bodyPr/>
                    <a:lstStyle/>
                    <a:p>
                      <a:r>
                        <a:rPr sz="1300" b="0">
                          <a:solidFill>
                            <a:srgbClr val="E6EDF3"/>
                          </a:solidFill>
                          <a:latin typeface="Segoe UI"/>
                        </a:rPr>
                        <a:t>bench BER 0.2 %, over-the-air 0.5</a:t>
                      </a:r>
                    </a:p>
                  </a:txBody>
                  <a:tcPr marT="25400" marB="25400" marL="63500" marR="63500" anchor="ctr">
                    <a:solidFill>
                      <a:srgbClr val="0A0E14"/>
                    </a:solidFill>
                  </a:tcPr>
                </a:tc>
                <a:tc>
                  <a:txBody>
                    <a:bodyPr/>
                    <a:lstStyle/>
                    <a:p>
                      <a:r>
                        <a:rPr sz="1300" b="0">
                          <a:solidFill>
                            <a:srgbClr val="E6EDF3"/>
                          </a:solidFill>
                          <a:latin typeface="Segoe UI"/>
                        </a:rPr>
                        <a:t>5 impairments in-graph, trained at ±50 % of nominal</a:t>
                      </a:r>
                    </a:p>
                  </a:txBody>
                  <a:tcPr marT="25400" marB="25400" marL="63500" marR="63500" anchor="ctr">
                    <a:solidFill>
                      <a:srgbClr val="0A0E14"/>
                    </a:solidFill>
                  </a:tcPr>
                </a:tc>
              </a:tr>
              <a:tr h="310896">
                <a:tc>
                  <a:txBody>
                    <a:bodyPr/>
                    <a:lstStyle/>
                    <a:p>
                      <a:r>
                        <a:rPr sz="1300" b="0">
                          <a:solidFill>
                            <a:srgbClr val="E6EDF3"/>
                          </a:solidFill>
                          <a:latin typeface="Segoe UI"/>
                        </a:rPr>
                        <a:t>5</a:t>
                      </a:r>
                    </a:p>
                  </a:txBody>
                  <a:tcPr marT="25400" marB="25400" marL="63500" marR="63500" anchor="ctr">
                    <a:solidFill>
                      <a:srgbClr val="0F141C"/>
                    </a:solidFill>
                  </a:tcPr>
                </a:tc>
                <a:tc>
                  <a:txBody>
                    <a:bodyPr/>
                    <a:lstStyle/>
                    <a:p>
                      <a:r>
                        <a:rPr sz="1300" b="0">
                          <a:solidFill>
                            <a:srgbClr val="E6EDF3"/>
                          </a:solidFill>
                          <a:latin typeface="Segoe UI"/>
                        </a:rPr>
                        <a:t>Phase scrambled inside the generator</a:t>
                      </a:r>
                    </a:p>
                  </a:txBody>
                  <a:tcPr marT="25400" marB="25400" marL="63500" marR="63500" anchor="ctr">
                    <a:solidFill>
                      <a:srgbClr val="0F141C"/>
                    </a:solidFill>
                  </a:tcPr>
                </a:tc>
                <a:tc>
                  <a:txBody>
                    <a:bodyPr/>
                    <a:lstStyle/>
                    <a:p>
                      <a:r>
                        <a:rPr sz="1300" b="0">
                          <a:solidFill>
                            <a:srgbClr val="E6EDF3"/>
                          </a:solidFill>
                          <a:latin typeface="Segoe UI"/>
                        </a:rPr>
                        <a:t>BER pinned at 0.39–0.50 forever</a:t>
                      </a:r>
                    </a:p>
                  </a:txBody>
                  <a:tcPr marT="25400" marB="25400" marL="63500" marR="63500" anchor="ctr">
                    <a:solidFill>
                      <a:srgbClr val="0F141C"/>
                    </a:solidFill>
                  </a:tcPr>
                </a:tc>
                <a:tc>
                  <a:txBody>
                    <a:bodyPr/>
                    <a:lstStyle/>
                    <a:p>
                      <a:r>
                        <a:rPr sz="1300" b="0">
                          <a:solidFill>
                            <a:srgbClr val="E6EDF3"/>
                          </a:solidFill>
                          <a:latin typeface="Segoe UI"/>
                        </a:rPr>
                        <a:t>absolute phase treated as a channel quantity; removed from G</a:t>
                      </a:r>
                    </a:p>
                  </a:txBody>
                  <a:tcPr marT="25400" marB="25400" marL="63500" marR="63500" anchor="ctr">
                    <a:solidFill>
                      <a:srgbClr val="0F141C"/>
                    </a:solidFill>
                  </a:tcPr>
                </a:tc>
              </a:tr>
              <a:tr h="310896">
                <a:tc>
                  <a:txBody>
                    <a:bodyPr/>
                    <a:lstStyle/>
                    <a:p>
                      <a:r>
                        <a:rPr sz="1300" b="0">
                          <a:solidFill>
                            <a:srgbClr val="E6EDF3"/>
                          </a:solidFill>
                          <a:latin typeface="Segoe UI"/>
                        </a:rPr>
                        <a:t>6</a:t>
                      </a:r>
                    </a:p>
                  </a:txBody>
                  <a:tcPr marT="25400" marB="25400" marL="63500" marR="63500" anchor="ctr">
                    <a:solidFill>
                      <a:srgbClr val="0A0E14"/>
                    </a:solidFill>
                  </a:tcPr>
                </a:tc>
                <a:tc>
                  <a:txBody>
                    <a:bodyPr/>
                    <a:lstStyle/>
                    <a:p>
                      <a:r>
                        <a:rPr sz="1300" b="0">
                          <a:solidFill>
                            <a:srgbClr val="E6EDF3"/>
                          </a:solidFill>
                          <a:latin typeface="Segoe UI"/>
                        </a:rPr>
                        <a:t>Conjugate-mirrored preamble → two identical peaks</a:t>
                      </a:r>
                    </a:p>
                  </a:txBody>
                  <a:tcPr marT="25400" marB="25400" marL="63500" marR="63500" anchor="ctr">
                    <a:solidFill>
                      <a:srgbClr val="0A0E14"/>
                    </a:solidFill>
                  </a:tcPr>
                </a:tc>
                <a:tc>
                  <a:txBody>
                    <a:bodyPr/>
                    <a:lstStyle/>
                    <a:p>
                      <a:r>
                        <a:rPr sz="1300" b="0">
                          <a:solidFill>
                            <a:srgbClr val="E6EDF3"/>
                          </a:solidFill>
                          <a:latin typeface="Segoe UI"/>
                        </a:rPr>
                        <a:t>32-sample ambiguity, 50 % BER, no symptom</a:t>
                      </a:r>
                    </a:p>
                  </a:txBody>
                  <a:tcPr marT="25400" marB="25400" marL="63500" marR="63500" anchor="ctr">
                    <a:solidFill>
                      <a:srgbClr val="0A0E14"/>
                    </a:solidFill>
                  </a:tcPr>
                </a:tc>
                <a:tc>
                  <a:txBody>
                    <a:bodyPr/>
                    <a:lstStyle/>
                    <a:p>
                      <a:r>
                        <a:rPr sz="1300" b="0">
                          <a:solidFill>
                            <a:srgbClr val="E6EDF3"/>
                          </a:solidFill>
                          <a:latin typeface="Segoe UI"/>
                        </a:rPr>
                        <a:t>keyed Zadoff–Chu, sidelobes 0.154, single peak</a:t>
                      </a:r>
                    </a:p>
                  </a:txBody>
                  <a:tcPr marT="25400" marB="25400" marL="63500" marR="63500" anchor="ctr">
                    <a:solidFill>
                      <a:srgbClr val="0A0E14"/>
                    </a:solidFill>
                  </a:tcPr>
                </a:tc>
              </a:tr>
              <a:tr h="310896">
                <a:tc>
                  <a:txBody>
                    <a:bodyPr/>
                    <a:lstStyle/>
                    <a:p>
                      <a:r>
                        <a:rPr sz="1300" b="0">
                          <a:solidFill>
                            <a:srgbClr val="E6EDF3"/>
                          </a:solidFill>
                          <a:latin typeface="Segoe UI"/>
                        </a:rPr>
                        <a:t>7</a:t>
                      </a:r>
                    </a:p>
                  </a:txBody>
                  <a:tcPr marT="25400" marB="25400" marL="63500" marR="63500" anchor="ctr">
                    <a:solidFill>
                      <a:srgbClr val="0F141C"/>
                    </a:solidFill>
                  </a:tcPr>
                </a:tc>
                <a:tc>
                  <a:txBody>
                    <a:bodyPr/>
                    <a:lstStyle/>
                    <a:p>
                      <a:r>
                        <a:rPr sz="1300" b="0">
                          <a:solidFill>
                            <a:srgbClr val="E6EDF3"/>
                          </a:solidFill>
                          <a:latin typeface="Segoe UI"/>
                        </a:rPr>
                        <a:t>Warden trained on frames it was also tested on</a:t>
                      </a:r>
                    </a:p>
                  </a:txBody>
                  <a:tcPr marT="25400" marB="25400" marL="63500" marR="63500" anchor="ctr">
                    <a:solidFill>
                      <a:srgbClr val="0F141C"/>
                    </a:solidFill>
                  </a:tcPr>
                </a:tc>
                <a:tc>
                  <a:txBody>
                    <a:bodyPr/>
                    <a:lstStyle/>
                    <a:p>
                      <a:r>
                        <a:rPr sz="1300" b="0">
                          <a:solidFill>
                            <a:srgbClr val="E6EDF3"/>
                          </a:solidFill>
                          <a:latin typeface="Segoe UI"/>
                        </a:rPr>
                        <a:t>adversary 80 % while all 8 domains passed</a:t>
                      </a:r>
                    </a:p>
                  </a:txBody>
                  <a:tcPr marT="25400" marB="25400" marL="63500" marR="63500" anchor="ctr">
                    <a:solidFill>
                      <a:srgbClr val="0F141C"/>
                    </a:solidFill>
                  </a:tcPr>
                </a:tc>
                <a:tc>
                  <a:txBody>
                    <a:bodyPr/>
                    <a:lstStyle/>
                    <a:p>
                      <a:r>
                        <a:rPr sz="1300" b="0">
                          <a:solidFill>
                            <a:srgbClr val="E6EDF3"/>
                          </a:solidFill>
                          <a:latin typeface="Segoe UI"/>
                        </a:rPr>
                        <a:t>disjoint pools, 1300 train / 500 test, accuracy folded</a:t>
                      </a:r>
                    </a:p>
                  </a:txBody>
                  <a:tcPr marT="25400" marB="25400" marL="63500" marR="63500" anchor="ctr">
                    <a:solidFill>
                      <a:srgbClr val="0F141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v4 design decisions, one by one</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lpi_core.py is the only place a dimension is allowed to exist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Framing: 512 payload + 64 keyed pilot = 576 samples = 2.3438 ms at 245760 S/s.</a:t>
            </a:r>
          </a:p>
          <a:p>
            <a:pPr>
              <a:spcAft>
                <a:spcPts val="700"/>
              </a:spcAft>
            </a:pPr>
            <a:r>
              <a:rPr sz="1700" b="0" i="0">
                <a:solidFill>
                  <a:srgbClr val="E6EDF3"/>
                </a:solidFill>
                <a:latin typeface="Segoe UI"/>
              </a:rPr>
              <a:t>▸  128 information bits per frame → 4 chips per bit → 9.03 dB processing gain.</a:t>
            </a:r>
          </a:p>
          <a:p>
            <a:pPr>
              <a:spcAft>
                <a:spcPts val="700"/>
              </a:spcAft>
            </a:pPr>
            <a:r>
              <a:rPr sz="1700" b="0" i="0">
                <a:solidFill>
                  <a:srgbClr val="E6EDF3"/>
                </a:solidFill>
                <a:latin typeface="Segoe UI"/>
              </a:rPr>
              <a:t>▸  Preamble: Zadoff–Chu with an odd root derived from the session key — wrong key cannot lock.</a:t>
            </a:r>
          </a:p>
          <a:p>
            <a:pPr>
              <a:spcAft>
                <a:spcPts val="700"/>
              </a:spcAft>
            </a:pPr>
            <a:r>
              <a:rPr sz="1700" b="0" i="0">
                <a:solidFill>
                  <a:srgbClr val="E6EDF3"/>
                </a:solidFill>
                <a:latin typeface="Segoe UI"/>
              </a:rPr>
              <a:t>▸  Receiver: matched filter first (it already works), the network only *refines* it.</a:t>
            </a:r>
          </a:p>
          <a:p>
            <a:pPr>
              <a:spcAft>
                <a:spcPts val="700"/>
              </a:spcAft>
            </a:pPr>
            <a:r>
              <a:rPr sz="1700" b="0" i="0">
                <a:solidFill>
                  <a:srgbClr val="E6EDF3"/>
                </a:solidFill>
                <a:latin typeface="Segoe UI"/>
              </a:rPr>
              <a:t>▸  Channel, in the training graph: AWGN, CFO, phase noise, DC offset, IQ imbalance — randomised ±50 % around nominal, evaluated at nominal.</a:t>
            </a:r>
          </a:p>
          <a:p>
            <a:pPr>
              <a:spcAft>
                <a:spcPts val="700"/>
              </a:spcAft>
            </a:pPr>
            <a:r>
              <a:rPr sz="1700" b="0" i="0">
                <a:solidFill>
                  <a:srgbClr val="E6EDF3"/>
                </a:solidFill>
                <a:latin typeface="Segoe UI"/>
              </a:rPr>
              <a:t>▸  One LPIConfig read by the trainer, the evaluator, the USRP scripts and the GRC blocks.</a:t>
            </a:r>
          </a:p>
          <a:p>
            <a:pPr>
              <a:spcAft>
                <a:spcPts val="1000"/>
              </a:spcAft>
            </a:pPr>
            <a:r>
              <a:rPr sz="1800" b="1" i="0">
                <a:solidFill>
                  <a:srgbClr val="3FB950"/>
                </a:solidFill>
                <a:latin typeface="Segoe UI"/>
              </a:rPr>
              <a:t>■  The v1–v3 '512 vs 1024 frame' disaster was only possible because two files each had their own idea of the frame length.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7 — Getting it onto the B210</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Where theory meets a USB cable</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tx_usrp.py / rx_usrp.py: raw UHD, no flowgraph needed. uhd_io.py is a version-tolerant wrapper.</a:t>
            </a:r>
          </a:p>
          <a:p>
            <a:pPr>
              <a:spcAft>
                <a:spcPts val="700"/>
              </a:spcAft>
            </a:pPr>
            <a:r>
              <a:rPr sz="1700" b="0" i="0">
                <a:solidFill>
                  <a:srgbClr val="E6EDF3"/>
                </a:solidFill>
                <a:latin typeface="Segoe UI"/>
              </a:rPr>
              <a:t>▸  Sample rate 245760 S/s — 61.44 MHz / 250, an exact integer decimation, no fractional clock error.</a:t>
            </a:r>
          </a:p>
          <a:p>
            <a:pPr>
              <a:spcAft>
                <a:spcPts val="1000"/>
              </a:spcAft>
            </a:pPr>
            <a:r>
              <a:rPr sz="1800" b="1" i="0">
                <a:solidFill>
                  <a:srgbClr val="3FB950"/>
                </a:solidFill>
                <a:latin typeface="Segoe UI"/>
              </a:rPr>
              <a:t>■  An old checklist said 32 kS/s. A B210 cannot go below ~208 kS/s. The stealth comes from the waveform, not from a slow clock.</a:t>
            </a:r>
          </a:p>
          <a:p>
            <a:pPr>
              <a:spcAft>
                <a:spcPts val="700"/>
              </a:spcAft>
            </a:pPr>
            <a:r>
              <a:rPr sz="1700" b="0" i="0">
                <a:solidFill>
                  <a:srgbClr val="E6EDF3"/>
                </a:solidFill>
                <a:latin typeface="Segoe UI"/>
              </a:rPr>
              <a:t>▸  Carrier 2.484 GHz (ISM, Wi-Fi channel 14) — deliberately a band with real background activity to hide in.</a:t>
            </a:r>
          </a:p>
          <a:p>
            <a:pPr>
              <a:spcAft>
                <a:spcPts val="700"/>
              </a:spcAft>
            </a:pPr>
            <a:r>
              <a:rPr sz="1700" b="0" i="0">
                <a:solidFill>
                  <a:srgbClr val="E6EDF3"/>
                </a:solidFill>
                <a:latin typeface="Segoe UI"/>
              </a:rPr>
              <a:t>▸  Two free-running local oscillators at 2.484 GHz are ~2 ppm apart ≈ ±5 kHz. Our pilot's fine sync is unambiguous only to ±213 Hz.</a:t>
            </a:r>
          </a:p>
          <a:p>
            <a:pPr>
              <a:spcAft>
                <a:spcPts val="1000"/>
              </a:spcAft>
            </a:pPr>
            <a:r>
              <a:rPr sz="1800" b="1" i="0">
                <a:solidFill>
                  <a:srgbClr val="3FB950"/>
                </a:solidFill>
                <a:latin typeface="Segoe UI"/>
              </a:rPr>
              <a:t>■  So the receiver runs a two-pass coarse acquisition (±6 kHz at ~960 Hz bins by preamble peak ratio, then ±1 bin at ~30 Hz by decoder confidence). Verified: a ±2 kHz offset capture decodes to the exact text.</a:t>
            </a:r>
          </a:p>
          <a:p>
            <a:pPr>
              <a:spcAft>
                <a:spcPts val="700"/>
              </a:spcAft>
            </a:pPr>
            <a:r>
              <a:rPr sz="1700" b="0" i="0">
                <a:solidFill>
                  <a:srgbClr val="E6EDF3"/>
                </a:solidFill>
                <a:latin typeface="Segoe UI"/>
              </a:rPr>
              <a:t>▸  TX gain is a link-budget knob, not a stealth knob — start at 0 dB, --amp 0.02–0.05.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8 — The receive side</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NO LOCK has exactly four causes, and the log tells you which</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Sync chain: keyed-preamble correlation → timing → CFO derotation → per-frame phase from that frame's own pilot → matched filter → learned head → RS → AES → text.</a:t>
            </a:r>
          </a:p>
          <a:p>
            <a:pPr>
              <a:spcAft>
                <a:spcPts val="700"/>
              </a:spcAft>
            </a:pPr>
            <a:r>
              <a:rPr sz="1700" b="0" i="0">
                <a:solidFill>
                  <a:srgbClr val="E6EDF3"/>
                </a:solidFill>
                <a:latin typeface="Segoe UI"/>
              </a:rPr>
              <a:t>▸  Ordering matters: derotate the CFO ramp *before* measuring pilot phase, or you double-count 2π·Δf·t_pilot. Sync looks perfect, BER is 0.5.</a:t>
            </a:r>
          </a:p>
          <a:p>
            <a:pPr>
              <a:spcAft>
                <a:spcPts val="700"/>
              </a:spcAft>
            </a:pPr>
            <a:r>
              <a:rPr sz="1700" b="0" i="0">
                <a:solidFill>
                  <a:srgbClr val="E6EDF3"/>
                </a:solidFill>
                <a:latin typeface="Segoe UI"/>
              </a:rPr>
              <a:t>▸  Every capture prints: frames, offset, CFO, coarse, pilot-SNR, dropped, crc N/N.</a:t>
            </a:r>
          </a:p>
          <a:p>
            <a:pPr>
              <a:spcAft>
                <a:spcPts val="1000"/>
              </a:spcAft>
            </a:pPr>
            <a:r>
              <a:rPr sz="1800" b="1" i="0">
                <a:solidFill>
                  <a:srgbClr val="3FB950"/>
                </a:solidFill>
                <a:latin typeface="Segoe UI"/>
              </a:rPr>
              <a:t>■  If it prints NO LOCK it is one of four things — frequency, sample rate, gain, key. Those four fields say which.</a:t>
            </a:r>
          </a:p>
          <a:p>
            <a:pPr>
              <a:spcAft>
                <a:spcPts val="700"/>
              </a:spcAft>
            </a:pPr>
            <a:r>
              <a:rPr sz="1700" b="0" i="0">
                <a:solidFill>
                  <a:srgbClr val="E6EDF3"/>
                </a:solidFill>
                <a:latin typeface="Segoe UI"/>
              </a:rPr>
              <a:t>▸  Two failure modes we had to make distinguishable: frame-grid *phase* vs first active frame; and dropped frames vs a saturated model. Both now print on one 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9 — The web console, wired to the real stack</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Flask + SocketIO. Fixed and re-wired today — here is exactly what changed</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The page had four defects: it could not even import (from Crypto.Util.Counter import Counter), it looked for a templates/ folder that did not exist, it loaded the legacy v1 model, and /api/metrics returned hard-coded constants (KS 0.91, adversary 52.3 %, BER 0.3 %).</a:t>
            </a:r>
          </a:p>
          <a:p>
            <a:pPr>
              <a:spcAft>
                <a:spcPts val="1000"/>
              </a:spcAft>
            </a:pPr>
            <a:r>
              <a:rPr sz="1800" b="1" i="0">
                <a:solidFill>
                  <a:srgbClr val="3FB950"/>
                </a:solidFill>
                <a:latin typeface="Segoe UI"/>
              </a:rPr>
              <a:t>■  A panel that displays numbers nobody measured is worse than no panel. So it now reads lpi_v4/run/eval_arena.json — the file lpi_eval.py writes — or says 'not measured'.</a:t>
            </a:r>
          </a:p>
          <a:p>
            <a:pPr>
              <a:spcAft>
                <a:spcPts val="700"/>
              </a:spcAft>
            </a:pPr>
            <a:r>
              <a:rPr sz="1700" b="0" i="0">
                <a:solidFill>
                  <a:srgbClr val="E6EDF3"/>
                </a:solidFill>
                <a:latin typeface="Segoe UI"/>
              </a:rPr>
              <a:t>▸  /api/send now runs the real v4 chain: FrameCodec → build_iq → 1728 samples / 7.03 ms of IQ, and shows you the ciphertext hex.</a:t>
            </a:r>
          </a:p>
          <a:p>
            <a:pPr>
              <a:spcAft>
                <a:spcPts val="700"/>
              </a:spcAft>
            </a:pPr>
            <a:r>
              <a:rPr sz="1700" b="0" i="0">
                <a:solidFill>
                  <a:srgbClr val="E6EDF3"/>
                </a:solidFill>
                <a:latin typeface="Segoe UI"/>
              </a:rPr>
              <a:t>▸  /api/receive runs the real decoder through the paper's 5-impairment channel at a settable SNR — or --uhd for a real radio.</a:t>
            </a:r>
          </a:p>
          <a:p>
            <a:pPr>
              <a:spcAft>
                <a:spcPts val="700"/>
              </a:spcAft>
            </a:pPr>
            <a:r>
              <a:rPr sz="1700" b="0" i="0">
                <a:solidFill>
                  <a:srgbClr val="E6EDF3"/>
                </a:solidFill>
                <a:latin typeface="Segoe UI"/>
              </a:rPr>
              <a:t>▸  /api/spectrum is a real Welch PSD of the waveform generated in this session, not random numbers.</a:t>
            </a:r>
          </a:p>
          <a:p>
            <a:pPr>
              <a:spcAft>
                <a:spcPts val="700"/>
              </a:spcAft>
            </a:pPr>
            <a:r>
              <a:rPr sz="1700" b="0" i="0">
                <a:solidFill>
                  <a:srgbClr val="E6EDF3"/>
                </a:solidFill>
                <a:latin typeface="Segoe UI"/>
              </a:rPr>
              <a:t>▸  Verified this session: 'ALPHA-INDIA-001' → encrypt → waveform → channel @ 6 dB → decode → CRC 1/1 OK, exact text, 0.02 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Step 10 — Making the numbers trustworthy</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The failure mode of this project is not 'the code breaks' — it is 'a metric quietly stops meaning anything'</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pytest tests -m 'not slow' — 20 passed, 2 deselected (verified today, 2.4 s).</a:t>
            </a:r>
          </a:p>
          <a:p>
            <a:pPr>
              <a:spcAft>
                <a:spcPts val="700"/>
              </a:spcAft>
            </a:pPr>
            <a:r>
              <a:rPr sz="1700" b="0" i="0">
                <a:solidFill>
                  <a:srgbClr val="E6EDF3"/>
                </a:solidFill>
                <a:latin typeface="Segoe UI"/>
              </a:rPr>
              <a:t>▸  check_docs.py — 82 documented commands must name real scripts and real flags (verified today: OK).</a:t>
            </a:r>
          </a:p>
          <a:p>
            <a:pPr>
              <a:spcAft>
                <a:spcPts val="700"/>
              </a:spcAft>
            </a:pPr>
            <a:r>
              <a:rPr sz="1700" b="0" i="0">
                <a:solidFill>
                  <a:srgbClr val="E6EDF3"/>
                </a:solidFill>
                <a:latin typeface="Segoe UI"/>
              </a:rPr>
              <a:t>▸  CI on ubuntu + windows; nightly retrains 40 epochs and compares to metrics/last.json, opening an issue only on real regression.</a:t>
            </a:r>
          </a:p>
          <a:p>
            <a:pPr>
              <a:spcAft>
                <a:spcPts val="700"/>
              </a:spcAft>
            </a:pPr>
            <a:r>
              <a:rPr sz="1700" b="0" i="0">
                <a:solidFill>
                  <a:srgbClr val="E6EDF3"/>
                </a:solidFill>
                <a:latin typeface="Segoe UI"/>
              </a:rPr>
              <a:t>▸  export_manifest.json records the sha256 of the checkpoint each TorchScript came from — because we once shipped an export that was not the model we measured (28 of 28 decoder tensors differed).</a:t>
            </a:r>
          </a:p>
          <a:p>
            <a:pPr>
              <a:spcAft>
                <a:spcPts val="700"/>
              </a:spcAft>
            </a:pPr>
            <a:r>
              <a:rPr sz="1700" b="0" i="0">
                <a:solidFill>
                  <a:srgbClr val="E6EDF3"/>
                </a:solidFill>
                <a:latin typeface="Segoe UI"/>
              </a:rPr>
              <a:t>▸  A test AST-diffs every args.&lt;name&gt; against the argparse dests — a flag used but never defined gave two different exit codes and cost an afternoon.</a:t>
            </a:r>
          </a:p>
          <a:p>
            <a:pPr>
              <a:spcAft>
                <a:spcPts val="1000"/>
              </a:spcAft>
            </a:pPr>
            <a:r>
              <a:rPr sz="1800" b="1" i="0">
                <a:solidFill>
                  <a:srgbClr val="3FB950"/>
                </a:solidFill>
                <a:latin typeface="Segoe UI"/>
              </a:rPr>
              <a:t>■  Clopper–Pearson one-sided 95 % upper bounds on BER and FER, so '0 %' is reported as what the sample actually excluded.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4</a:t>
            </a:r>
          </a:p>
          <a:p>
            <a:pPr>
              <a:spcAft>
                <a:spcPts val="1000"/>
              </a:spcAft>
            </a:pPr>
            <a:r>
              <a:rPr sz="4000" b="1" i="0">
                <a:solidFill>
                  <a:srgbClr val="E6EDF3"/>
                </a:solidFill>
                <a:latin typeface="Segoe UI"/>
              </a:rPr>
              <a:t>Proof</a:t>
            </a:r>
          </a:p>
          <a:p>
            <a:pPr>
              <a:spcAft>
                <a:spcPts val="600"/>
              </a:spcAft>
            </a:pPr>
            <a:r>
              <a:rPr sz="1800" b="0" i="0">
                <a:solidFill>
                  <a:srgbClr val="8B98A5"/>
                </a:solidFill>
                <a:latin typeface="Segoe UI"/>
              </a:rPr>
              <a:t>What was measured, what it means, and what is still unproven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Measured results — shipped checkpoint, one command</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Re-run today in this workspace: lpi_eval.py --ckpt run/lpi_v4.best.pt --frames 512 --snrs 0,2,4,6,8,10 --n-msg 64 --fit-warden 400 → exit code 0</a:t>
            </a:r>
          </a:p>
        </p:txBody>
      </p:sp>
      <p:graphicFrame>
        <p:nvGraphicFramePr>
          <p:cNvPr id="4" name="Table 3"/>
          <p:cNvGraphicFramePr>
            <a:graphicFrameLocks noGrp="1"/>
          </p:cNvGraphicFramePr>
          <p:nvPr/>
        </p:nvGraphicFramePr>
        <p:xfrm>
          <a:off x="502920" y="1783080"/>
          <a:ext cx="11185855" cy="4041648"/>
        </p:xfrm>
        <a:graphic>
          <a:graphicData uri="http://schemas.openxmlformats.org/drawingml/2006/table">
            <a:tbl>
              <a:tblPr firstRow="1" bandRow="1">
                <a:tableStyleId>{5C22544A-7EE6-4342-B048-85BDC9FD1C3A}</a:tableStyleId>
              </a:tblPr>
              <a:tblGrid>
                <a:gridCol w="2796463"/>
                <a:gridCol w="2796463"/>
                <a:gridCol w="2796463"/>
                <a:gridCol w="2796466"/>
              </a:tblGrid>
              <a:tr h="310896">
                <a:tc>
                  <a:txBody>
                    <a:bodyPr/>
                    <a:lstStyle/>
                    <a:p>
                      <a:r>
                        <a:rPr sz="1000" b="1">
                          <a:solidFill>
                            <a:srgbClr val="58A6FF"/>
                          </a:solidFill>
                          <a:latin typeface="Segoe UI"/>
                        </a:rPr>
                        <a:t>Gate</a:t>
                      </a:r>
                    </a:p>
                  </a:txBody>
                  <a:tcPr marT="25400" marB="25400" marL="63500" marR="63500" anchor="ctr">
                    <a:solidFill>
                      <a:srgbClr val="0A0E14"/>
                    </a:solidFill>
                  </a:tcPr>
                </a:tc>
                <a:tc>
                  <a:txBody>
                    <a:bodyPr/>
                    <a:lstStyle/>
                    <a:p>
                      <a:r>
                        <a:rPr sz="1000" b="1">
                          <a:solidFill>
                            <a:srgbClr val="58A6FF"/>
                          </a:solidFill>
                          <a:latin typeface="Segoe UI"/>
                        </a:rPr>
                        <a:t>Target</a:t>
                      </a:r>
                    </a:p>
                  </a:txBody>
                  <a:tcPr marT="25400" marB="25400" marL="63500" marR="63500" anchor="ctr">
                    <a:solidFill>
                      <a:srgbClr val="0A0E14"/>
                    </a:solidFill>
                  </a:tcPr>
                </a:tc>
                <a:tc>
                  <a:txBody>
                    <a:bodyPr/>
                    <a:lstStyle/>
                    <a:p>
                      <a:r>
                        <a:rPr sz="1000" b="1">
                          <a:solidFill>
                            <a:srgbClr val="58A6FF"/>
                          </a:solidFill>
                          <a:latin typeface="Segoe UI"/>
                        </a:rPr>
                        <a:t>Measured</a:t>
                      </a:r>
                    </a:p>
                  </a:txBody>
                  <a:tcPr marT="25400" marB="25400" marL="63500" marR="63500" anchor="ctr">
                    <a:solidFill>
                      <a:srgbClr val="0A0E14"/>
                    </a:solidFill>
                  </a:tcPr>
                </a:tc>
                <a:tc>
                  <a:txBody>
                    <a:bodyPr/>
                    <a:lstStyle/>
                    <a:p>
                      <a:r>
                        <a:rPr sz="1000" b="1">
                          <a:solidFill>
                            <a:srgbClr val="58A6FF"/>
                          </a:solidFill>
                          <a:latin typeface="Segoe UI"/>
                        </a:rPr>
                        <a:t>Verdict</a:t>
                      </a:r>
                    </a:p>
                  </a:txBody>
                  <a:tcPr marT="25400" marB="25400" marL="63500" marR="63500" anchor="ctr">
                    <a:solidFill>
                      <a:srgbClr val="0A0E14"/>
                    </a:solidFill>
                  </a:tcPr>
                </a:tc>
              </a:tr>
              <a:tr h="310896">
                <a:tc>
                  <a:txBody>
                    <a:bodyPr/>
                    <a:lstStyle/>
                    <a:p>
                      <a:r>
                        <a:rPr sz="1000" b="0">
                          <a:solidFill>
                            <a:srgbClr val="E6EDF3"/>
                          </a:solidFill>
                          <a:latin typeface="Segoe UI"/>
                        </a:rPr>
                        <a:t>KS p (IQ vs AWGN)</a:t>
                      </a:r>
                    </a:p>
                  </a:txBody>
                  <a:tcPr marT="25400" marB="25400" marL="63500" marR="63500" anchor="ctr">
                    <a:solidFill>
                      <a:srgbClr val="0F141C"/>
                    </a:solidFill>
                  </a:tcPr>
                </a:tc>
                <a:tc>
                  <a:txBody>
                    <a:bodyPr/>
                    <a:lstStyle/>
                    <a:p>
                      <a:r>
                        <a:rPr sz="1000" b="0">
                          <a:solidFill>
                            <a:srgbClr val="E6EDF3"/>
                          </a:solidFill>
                          <a:latin typeface="Segoe UI"/>
                        </a:rPr>
                        <a:t>&gt; 0.05, want &gt; 0.85</a:t>
                      </a:r>
                    </a:p>
                  </a:txBody>
                  <a:tcPr marT="25400" marB="25400" marL="63500" marR="63500" anchor="ctr">
                    <a:solidFill>
                      <a:srgbClr val="0F141C"/>
                    </a:solidFill>
                  </a:tcPr>
                </a:tc>
                <a:tc>
                  <a:txBody>
                    <a:bodyPr/>
                    <a:lstStyle/>
                    <a:p>
                      <a:r>
                        <a:rPr sz="1000" b="0">
                          <a:solidFill>
                            <a:srgbClr val="E6EDF3"/>
                          </a:solidFill>
                          <a:latin typeface="Segoe UI"/>
                        </a:rPr>
                        <a:t>0.8646</a:t>
                      </a:r>
                    </a:p>
                  </a:txBody>
                  <a:tcPr marT="25400" marB="25400" marL="63500" marR="63500" anchor="ctr">
                    <a:solidFill>
                      <a:srgbClr val="0F141C"/>
                    </a:solidFill>
                  </a:tcPr>
                </a:tc>
                <a:tc>
                  <a:txBody>
                    <a:bodyPr/>
                    <a:lstStyle/>
                    <a:p>
                      <a:r>
                        <a:rPr sz="1000" b="0">
                          <a:solidFill>
                            <a:srgbClr val="E6EDF3"/>
                          </a:solidFill>
                          <a:latin typeface="Segoe UI"/>
                        </a:rPr>
                        <a:t>PASS — in the 'want' band</a:t>
                      </a:r>
                    </a:p>
                  </a:txBody>
                  <a:tcPr marT="25400" marB="25400" marL="63500" marR="63500" anchor="ctr">
                    <a:solidFill>
                      <a:srgbClr val="0F141C"/>
                    </a:solidFill>
                  </a:tcPr>
                </a:tc>
              </a:tr>
              <a:tr h="310896">
                <a:tc>
                  <a:txBody>
                    <a:bodyPr/>
                    <a:lstStyle/>
                    <a:p>
                      <a:r>
                        <a:rPr sz="1000" b="0">
                          <a:solidFill>
                            <a:srgbClr val="E6EDF3"/>
                          </a:solidFill>
                          <a:latin typeface="Segoe UI"/>
                        </a:rPr>
                        <a:t>Kurtosis</a:t>
                      </a:r>
                    </a:p>
                  </a:txBody>
                  <a:tcPr marT="25400" marB="25400" marL="63500" marR="63500" anchor="ctr">
                    <a:solidFill>
                      <a:srgbClr val="0A0E14"/>
                    </a:solidFill>
                  </a:tcPr>
                </a:tc>
                <a:tc>
                  <a:txBody>
                    <a:bodyPr/>
                    <a:lstStyle/>
                    <a:p>
                      <a:r>
                        <a:rPr sz="1000" b="0">
                          <a:solidFill>
                            <a:srgbClr val="E6EDF3"/>
                          </a:solidFill>
                          <a:latin typeface="Segoe UI"/>
                        </a:rPr>
                        <a:t>≈ 3.0</a:t>
                      </a:r>
                    </a:p>
                  </a:txBody>
                  <a:tcPr marT="25400" marB="25400" marL="63500" marR="63500" anchor="ctr">
                    <a:solidFill>
                      <a:srgbClr val="0A0E14"/>
                    </a:solidFill>
                  </a:tcPr>
                </a:tc>
                <a:tc>
                  <a:txBody>
                    <a:bodyPr/>
                    <a:lstStyle/>
                    <a:p>
                      <a:r>
                        <a:rPr sz="1000" b="0">
                          <a:solidFill>
                            <a:srgbClr val="E6EDF3"/>
                          </a:solidFill>
                          <a:latin typeface="Segoe UI"/>
                        </a:rPr>
                        <a:t>2.9907</a:t>
                      </a:r>
                    </a:p>
                  </a:txBody>
                  <a:tcPr marT="25400" marB="25400" marL="63500" marR="63500" anchor="ctr">
                    <a:solidFill>
                      <a:srgbClr val="0A0E14"/>
                    </a:solidFill>
                  </a:tcPr>
                </a:tc>
                <a:tc>
                  <a:txBody>
                    <a:bodyPr/>
                    <a:lstStyle/>
                    <a:p>
                      <a:r>
                        <a:rPr sz="1000" b="0">
                          <a:solidFill>
                            <a:srgbClr val="E6EDF3"/>
                          </a:solidFill>
                          <a:latin typeface="Segoe UI"/>
                        </a:rPr>
                        <a:t>PASS</a:t>
                      </a:r>
                    </a:p>
                  </a:txBody>
                  <a:tcPr marT="25400" marB="25400" marL="63500" marR="63500" anchor="ctr">
                    <a:solidFill>
                      <a:srgbClr val="0A0E14"/>
                    </a:solidFill>
                  </a:tcPr>
                </a:tc>
              </a:tr>
              <a:tr h="310896">
                <a:tc>
                  <a:txBody>
                    <a:bodyPr/>
                    <a:lstStyle/>
                    <a:p>
                      <a:r>
                        <a:rPr sz="1000" b="0">
                          <a:solidFill>
                            <a:srgbClr val="E6EDF3"/>
                          </a:solidFill>
                          <a:latin typeface="Segoe UI"/>
                        </a:rPr>
                        <a:t>Spectral entropy</a:t>
                      </a:r>
                    </a:p>
                  </a:txBody>
                  <a:tcPr marT="25400" marB="25400" marL="63500" marR="63500" anchor="ctr">
                    <a:solidFill>
                      <a:srgbClr val="0F141C"/>
                    </a:solidFill>
                  </a:tcPr>
                </a:tc>
                <a:tc>
                  <a:txBody>
                    <a:bodyPr/>
                    <a:lstStyle/>
                    <a:p>
                      <a:r>
                        <a:rPr sz="1000" b="0">
                          <a:solidFill>
                            <a:srgbClr val="E6EDF3"/>
                          </a:solidFill>
                          <a:latin typeface="Segoe UI"/>
                        </a:rPr>
                        <a:t>&gt; 0.95</a:t>
                      </a:r>
                    </a:p>
                  </a:txBody>
                  <a:tcPr marT="25400" marB="25400" marL="63500" marR="63500" anchor="ctr">
                    <a:solidFill>
                      <a:srgbClr val="0F141C"/>
                    </a:solidFill>
                  </a:tcPr>
                </a:tc>
                <a:tc>
                  <a:txBody>
                    <a:bodyPr/>
                    <a:lstStyle/>
                    <a:p>
                      <a:r>
                        <a:rPr sz="1000" b="0">
                          <a:solidFill>
                            <a:srgbClr val="E6EDF3"/>
                          </a:solidFill>
                          <a:latin typeface="Segoe UI"/>
                        </a:rPr>
                        <a:t>0.9566</a:t>
                      </a:r>
                    </a:p>
                  </a:txBody>
                  <a:tcPr marT="25400" marB="25400" marL="63500" marR="63500" anchor="ctr">
                    <a:solidFill>
                      <a:srgbClr val="0F141C"/>
                    </a:solidFill>
                  </a:tcPr>
                </a:tc>
                <a:tc>
                  <a:txBody>
                    <a:bodyPr/>
                    <a:lstStyle/>
                    <a:p>
                      <a:r>
                        <a:rPr sz="1000" b="0">
                          <a:solidFill>
                            <a:srgbClr val="E6EDF3"/>
                          </a:solidFill>
                          <a:latin typeface="Segoe UI"/>
                        </a:rPr>
                        <a:t>PASS</a:t>
                      </a:r>
                    </a:p>
                  </a:txBody>
                  <a:tcPr marT="25400" marB="25400" marL="63500" marR="63500" anchor="ctr">
                    <a:solidFill>
                      <a:srgbClr val="0F141C"/>
                    </a:solidFill>
                  </a:tcPr>
                </a:tc>
              </a:tr>
              <a:tr h="310896">
                <a:tc>
                  <a:txBody>
                    <a:bodyPr/>
                    <a:lstStyle/>
                    <a:p>
                      <a:r>
                        <a:rPr sz="1000" b="0">
                          <a:solidFill>
                            <a:srgbClr val="E6EDF3"/>
                          </a:solidFill>
                          <a:latin typeface="Segoe UI"/>
                        </a:rPr>
                        <a:t>IQ circularity</a:t>
                      </a:r>
                    </a:p>
                  </a:txBody>
                  <a:tcPr marT="25400" marB="25400" marL="63500" marR="63500" anchor="ctr">
                    <a:solidFill>
                      <a:srgbClr val="0A0E14"/>
                    </a:solidFill>
                  </a:tcPr>
                </a:tc>
                <a:tc>
                  <a:txBody>
                    <a:bodyPr/>
                    <a:lstStyle/>
                    <a:p>
                      <a:r>
                        <a:rPr sz="1000" b="0">
                          <a:solidFill>
                            <a:srgbClr val="E6EDF3"/>
                          </a:solidFill>
                          <a:latin typeface="Segoe UI"/>
                        </a:rPr>
                        <a:t>&lt; 0.15</a:t>
                      </a:r>
                    </a:p>
                  </a:txBody>
                  <a:tcPr marT="25400" marB="25400" marL="63500" marR="63500" anchor="ctr">
                    <a:solidFill>
                      <a:srgbClr val="0A0E14"/>
                    </a:solidFill>
                  </a:tcPr>
                </a:tc>
                <a:tc>
                  <a:txBody>
                    <a:bodyPr/>
                    <a:lstStyle/>
                    <a:p>
                      <a:r>
                        <a:rPr sz="1000" b="0">
                          <a:solidFill>
                            <a:srgbClr val="E6EDF3"/>
                          </a:solidFill>
                          <a:latin typeface="Segoe UI"/>
                        </a:rPr>
                        <a:t>0.0107</a:t>
                      </a:r>
                    </a:p>
                  </a:txBody>
                  <a:tcPr marT="25400" marB="25400" marL="63500" marR="63500" anchor="ctr">
                    <a:solidFill>
                      <a:srgbClr val="0A0E14"/>
                    </a:solidFill>
                  </a:tcPr>
                </a:tc>
                <a:tc>
                  <a:txBody>
                    <a:bodyPr/>
                    <a:lstStyle/>
                    <a:p>
                      <a:r>
                        <a:rPr sz="1000" b="0">
                          <a:solidFill>
                            <a:srgbClr val="E6EDF3"/>
                          </a:solidFill>
                          <a:latin typeface="Segoe UI"/>
                        </a:rPr>
                        <a:t>PASS</a:t>
                      </a:r>
                    </a:p>
                  </a:txBody>
                  <a:tcPr marT="25400" marB="25400" marL="63500" marR="63500" anchor="ctr">
                    <a:solidFill>
                      <a:srgbClr val="0A0E14"/>
                    </a:solidFill>
                  </a:tcPr>
                </a:tc>
              </a:tr>
              <a:tr h="310896">
                <a:tc>
                  <a:txBody>
                    <a:bodyPr/>
                    <a:lstStyle/>
                    <a:p>
                      <a:r>
                        <a:rPr sz="1000" b="0">
                          <a:solidFill>
                            <a:srgbClr val="E6EDF3"/>
                          </a:solidFill>
                          <a:latin typeface="Segoe UI"/>
                        </a:rPr>
                        <a:t>PAPR deviation</a:t>
                      </a:r>
                    </a:p>
                  </a:txBody>
                  <a:tcPr marT="25400" marB="25400" marL="63500" marR="63500" anchor="ctr">
                    <a:solidFill>
                      <a:srgbClr val="0F141C"/>
                    </a:solidFill>
                  </a:tcPr>
                </a:tc>
                <a:tc>
                  <a:txBody>
                    <a:bodyPr/>
                    <a:lstStyle/>
                    <a:p>
                      <a:r>
                        <a:rPr sz="1000" b="0">
                          <a:solidFill>
                            <a:srgbClr val="E6EDF3"/>
                          </a:solidFill>
                          <a:latin typeface="Segoe UI"/>
                        </a:rPr>
                        <a:t>&lt; 3 dB</a:t>
                      </a:r>
                    </a:p>
                  </a:txBody>
                  <a:tcPr marT="25400" marB="25400" marL="63500" marR="63500" anchor="ctr">
                    <a:solidFill>
                      <a:srgbClr val="0F141C"/>
                    </a:solidFill>
                  </a:tcPr>
                </a:tc>
                <a:tc>
                  <a:txBody>
                    <a:bodyPr/>
                    <a:lstStyle/>
                    <a:p>
                      <a:r>
                        <a:rPr sz="1000" b="0">
                          <a:solidFill>
                            <a:srgbClr val="E6EDF3"/>
                          </a:solidFill>
                          <a:latin typeface="Segoe UI"/>
                        </a:rPr>
                        <a:t>+0.009 dB</a:t>
                      </a:r>
                    </a:p>
                  </a:txBody>
                  <a:tcPr marT="25400" marB="25400" marL="63500" marR="63500" anchor="ctr">
                    <a:solidFill>
                      <a:srgbClr val="0F141C"/>
                    </a:solidFill>
                  </a:tcPr>
                </a:tc>
                <a:tc>
                  <a:txBody>
                    <a:bodyPr/>
                    <a:lstStyle/>
                    <a:p>
                      <a:r>
                        <a:rPr sz="1000" b="0">
                          <a:solidFill>
                            <a:srgbClr val="E6EDF3"/>
                          </a:solidFill>
                          <a:latin typeface="Segoe UI"/>
                        </a:rPr>
                        <a:t>PASS</a:t>
                      </a:r>
                    </a:p>
                  </a:txBody>
                  <a:tcPr marT="25400" marB="25400" marL="63500" marR="63500" anchor="ctr">
                    <a:solidFill>
                      <a:srgbClr val="0F141C"/>
                    </a:solidFill>
                  </a:tcPr>
                </a:tc>
              </a:tr>
              <a:tr h="310896">
                <a:tc>
                  <a:txBody>
                    <a:bodyPr/>
                    <a:lstStyle/>
                    <a:p>
                      <a:r>
                        <a:rPr sz="1000" b="0">
                          <a:solidFill>
                            <a:srgbClr val="E6EDF3"/>
                          </a:solidFill>
                          <a:latin typeface="Segoe UI"/>
                        </a:rPr>
                        <a:t>SCF ratio</a:t>
                      </a:r>
                    </a:p>
                  </a:txBody>
                  <a:tcPr marT="25400" marB="25400" marL="63500" marR="63500" anchor="ctr">
                    <a:solidFill>
                      <a:srgbClr val="0A0E14"/>
                    </a:solidFill>
                  </a:tcPr>
                </a:tc>
                <a:tc>
                  <a:txBody>
                    <a:bodyPr/>
                    <a:lstStyle/>
                    <a:p>
                      <a:r>
                        <a:rPr sz="1000" b="0">
                          <a:solidFill>
                            <a:srgbClr val="E6EDF3"/>
                          </a:solidFill>
                          <a:latin typeface="Segoe UI"/>
                        </a:rPr>
                        <a:t>&lt; 3</a:t>
                      </a:r>
                    </a:p>
                  </a:txBody>
                  <a:tcPr marT="25400" marB="25400" marL="63500" marR="63500" anchor="ctr">
                    <a:solidFill>
                      <a:srgbClr val="0A0E14"/>
                    </a:solidFill>
                  </a:tcPr>
                </a:tc>
                <a:tc>
                  <a:txBody>
                    <a:bodyPr/>
                    <a:lstStyle/>
                    <a:p>
                      <a:r>
                        <a:rPr sz="1000" b="0">
                          <a:solidFill>
                            <a:srgbClr val="E6EDF3"/>
                          </a:solidFill>
                          <a:latin typeface="Segoe UI"/>
                        </a:rPr>
                        <a:t>1.0129</a:t>
                      </a:r>
                    </a:p>
                  </a:txBody>
                  <a:tcPr marT="25400" marB="25400" marL="63500" marR="63500" anchor="ctr">
                    <a:solidFill>
                      <a:srgbClr val="0A0E14"/>
                    </a:solidFill>
                  </a:tcPr>
                </a:tc>
                <a:tc>
                  <a:txBody>
                    <a:bodyPr/>
                    <a:lstStyle/>
                    <a:p>
                      <a:r>
                        <a:rPr sz="1000" b="0">
                          <a:solidFill>
                            <a:srgbClr val="E6EDF3"/>
                          </a:solidFill>
                          <a:latin typeface="Segoe UI"/>
                        </a:rPr>
                        <a:t>PASS</a:t>
                      </a:r>
                    </a:p>
                  </a:txBody>
                  <a:tcPr marT="25400" marB="25400" marL="63500" marR="63500" anchor="ctr">
                    <a:solidFill>
                      <a:srgbClr val="0A0E14"/>
                    </a:solidFill>
                  </a:tcPr>
                </a:tc>
              </a:tr>
              <a:tr h="310896">
                <a:tc>
                  <a:txBody>
                    <a:bodyPr/>
                    <a:lstStyle/>
                    <a:p>
                      <a:r>
                        <a:rPr sz="1000" b="0">
                          <a:solidFill>
                            <a:srgbClr val="E6EDF3"/>
                          </a:solidFill>
                          <a:latin typeface="Segoe UI"/>
                        </a:rPr>
                        <a:t>HOS C42</a:t>
                      </a:r>
                    </a:p>
                  </a:txBody>
                  <a:tcPr marT="25400" marB="25400" marL="63500" marR="63500" anchor="ctr">
                    <a:solidFill>
                      <a:srgbClr val="0F141C"/>
                    </a:solidFill>
                  </a:tcPr>
                </a:tc>
                <a:tc>
                  <a:txBody>
                    <a:bodyPr/>
                    <a:lstStyle/>
                    <a:p>
                      <a:r>
                        <a:rPr sz="1000" b="0">
                          <a:solidFill>
                            <a:srgbClr val="E6EDF3"/>
                          </a:solidFill>
                          <a:latin typeface="Segoe UI"/>
                        </a:rPr>
                        <a:t>&lt; 0.3</a:t>
                      </a:r>
                    </a:p>
                  </a:txBody>
                  <a:tcPr marT="25400" marB="25400" marL="63500" marR="63500" anchor="ctr">
                    <a:solidFill>
                      <a:srgbClr val="0F141C"/>
                    </a:solidFill>
                  </a:tcPr>
                </a:tc>
                <a:tc>
                  <a:txBody>
                    <a:bodyPr/>
                    <a:lstStyle/>
                    <a:p>
                      <a:r>
                        <a:rPr sz="1000" b="0">
                          <a:solidFill>
                            <a:srgbClr val="E6EDF3"/>
                          </a:solidFill>
                          <a:latin typeface="Segoe UI"/>
                        </a:rPr>
                        <a:t>−0.0048</a:t>
                      </a:r>
                    </a:p>
                  </a:txBody>
                  <a:tcPr marT="25400" marB="25400" marL="63500" marR="63500" anchor="ctr">
                    <a:solidFill>
                      <a:srgbClr val="0F141C"/>
                    </a:solidFill>
                  </a:tcPr>
                </a:tc>
                <a:tc>
                  <a:txBody>
                    <a:bodyPr/>
                    <a:lstStyle/>
                    <a:p>
                      <a:r>
                        <a:rPr sz="1000" b="0">
                          <a:solidFill>
                            <a:srgbClr val="E6EDF3"/>
                          </a:solidFill>
                          <a:latin typeface="Segoe UI"/>
                        </a:rPr>
                        <a:t>PASS</a:t>
                      </a:r>
                    </a:p>
                  </a:txBody>
                  <a:tcPr marT="25400" marB="25400" marL="63500" marR="63500" anchor="ctr">
                    <a:solidFill>
                      <a:srgbClr val="0F141C"/>
                    </a:solidFill>
                  </a:tcPr>
                </a:tc>
              </a:tr>
              <a:tr h="310896">
                <a:tc>
                  <a:txBody>
                    <a:bodyPr/>
                    <a:lstStyle/>
                    <a:p>
                      <a:r>
                        <a:rPr sz="1000" b="0">
                          <a:solidFill>
                            <a:srgbClr val="E6EDF3"/>
                          </a:solidFill>
                          <a:latin typeface="Segoe UI"/>
                        </a:rPr>
                        <a:t>WVD TF ratio</a:t>
                      </a:r>
                    </a:p>
                  </a:txBody>
                  <a:tcPr marT="25400" marB="25400" marL="63500" marR="63500" anchor="ctr">
                    <a:solidFill>
                      <a:srgbClr val="0A0E14"/>
                    </a:solidFill>
                  </a:tcPr>
                </a:tc>
                <a:tc>
                  <a:txBody>
                    <a:bodyPr/>
                    <a:lstStyle/>
                    <a:p>
                      <a:r>
                        <a:rPr sz="1000" b="0">
                          <a:solidFill>
                            <a:srgbClr val="E6EDF3"/>
                          </a:solidFill>
                          <a:latin typeface="Segoe UI"/>
                        </a:rPr>
                        <a:t>&lt; 3.7</a:t>
                      </a:r>
                    </a:p>
                  </a:txBody>
                  <a:tcPr marT="25400" marB="25400" marL="63500" marR="63500" anchor="ctr">
                    <a:solidFill>
                      <a:srgbClr val="0A0E14"/>
                    </a:solidFill>
                  </a:tcPr>
                </a:tc>
                <a:tc>
                  <a:txBody>
                    <a:bodyPr/>
                    <a:lstStyle/>
                    <a:p>
                      <a:r>
                        <a:rPr sz="1000" b="0">
                          <a:solidFill>
                            <a:srgbClr val="E6EDF3"/>
                          </a:solidFill>
                          <a:latin typeface="Segoe UI"/>
                        </a:rPr>
                        <a:t>1.0166</a:t>
                      </a:r>
                    </a:p>
                  </a:txBody>
                  <a:tcPr marT="25400" marB="25400" marL="63500" marR="63500" anchor="ctr">
                    <a:solidFill>
                      <a:srgbClr val="0A0E14"/>
                    </a:solidFill>
                  </a:tcPr>
                </a:tc>
                <a:tc>
                  <a:txBody>
                    <a:bodyPr/>
                    <a:lstStyle/>
                    <a:p>
                      <a:r>
                        <a:rPr sz="1000" b="0">
                          <a:solidFill>
                            <a:srgbClr val="E6EDF3"/>
                          </a:solidFill>
                          <a:latin typeface="Segoe UI"/>
                        </a:rPr>
                        <a:t>PASS</a:t>
                      </a:r>
                    </a:p>
                  </a:txBody>
                  <a:tcPr marT="25400" marB="25400" marL="63500" marR="63500" anchor="ctr">
                    <a:solidFill>
                      <a:srgbClr val="0A0E14"/>
                    </a:solidFill>
                  </a:tcPr>
                </a:tc>
              </a:tr>
              <a:tr h="310896">
                <a:tc>
                  <a:txBody>
                    <a:bodyPr/>
                    <a:lstStyle/>
                    <a:p>
                      <a:r>
                        <a:rPr sz="1000" b="0">
                          <a:solidFill>
                            <a:srgbClr val="E6EDF3"/>
                          </a:solidFill>
                          <a:latin typeface="Segoe UI"/>
                        </a:rPr>
                        <a:t>Composite Sc</a:t>
                      </a:r>
                    </a:p>
                  </a:txBody>
                  <a:tcPr marT="25400" marB="25400" marL="63500" marR="63500" anchor="ctr">
                    <a:solidFill>
                      <a:srgbClr val="0F141C"/>
                    </a:solidFill>
                  </a:tcPr>
                </a:tc>
                <a:tc>
                  <a:txBody>
                    <a:bodyPr/>
                    <a:lstStyle/>
                    <a:p>
                      <a:r>
                        <a:rPr sz="1000" b="0">
                          <a:solidFill>
                            <a:srgbClr val="E6EDF3"/>
                          </a:solidFill>
                          <a:latin typeface="Segoe UI"/>
                        </a:rPr>
                        <a:t>&lt; 0.20 (Good)</a:t>
                      </a:r>
                    </a:p>
                  </a:txBody>
                  <a:tcPr marT="25400" marB="25400" marL="63500" marR="63500" anchor="ctr">
                    <a:solidFill>
                      <a:srgbClr val="0F141C"/>
                    </a:solidFill>
                  </a:tcPr>
                </a:tc>
                <a:tc>
                  <a:txBody>
                    <a:bodyPr/>
                    <a:lstStyle/>
                    <a:p>
                      <a:r>
                        <a:rPr sz="1000" b="0">
                          <a:solidFill>
                            <a:srgbClr val="E6EDF3"/>
                          </a:solidFill>
                          <a:latin typeface="Segoe UI"/>
                        </a:rPr>
                        <a:t>0.1399, 8/8 domains</a:t>
                      </a:r>
                    </a:p>
                  </a:txBody>
                  <a:tcPr marT="25400" marB="25400" marL="63500" marR="63500" anchor="ctr">
                    <a:solidFill>
                      <a:srgbClr val="0F141C"/>
                    </a:solidFill>
                  </a:tcPr>
                </a:tc>
                <a:tc>
                  <a:txBody>
                    <a:bodyPr/>
                    <a:lstStyle/>
                    <a:p>
                      <a:r>
                        <a:rPr sz="1000" b="0">
                          <a:solidFill>
                            <a:srgbClr val="E6EDF3"/>
                          </a:solidFill>
                          <a:latin typeface="Segoe UI"/>
                        </a:rPr>
                        <a:t>PASS</a:t>
                      </a:r>
                    </a:p>
                  </a:txBody>
                  <a:tcPr marT="25400" marB="25400" marL="63500" marR="63500" anchor="ctr">
                    <a:solidFill>
                      <a:srgbClr val="0F141C"/>
                    </a:solidFill>
                  </a:tcPr>
                </a:tc>
              </a:tr>
              <a:tr h="310896">
                <a:tc>
                  <a:txBody>
                    <a:bodyPr/>
                    <a:lstStyle/>
                    <a:p>
                      <a:r>
                        <a:rPr sz="1000" b="0">
                          <a:solidFill>
                            <a:srgbClr val="E6EDF3"/>
                          </a:solidFill>
                          <a:latin typeface="Segoe UI"/>
                        </a:rPr>
                        <a:t>Adversary accuracy</a:t>
                      </a:r>
                    </a:p>
                  </a:txBody>
                  <a:tcPr marT="25400" marB="25400" marL="63500" marR="63500" anchor="ctr">
                    <a:solidFill>
                      <a:srgbClr val="0A0E14"/>
                    </a:solidFill>
                  </a:tcPr>
                </a:tc>
                <a:tc>
                  <a:txBody>
                    <a:bodyPr/>
                    <a:lstStyle/>
                    <a:p>
                      <a:r>
                        <a:rPr sz="1000" b="0">
                          <a:solidFill>
                            <a:srgbClr val="E6EDF3"/>
                          </a:solidFill>
                          <a:latin typeface="Segoe UI"/>
                        </a:rPr>
                        <a:t>48–56 %</a:t>
                      </a:r>
                    </a:p>
                  </a:txBody>
                  <a:tcPr marT="25400" marB="25400" marL="63500" marR="63500" anchor="ctr">
                    <a:solidFill>
                      <a:srgbClr val="0A0E14"/>
                    </a:solidFill>
                  </a:tcPr>
                </a:tc>
                <a:tc>
                  <a:txBody>
                    <a:bodyPr/>
                    <a:lstStyle/>
                    <a:p>
                      <a:r>
                        <a:rPr sz="1000" b="0">
                          <a:solidFill>
                            <a:srgbClr val="E6EDF3"/>
                          </a:solidFill>
                          <a:latin typeface="Segoe UI"/>
                        </a:rPr>
                        <a:t>55.90 % @400 fit steps (58.80 % @800)</a:t>
                      </a:r>
                    </a:p>
                  </a:txBody>
                  <a:tcPr marT="25400" marB="25400" marL="63500" marR="63500" anchor="ctr">
                    <a:solidFill>
                      <a:srgbClr val="0A0E14"/>
                    </a:solidFill>
                  </a:tcPr>
                </a:tc>
                <a:tc>
                  <a:txBody>
                    <a:bodyPr/>
                    <a:lstStyle/>
                    <a:p>
                      <a:r>
                        <a:rPr sz="1000" b="0">
                          <a:solidFill>
                            <a:srgbClr val="E6EDF3"/>
                          </a:solidFill>
                          <a:latin typeface="Segoe UI"/>
                        </a:rPr>
                        <a:t>PASS at the paper's budget</a:t>
                      </a:r>
                    </a:p>
                  </a:txBody>
                  <a:tcPr marT="25400" marB="25400" marL="63500" marR="63500" anchor="ctr">
                    <a:solidFill>
                      <a:srgbClr val="0A0E14"/>
                    </a:solidFill>
                  </a:tcPr>
                </a:tc>
              </a:tr>
              <a:tr h="310896">
                <a:tc>
                  <a:txBody>
                    <a:bodyPr/>
                    <a:lstStyle/>
                    <a:p>
                      <a:r>
                        <a:rPr sz="1000" b="0">
                          <a:solidFill>
                            <a:srgbClr val="E6EDF3"/>
                          </a:solidFill>
                          <a:latin typeface="Segoe UI"/>
                        </a:rPr>
                        <a:t>Field BER ≥ 5 dB</a:t>
                      </a:r>
                    </a:p>
                  </a:txBody>
                  <a:tcPr marT="25400" marB="25400" marL="63500" marR="63500" anchor="ctr">
                    <a:solidFill>
                      <a:srgbClr val="0F141C"/>
                    </a:solidFill>
                  </a:tcPr>
                </a:tc>
                <a:tc>
                  <a:txBody>
                    <a:bodyPr/>
                    <a:lstStyle/>
                    <a:p>
                      <a:r>
                        <a:rPr sz="1000" b="0">
                          <a:solidFill>
                            <a:srgbClr val="E6EDF3"/>
                          </a:solidFill>
                          <a:latin typeface="Segoe UI"/>
                        </a:rPr>
                        <a:t>&lt; 1 %</a:t>
                      </a:r>
                    </a:p>
                  </a:txBody>
                  <a:tcPr marT="25400" marB="25400" marL="63500" marR="63500" anchor="ctr">
                    <a:solidFill>
                      <a:srgbClr val="0F141C"/>
                    </a:solidFill>
                  </a:tcPr>
                </a:tc>
                <a:tc>
                  <a:txBody>
                    <a:bodyPr/>
                    <a:lstStyle/>
                    <a:p>
                      <a:r>
                        <a:rPr sz="1000" b="0">
                          <a:solidFill>
                            <a:srgbClr val="E6EDF3"/>
                          </a:solidFill>
                          <a:latin typeface="Segoe UI"/>
                        </a:rPr>
                        <a:t>3.05e-5 @6 dB, 0.0 @8–10 dB</a:t>
                      </a:r>
                    </a:p>
                  </a:txBody>
                  <a:tcPr marT="25400" marB="25400" marL="63500" marR="63500" anchor="ctr">
                    <a:solidFill>
                      <a:srgbClr val="0F141C"/>
                    </a:solidFill>
                  </a:tcPr>
                </a:tc>
                <a:tc>
                  <a:txBody>
                    <a:bodyPr/>
                    <a:lstStyle/>
                    <a:p>
                      <a:r>
                        <a:rPr sz="1000" b="0">
                          <a:solidFill>
                            <a:srgbClr val="E6EDF3"/>
                          </a:solidFill>
                          <a:latin typeface="Segoe UI"/>
                        </a:rPr>
                        <a:t>PASS</a:t>
                      </a:r>
                    </a:p>
                  </a:txBody>
                  <a:tcPr marT="25400" marB="25400" marL="63500" marR="63500" anchor="ctr">
                    <a:solidFill>
                      <a:srgbClr val="0F141C"/>
                    </a:solidFill>
                  </a:tcPr>
                </a:tc>
              </a:tr>
              <a:tr h="310896">
                <a:tc>
                  <a:txBody>
                    <a:bodyPr/>
                    <a:lstStyle/>
                    <a:p>
                      <a:r>
                        <a:rPr sz="1000" b="0">
                          <a:solidFill>
                            <a:srgbClr val="E6EDF3"/>
                          </a:solidFill>
                          <a:latin typeface="Segoe UI"/>
                        </a:rPr>
                        <a:t>Message FER ≥ 2 dB</a:t>
                      </a:r>
                    </a:p>
                  </a:txBody>
                  <a:tcPr marT="25400" marB="25400" marL="63500" marR="63500" anchor="ctr">
                    <a:solidFill>
                      <a:srgbClr val="0A0E14"/>
                    </a:solidFill>
                  </a:tcPr>
                </a:tc>
                <a:tc>
                  <a:txBody>
                    <a:bodyPr/>
                    <a:lstStyle/>
                    <a:p>
                      <a:r>
                        <a:rPr sz="1000" b="0">
                          <a:solidFill>
                            <a:srgbClr val="E6EDF3"/>
                          </a:solidFill>
                          <a:latin typeface="Segoe UI"/>
                        </a:rPr>
                        <a:t>&lt; 5 %</a:t>
                      </a:r>
                    </a:p>
                  </a:txBody>
                  <a:tcPr marT="25400" marB="25400" marL="63500" marR="63500" anchor="ctr">
                    <a:solidFill>
                      <a:srgbClr val="0A0E14"/>
                    </a:solidFill>
                  </a:tcPr>
                </a:tc>
                <a:tc>
                  <a:txBody>
                    <a:bodyPr/>
                    <a:lstStyle/>
                    <a:p>
                      <a:r>
                        <a:rPr sz="1000" b="0">
                          <a:solidFill>
                            <a:srgbClr val="E6EDF3"/>
                          </a:solidFill>
                          <a:latin typeface="Segoe UI"/>
                        </a:rPr>
                        <a:t>0 % (64/64 texts each SNR)</a:t>
                      </a:r>
                    </a:p>
                  </a:txBody>
                  <a:tcPr marT="25400" marB="25400" marL="63500" marR="63500" anchor="ctr">
                    <a:solidFill>
                      <a:srgbClr val="0A0E14"/>
                    </a:solidFill>
                  </a:tcPr>
                </a:tc>
                <a:tc>
                  <a:txBody>
                    <a:bodyPr/>
                    <a:lstStyle/>
                    <a:p>
                      <a:r>
                        <a:rPr sz="1000" b="0">
                          <a:solidFill>
                            <a:srgbClr val="E6EDF3"/>
                          </a:solidFill>
                          <a:latin typeface="Segoe UI"/>
                        </a:rPr>
                        <a:t>PASS, bound 4.6 %</a:t>
                      </a:r>
                    </a:p>
                  </a:txBody>
                  <a:tcPr marT="25400" marB="25400" marL="63500" marR="63500" anchor="ctr">
                    <a:solidFill>
                      <a:srgbClr val="0A0E1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BER and FER against SNR — with honest bounds</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'0 %' is not a measurement. Here is what the sample actually excludes.</a:t>
            </a:r>
          </a:p>
        </p:txBody>
      </p:sp>
      <p:graphicFrame>
        <p:nvGraphicFramePr>
          <p:cNvPr id="4" name="Table 3"/>
          <p:cNvGraphicFramePr>
            <a:graphicFrameLocks noGrp="1"/>
          </p:cNvGraphicFramePr>
          <p:nvPr/>
        </p:nvGraphicFramePr>
        <p:xfrm>
          <a:off x="502920" y="1783080"/>
          <a:ext cx="11185855" cy="2176272"/>
        </p:xfrm>
        <a:graphic>
          <a:graphicData uri="http://schemas.openxmlformats.org/drawingml/2006/table">
            <a:tbl>
              <a:tblPr firstRow="1" bandRow="1">
                <a:tableStyleId>{5C22544A-7EE6-4342-B048-85BDC9FD1C3A}</a:tableStyleId>
              </a:tblPr>
              <a:tblGrid>
                <a:gridCol w="1864309"/>
                <a:gridCol w="1864309"/>
                <a:gridCol w="1864309"/>
                <a:gridCol w="1864309"/>
                <a:gridCol w="1864309"/>
                <a:gridCol w="1864310"/>
              </a:tblGrid>
              <a:tr h="310896">
                <a:tc>
                  <a:txBody>
                    <a:bodyPr/>
                    <a:lstStyle/>
                    <a:p>
                      <a:r>
                        <a:rPr sz="1300" b="1">
                          <a:solidFill>
                            <a:srgbClr val="58A6FF"/>
                          </a:solidFill>
                          <a:latin typeface="Segoe UI"/>
                        </a:rPr>
                        <a:t>SNR</a:t>
                      </a:r>
                    </a:p>
                  </a:txBody>
                  <a:tcPr marT="25400" marB="25400" marL="63500" marR="63500" anchor="ctr">
                    <a:solidFill>
                      <a:srgbClr val="0A0E14"/>
                    </a:solidFill>
                  </a:tcPr>
                </a:tc>
                <a:tc>
                  <a:txBody>
                    <a:bodyPr/>
                    <a:lstStyle/>
                    <a:p>
                      <a:r>
                        <a:rPr sz="1300" b="1">
                          <a:solidFill>
                            <a:srgbClr val="58A6FF"/>
                          </a:solidFill>
                          <a:latin typeface="Segoe UI"/>
                        </a:rPr>
                        <a:t>Field BER</a:t>
                      </a:r>
                    </a:p>
                  </a:txBody>
                  <a:tcPr marT="25400" marB="25400" marL="63500" marR="63500" anchor="ctr">
                    <a:solidFill>
                      <a:srgbClr val="0A0E14"/>
                    </a:solidFill>
                  </a:tcPr>
                </a:tc>
                <a:tc>
                  <a:txBody>
                    <a:bodyPr/>
                    <a:lstStyle/>
                    <a:p>
                      <a:r>
                        <a:rPr sz="1300" b="1">
                          <a:solidFill>
                            <a:srgbClr val="58A6FF"/>
                          </a:solidFill>
                          <a:latin typeface="Segoe UI"/>
                        </a:rPr>
                        <a:t>BER 95 % ≤</a:t>
                      </a:r>
                    </a:p>
                  </a:txBody>
                  <a:tcPr marT="25400" marB="25400" marL="63500" marR="63500" anchor="ctr">
                    <a:solidFill>
                      <a:srgbClr val="0A0E14"/>
                    </a:solidFill>
                  </a:tcPr>
                </a:tc>
                <a:tc>
                  <a:txBody>
                    <a:bodyPr/>
                    <a:lstStyle/>
                    <a:p>
                      <a:r>
                        <a:rPr sz="1300" b="1">
                          <a:solidFill>
                            <a:srgbClr val="58A6FF"/>
                          </a:solidFill>
                          <a:latin typeface="Segoe UI"/>
                        </a:rPr>
                        <a:t>FER</a:t>
                      </a:r>
                    </a:p>
                  </a:txBody>
                  <a:tcPr marT="25400" marB="25400" marL="63500" marR="63500" anchor="ctr">
                    <a:solidFill>
                      <a:srgbClr val="0A0E14"/>
                    </a:solidFill>
                  </a:tcPr>
                </a:tc>
                <a:tc>
                  <a:txBody>
                    <a:bodyPr/>
                    <a:lstStyle/>
                    <a:p>
                      <a:r>
                        <a:rPr sz="1300" b="1">
                          <a:solidFill>
                            <a:srgbClr val="58A6FF"/>
                          </a:solidFill>
                          <a:latin typeface="Segoe UI"/>
                        </a:rPr>
                        <a:t>FER 95 % ≤</a:t>
                      </a:r>
                    </a:p>
                  </a:txBody>
                  <a:tcPr marT="25400" marB="25400" marL="63500" marR="63500" anchor="ctr">
                    <a:solidFill>
                      <a:srgbClr val="0A0E14"/>
                    </a:solidFill>
                  </a:tcPr>
                </a:tc>
                <a:tc>
                  <a:txBody>
                    <a:bodyPr/>
                    <a:lstStyle/>
                    <a:p>
                      <a:r>
                        <a:rPr sz="1300" b="1">
                          <a:solidFill>
                            <a:srgbClr val="58A6FF"/>
                          </a:solidFill>
                          <a:latin typeface="Segoe UI"/>
                        </a:rPr>
                        <a:t>Messages exact</a:t>
                      </a:r>
                    </a:p>
                  </a:txBody>
                  <a:tcPr marT="25400" marB="25400" marL="63500" marR="63500" anchor="ctr">
                    <a:solidFill>
                      <a:srgbClr val="0A0E14"/>
                    </a:solidFill>
                  </a:tcPr>
                </a:tc>
              </a:tr>
              <a:tr h="310896">
                <a:tc>
                  <a:txBody>
                    <a:bodyPr/>
                    <a:lstStyle/>
                    <a:p>
                      <a:r>
                        <a:rPr sz="1300" b="0">
                          <a:solidFill>
                            <a:srgbClr val="E6EDF3"/>
                          </a:solidFill>
                          <a:latin typeface="Segoe UI"/>
                        </a:rPr>
                        <a:t>0 dB</a:t>
                      </a:r>
                    </a:p>
                  </a:txBody>
                  <a:tcPr marT="25400" marB="25400" marL="63500" marR="63500" anchor="ctr">
                    <a:solidFill>
                      <a:srgbClr val="0F141C"/>
                    </a:solidFill>
                  </a:tcPr>
                </a:tc>
                <a:tc>
                  <a:txBody>
                    <a:bodyPr/>
                    <a:lstStyle/>
                    <a:p>
                      <a:r>
                        <a:rPr sz="1300" b="0">
                          <a:solidFill>
                            <a:srgbClr val="E6EDF3"/>
                          </a:solidFill>
                          <a:latin typeface="Segoe UI"/>
                        </a:rPr>
                        <a:t>1.00e-2</a:t>
                      </a:r>
                    </a:p>
                  </a:txBody>
                  <a:tcPr marT="25400" marB="25400" marL="63500" marR="63500" anchor="ctr">
                    <a:solidFill>
                      <a:srgbClr val="0F141C"/>
                    </a:solidFill>
                  </a:tcPr>
                </a:tc>
                <a:tc>
                  <a:txBody>
                    <a:bodyPr/>
                    <a:lstStyle/>
                    <a:p>
                      <a:r>
                        <a:rPr sz="1300" b="0">
                          <a:solidFill>
                            <a:srgbClr val="E6EDF3"/>
                          </a:solidFill>
                          <a:latin typeface="Segoe UI"/>
                        </a:rPr>
                        <a:t>1.07e-2</a:t>
                      </a:r>
                    </a:p>
                  </a:txBody>
                  <a:tcPr marT="25400" marB="25400" marL="63500" marR="63500" anchor="ctr">
                    <a:solidFill>
                      <a:srgbClr val="0F141C"/>
                    </a:solidFill>
                  </a:tcPr>
                </a:tc>
                <a:tc>
                  <a:txBody>
                    <a:bodyPr/>
                    <a:lstStyle/>
                    <a:p>
                      <a:r>
                        <a:rPr sz="1300" b="0">
                          <a:solidFill>
                            <a:srgbClr val="E6EDF3"/>
                          </a:solidFill>
                          <a:latin typeface="Segoe UI"/>
                        </a:rPr>
                        <a:t>66.4 %</a:t>
                      </a:r>
                    </a:p>
                  </a:txBody>
                  <a:tcPr marT="25400" marB="25400" marL="63500" marR="63500" anchor="ctr">
                    <a:solidFill>
                      <a:srgbClr val="0F141C"/>
                    </a:solidFill>
                  </a:tcPr>
                </a:tc>
                <a:tc>
                  <a:txBody>
                    <a:bodyPr/>
                    <a:lstStyle/>
                    <a:p>
                      <a:r>
                        <a:rPr sz="1300" b="0">
                          <a:solidFill>
                            <a:srgbClr val="E6EDF3"/>
                          </a:solidFill>
                          <a:latin typeface="Segoe UI"/>
                        </a:rPr>
                        <a:t>69.9 %</a:t>
                      </a:r>
                    </a:p>
                  </a:txBody>
                  <a:tcPr marT="25400" marB="25400" marL="63500" marR="63500" anchor="ctr">
                    <a:solidFill>
                      <a:srgbClr val="0F141C"/>
                    </a:solidFill>
                  </a:tcPr>
                </a:tc>
                <a:tc>
                  <a:txBody>
                    <a:bodyPr/>
                    <a:lstStyle/>
                    <a:p>
                      <a:r>
                        <a:rPr sz="1300" b="0">
                          <a:solidFill>
                            <a:srgbClr val="E6EDF3"/>
                          </a:solidFill>
                          <a:latin typeface="Segoe UI"/>
                        </a:rPr>
                        <a:t>52/64</a:t>
                      </a:r>
                    </a:p>
                  </a:txBody>
                  <a:tcPr marT="25400" marB="25400" marL="63500" marR="63500" anchor="ctr">
                    <a:solidFill>
                      <a:srgbClr val="0F141C"/>
                    </a:solidFill>
                  </a:tcPr>
                </a:tc>
              </a:tr>
              <a:tr h="310896">
                <a:tc>
                  <a:txBody>
                    <a:bodyPr/>
                    <a:lstStyle/>
                    <a:p>
                      <a:r>
                        <a:rPr sz="1300" b="0">
                          <a:solidFill>
                            <a:srgbClr val="E6EDF3"/>
                          </a:solidFill>
                          <a:latin typeface="Segoe UI"/>
                        </a:rPr>
                        <a:t>2 dB</a:t>
                      </a:r>
                    </a:p>
                  </a:txBody>
                  <a:tcPr marT="25400" marB="25400" marL="63500" marR="63500" anchor="ctr">
                    <a:solidFill>
                      <a:srgbClr val="0A0E14"/>
                    </a:solidFill>
                  </a:tcPr>
                </a:tc>
                <a:tc>
                  <a:txBody>
                    <a:bodyPr/>
                    <a:lstStyle/>
                    <a:p>
                      <a:r>
                        <a:rPr sz="1300" b="0">
                          <a:solidFill>
                            <a:srgbClr val="E6EDF3"/>
                          </a:solidFill>
                          <a:latin typeface="Segoe UI"/>
                        </a:rPr>
                        <a:t>2.14e-3</a:t>
                      </a:r>
                    </a:p>
                  </a:txBody>
                  <a:tcPr marT="25400" marB="25400" marL="63500" marR="63500" anchor="ctr">
                    <a:solidFill>
                      <a:srgbClr val="0A0E14"/>
                    </a:solidFill>
                  </a:tcPr>
                </a:tc>
                <a:tc>
                  <a:txBody>
                    <a:bodyPr/>
                    <a:lstStyle/>
                    <a:p>
                      <a:r>
                        <a:rPr sz="1300" b="0">
                          <a:solidFill>
                            <a:srgbClr val="E6EDF3"/>
                          </a:solidFill>
                          <a:latin typeface="Segoe UI"/>
                        </a:rPr>
                        <a:t>2.46e-3</a:t>
                      </a:r>
                    </a:p>
                  </a:txBody>
                  <a:tcPr marT="25400" marB="25400" marL="63500" marR="63500" anchor="ctr">
                    <a:solidFill>
                      <a:srgbClr val="0A0E14"/>
                    </a:solidFill>
                  </a:tcPr>
                </a:tc>
                <a:tc>
                  <a:txBody>
                    <a:bodyPr/>
                    <a:lstStyle/>
                    <a:p>
                      <a:r>
                        <a:rPr sz="1300" b="0">
                          <a:solidFill>
                            <a:srgbClr val="E6EDF3"/>
                          </a:solidFill>
                          <a:latin typeface="Segoe UI"/>
                        </a:rPr>
                        <a:t>0.0 %</a:t>
                      </a:r>
                    </a:p>
                  </a:txBody>
                  <a:tcPr marT="25400" marB="25400" marL="63500" marR="63500" anchor="ctr">
                    <a:solidFill>
                      <a:srgbClr val="0A0E14"/>
                    </a:solidFill>
                  </a:tcPr>
                </a:tc>
                <a:tc>
                  <a:txBody>
                    <a:bodyPr/>
                    <a:lstStyle/>
                    <a:p>
                      <a:r>
                        <a:rPr sz="1300" b="0">
                          <a:solidFill>
                            <a:srgbClr val="E6EDF3"/>
                          </a:solidFill>
                          <a:latin typeface="Segoe UI"/>
                        </a:rPr>
                        <a:t>4.6 %</a:t>
                      </a:r>
                    </a:p>
                  </a:txBody>
                  <a:tcPr marT="25400" marB="25400" marL="63500" marR="63500" anchor="ctr">
                    <a:solidFill>
                      <a:srgbClr val="0A0E14"/>
                    </a:solidFill>
                  </a:tcPr>
                </a:tc>
                <a:tc>
                  <a:txBody>
                    <a:bodyPr/>
                    <a:lstStyle/>
                    <a:p>
                      <a:r>
                        <a:rPr sz="1300" b="0">
                          <a:solidFill>
                            <a:srgbClr val="E6EDF3"/>
                          </a:solidFill>
                          <a:latin typeface="Segoe UI"/>
                        </a:rPr>
                        <a:t>64/64</a:t>
                      </a:r>
                    </a:p>
                  </a:txBody>
                  <a:tcPr marT="25400" marB="25400" marL="63500" marR="63500" anchor="ctr">
                    <a:solidFill>
                      <a:srgbClr val="0A0E14"/>
                    </a:solidFill>
                  </a:tcPr>
                </a:tc>
              </a:tr>
              <a:tr h="310896">
                <a:tc>
                  <a:txBody>
                    <a:bodyPr/>
                    <a:lstStyle/>
                    <a:p>
                      <a:r>
                        <a:rPr sz="1300" b="0">
                          <a:solidFill>
                            <a:srgbClr val="E6EDF3"/>
                          </a:solidFill>
                          <a:latin typeface="Segoe UI"/>
                        </a:rPr>
                        <a:t>4 dB</a:t>
                      </a:r>
                    </a:p>
                  </a:txBody>
                  <a:tcPr marT="25400" marB="25400" marL="63500" marR="63500" anchor="ctr">
                    <a:solidFill>
                      <a:srgbClr val="0F141C"/>
                    </a:solidFill>
                  </a:tcPr>
                </a:tc>
                <a:tc>
                  <a:txBody>
                    <a:bodyPr/>
                    <a:lstStyle/>
                    <a:p>
                      <a:r>
                        <a:rPr sz="1300" b="0">
                          <a:solidFill>
                            <a:srgbClr val="E6EDF3"/>
                          </a:solidFill>
                          <a:latin typeface="Segoe UI"/>
                        </a:rPr>
                        <a:t>2.44e-4</a:t>
                      </a:r>
                    </a:p>
                  </a:txBody>
                  <a:tcPr marT="25400" marB="25400" marL="63500" marR="63500" anchor="ctr">
                    <a:solidFill>
                      <a:srgbClr val="0F141C"/>
                    </a:solidFill>
                  </a:tcPr>
                </a:tc>
                <a:tc>
                  <a:txBody>
                    <a:bodyPr/>
                    <a:lstStyle/>
                    <a:p>
                      <a:r>
                        <a:rPr sz="1300" b="0">
                          <a:solidFill>
                            <a:srgbClr val="E6EDF3"/>
                          </a:solidFill>
                          <a:latin typeface="Segoe UI"/>
                        </a:rPr>
                        <a:t>3.71e-4</a:t>
                      </a:r>
                    </a:p>
                  </a:txBody>
                  <a:tcPr marT="25400" marB="25400" marL="63500" marR="63500" anchor="ctr">
                    <a:solidFill>
                      <a:srgbClr val="0F141C"/>
                    </a:solidFill>
                  </a:tcPr>
                </a:tc>
                <a:tc>
                  <a:txBody>
                    <a:bodyPr/>
                    <a:lstStyle/>
                    <a:p>
                      <a:r>
                        <a:rPr sz="1300" b="0">
                          <a:solidFill>
                            <a:srgbClr val="E6EDF3"/>
                          </a:solidFill>
                          <a:latin typeface="Segoe UI"/>
                        </a:rPr>
                        <a:t>0.0 %</a:t>
                      </a:r>
                    </a:p>
                  </a:txBody>
                  <a:tcPr marT="25400" marB="25400" marL="63500" marR="63500" anchor="ctr">
                    <a:solidFill>
                      <a:srgbClr val="0F141C"/>
                    </a:solidFill>
                  </a:tcPr>
                </a:tc>
                <a:tc>
                  <a:txBody>
                    <a:bodyPr/>
                    <a:lstStyle/>
                    <a:p>
                      <a:r>
                        <a:rPr sz="1300" b="0">
                          <a:solidFill>
                            <a:srgbClr val="E6EDF3"/>
                          </a:solidFill>
                          <a:latin typeface="Segoe UI"/>
                        </a:rPr>
                        <a:t>4.6 %</a:t>
                      </a:r>
                    </a:p>
                  </a:txBody>
                  <a:tcPr marT="25400" marB="25400" marL="63500" marR="63500" anchor="ctr">
                    <a:solidFill>
                      <a:srgbClr val="0F141C"/>
                    </a:solidFill>
                  </a:tcPr>
                </a:tc>
                <a:tc>
                  <a:txBody>
                    <a:bodyPr/>
                    <a:lstStyle/>
                    <a:p>
                      <a:r>
                        <a:rPr sz="1300" b="0">
                          <a:solidFill>
                            <a:srgbClr val="E6EDF3"/>
                          </a:solidFill>
                          <a:latin typeface="Segoe UI"/>
                        </a:rPr>
                        <a:t>64/64</a:t>
                      </a:r>
                    </a:p>
                  </a:txBody>
                  <a:tcPr marT="25400" marB="25400" marL="63500" marR="63500" anchor="ctr">
                    <a:solidFill>
                      <a:srgbClr val="0F141C"/>
                    </a:solidFill>
                  </a:tcPr>
                </a:tc>
              </a:tr>
              <a:tr h="310896">
                <a:tc>
                  <a:txBody>
                    <a:bodyPr/>
                    <a:lstStyle/>
                    <a:p>
                      <a:r>
                        <a:rPr sz="1300" b="0">
                          <a:solidFill>
                            <a:srgbClr val="E6EDF3"/>
                          </a:solidFill>
                          <a:latin typeface="Segoe UI"/>
                        </a:rPr>
                        <a:t>6 dB</a:t>
                      </a:r>
                    </a:p>
                  </a:txBody>
                  <a:tcPr marT="25400" marB="25400" marL="63500" marR="63500" anchor="ctr">
                    <a:solidFill>
                      <a:srgbClr val="0A0E14"/>
                    </a:solidFill>
                  </a:tcPr>
                </a:tc>
                <a:tc>
                  <a:txBody>
                    <a:bodyPr/>
                    <a:lstStyle/>
                    <a:p>
                      <a:r>
                        <a:rPr sz="1300" b="0">
                          <a:solidFill>
                            <a:srgbClr val="E6EDF3"/>
                          </a:solidFill>
                          <a:latin typeface="Segoe UI"/>
                        </a:rPr>
                        <a:t>3.05e-5</a:t>
                      </a:r>
                    </a:p>
                  </a:txBody>
                  <a:tcPr marT="25400" marB="25400" marL="63500" marR="63500" anchor="ctr">
                    <a:solidFill>
                      <a:srgbClr val="0A0E14"/>
                    </a:solidFill>
                  </a:tcPr>
                </a:tc>
                <a:tc>
                  <a:txBody>
                    <a:bodyPr/>
                    <a:lstStyle/>
                    <a:p>
                      <a:r>
                        <a:rPr sz="1300" b="0">
                          <a:solidFill>
                            <a:srgbClr val="E6EDF3"/>
                          </a:solidFill>
                          <a:latin typeface="Segoe UI"/>
                        </a:rPr>
                        <a:t>9.61e-5</a:t>
                      </a:r>
                    </a:p>
                  </a:txBody>
                  <a:tcPr marT="25400" marB="25400" marL="63500" marR="63500" anchor="ctr">
                    <a:solidFill>
                      <a:srgbClr val="0A0E14"/>
                    </a:solidFill>
                  </a:tcPr>
                </a:tc>
                <a:tc>
                  <a:txBody>
                    <a:bodyPr/>
                    <a:lstStyle/>
                    <a:p>
                      <a:r>
                        <a:rPr sz="1300" b="0">
                          <a:solidFill>
                            <a:srgbClr val="E6EDF3"/>
                          </a:solidFill>
                          <a:latin typeface="Segoe UI"/>
                        </a:rPr>
                        <a:t>0.0 %</a:t>
                      </a:r>
                    </a:p>
                  </a:txBody>
                  <a:tcPr marT="25400" marB="25400" marL="63500" marR="63500" anchor="ctr">
                    <a:solidFill>
                      <a:srgbClr val="0A0E14"/>
                    </a:solidFill>
                  </a:tcPr>
                </a:tc>
                <a:tc>
                  <a:txBody>
                    <a:bodyPr/>
                    <a:lstStyle/>
                    <a:p>
                      <a:r>
                        <a:rPr sz="1300" b="0">
                          <a:solidFill>
                            <a:srgbClr val="E6EDF3"/>
                          </a:solidFill>
                          <a:latin typeface="Segoe UI"/>
                        </a:rPr>
                        <a:t>1.2 %</a:t>
                      </a:r>
                    </a:p>
                  </a:txBody>
                  <a:tcPr marT="25400" marB="25400" marL="63500" marR="63500" anchor="ctr">
                    <a:solidFill>
                      <a:srgbClr val="0A0E14"/>
                    </a:solidFill>
                  </a:tcPr>
                </a:tc>
                <a:tc>
                  <a:txBody>
                    <a:bodyPr/>
                    <a:lstStyle/>
                    <a:p>
                      <a:r>
                        <a:rPr sz="1300" b="0">
                          <a:solidFill>
                            <a:srgbClr val="E6EDF3"/>
                          </a:solidFill>
                          <a:latin typeface="Segoe UI"/>
                        </a:rPr>
                        <a:t>64/64</a:t>
                      </a:r>
                    </a:p>
                  </a:txBody>
                  <a:tcPr marT="25400" marB="25400" marL="63500" marR="63500" anchor="ctr">
                    <a:solidFill>
                      <a:srgbClr val="0A0E14"/>
                    </a:solidFill>
                  </a:tcPr>
                </a:tc>
              </a:tr>
              <a:tr h="310896">
                <a:tc>
                  <a:txBody>
                    <a:bodyPr/>
                    <a:lstStyle/>
                    <a:p>
                      <a:r>
                        <a:rPr sz="1300" b="0">
                          <a:solidFill>
                            <a:srgbClr val="E6EDF3"/>
                          </a:solidFill>
                          <a:latin typeface="Segoe UI"/>
                        </a:rPr>
                        <a:t>8 dB</a:t>
                      </a:r>
                    </a:p>
                  </a:txBody>
                  <a:tcPr marT="25400" marB="25400" marL="63500" marR="63500" anchor="ctr">
                    <a:solidFill>
                      <a:srgbClr val="0F141C"/>
                    </a:solidFill>
                  </a:tcPr>
                </a:tc>
                <a:tc>
                  <a:txBody>
                    <a:bodyPr/>
                    <a:lstStyle/>
                    <a:p>
                      <a:r>
                        <a:rPr sz="1300" b="0">
                          <a:solidFill>
                            <a:srgbClr val="E6EDF3"/>
                          </a:solidFill>
                          <a:latin typeface="Segoe UI"/>
                        </a:rPr>
                        <a:t>0.00</a:t>
                      </a:r>
                    </a:p>
                  </a:txBody>
                  <a:tcPr marT="25400" marB="25400" marL="63500" marR="63500" anchor="ctr">
                    <a:solidFill>
                      <a:srgbClr val="0F141C"/>
                    </a:solidFill>
                  </a:tcPr>
                </a:tc>
                <a:tc>
                  <a:txBody>
                    <a:bodyPr/>
                    <a:lstStyle/>
                    <a:p>
                      <a:r>
                        <a:rPr sz="1300" b="0">
                          <a:solidFill>
                            <a:srgbClr val="E6EDF3"/>
                          </a:solidFill>
                          <a:latin typeface="Segoe UI"/>
                        </a:rPr>
                        <a:t>4.57e-5</a:t>
                      </a:r>
                    </a:p>
                  </a:txBody>
                  <a:tcPr marT="25400" marB="25400" marL="63500" marR="63500" anchor="ctr">
                    <a:solidFill>
                      <a:srgbClr val="0F141C"/>
                    </a:solidFill>
                  </a:tcPr>
                </a:tc>
                <a:tc>
                  <a:txBody>
                    <a:bodyPr/>
                    <a:lstStyle/>
                    <a:p>
                      <a:r>
                        <a:rPr sz="1300" b="0">
                          <a:solidFill>
                            <a:srgbClr val="E6EDF3"/>
                          </a:solidFill>
                          <a:latin typeface="Segoe UI"/>
                        </a:rPr>
                        <a:t>0.0 %</a:t>
                      </a:r>
                    </a:p>
                  </a:txBody>
                  <a:tcPr marT="25400" marB="25400" marL="63500" marR="63500" anchor="ctr">
                    <a:solidFill>
                      <a:srgbClr val="0F141C"/>
                    </a:solidFill>
                  </a:tcPr>
                </a:tc>
                <a:tc>
                  <a:txBody>
                    <a:bodyPr/>
                    <a:lstStyle/>
                    <a:p>
                      <a:r>
                        <a:rPr sz="1300" b="0">
                          <a:solidFill>
                            <a:srgbClr val="E6EDF3"/>
                          </a:solidFill>
                          <a:latin typeface="Segoe UI"/>
                        </a:rPr>
                        <a:t>0.6 %</a:t>
                      </a:r>
                    </a:p>
                  </a:txBody>
                  <a:tcPr marT="25400" marB="25400" marL="63500" marR="63500" anchor="ctr">
                    <a:solidFill>
                      <a:srgbClr val="0F141C"/>
                    </a:solidFill>
                  </a:tcPr>
                </a:tc>
                <a:tc>
                  <a:txBody>
                    <a:bodyPr/>
                    <a:lstStyle/>
                    <a:p>
                      <a:r>
                        <a:rPr sz="1300" b="0">
                          <a:solidFill>
                            <a:srgbClr val="E6EDF3"/>
                          </a:solidFill>
                          <a:latin typeface="Segoe UI"/>
                        </a:rPr>
                        <a:t>64/64</a:t>
                      </a:r>
                    </a:p>
                  </a:txBody>
                  <a:tcPr marT="25400" marB="25400" marL="63500" marR="63500" anchor="ctr">
                    <a:solidFill>
                      <a:srgbClr val="0F141C"/>
                    </a:solidFill>
                  </a:tcPr>
                </a:tc>
              </a:tr>
              <a:tr h="310896">
                <a:tc>
                  <a:txBody>
                    <a:bodyPr/>
                    <a:lstStyle/>
                    <a:p>
                      <a:r>
                        <a:rPr sz="1300" b="0">
                          <a:solidFill>
                            <a:srgbClr val="E6EDF3"/>
                          </a:solidFill>
                          <a:latin typeface="Segoe UI"/>
                        </a:rPr>
                        <a:t>10 dB</a:t>
                      </a:r>
                    </a:p>
                  </a:txBody>
                  <a:tcPr marT="25400" marB="25400" marL="63500" marR="63500" anchor="ctr">
                    <a:solidFill>
                      <a:srgbClr val="0A0E14"/>
                    </a:solidFill>
                  </a:tcPr>
                </a:tc>
                <a:tc>
                  <a:txBody>
                    <a:bodyPr/>
                    <a:lstStyle/>
                    <a:p>
                      <a:r>
                        <a:rPr sz="1300" b="0">
                          <a:solidFill>
                            <a:srgbClr val="E6EDF3"/>
                          </a:solidFill>
                          <a:latin typeface="Segoe UI"/>
                        </a:rPr>
                        <a:t>0.00</a:t>
                      </a:r>
                    </a:p>
                  </a:txBody>
                  <a:tcPr marT="25400" marB="25400" marL="63500" marR="63500" anchor="ctr">
                    <a:solidFill>
                      <a:srgbClr val="0A0E14"/>
                    </a:solidFill>
                  </a:tcPr>
                </a:tc>
                <a:tc>
                  <a:txBody>
                    <a:bodyPr/>
                    <a:lstStyle/>
                    <a:p>
                      <a:r>
                        <a:rPr sz="1300" b="0">
                          <a:solidFill>
                            <a:srgbClr val="E6EDF3"/>
                          </a:solidFill>
                          <a:latin typeface="Segoe UI"/>
                        </a:rPr>
                        <a:t>4.57e-5</a:t>
                      </a:r>
                    </a:p>
                  </a:txBody>
                  <a:tcPr marT="25400" marB="25400" marL="63500" marR="63500" anchor="ctr">
                    <a:solidFill>
                      <a:srgbClr val="0A0E14"/>
                    </a:solidFill>
                  </a:tcPr>
                </a:tc>
                <a:tc>
                  <a:txBody>
                    <a:bodyPr/>
                    <a:lstStyle/>
                    <a:p>
                      <a:r>
                        <a:rPr sz="1300" b="0">
                          <a:solidFill>
                            <a:srgbClr val="E6EDF3"/>
                          </a:solidFill>
                          <a:latin typeface="Segoe UI"/>
                        </a:rPr>
                        <a:t>0.0 %</a:t>
                      </a:r>
                    </a:p>
                  </a:txBody>
                  <a:tcPr marT="25400" marB="25400" marL="63500" marR="63500" anchor="ctr">
                    <a:solidFill>
                      <a:srgbClr val="0A0E14"/>
                    </a:solidFill>
                  </a:tcPr>
                </a:tc>
                <a:tc>
                  <a:txBody>
                    <a:bodyPr/>
                    <a:lstStyle/>
                    <a:p>
                      <a:r>
                        <a:rPr sz="1300" b="0">
                          <a:solidFill>
                            <a:srgbClr val="E6EDF3"/>
                          </a:solidFill>
                          <a:latin typeface="Segoe UI"/>
                        </a:rPr>
                        <a:t>0.6 %</a:t>
                      </a:r>
                    </a:p>
                  </a:txBody>
                  <a:tcPr marT="25400" marB="25400" marL="63500" marR="63500" anchor="ctr">
                    <a:solidFill>
                      <a:srgbClr val="0A0E14"/>
                    </a:solidFill>
                  </a:tcPr>
                </a:tc>
                <a:tc>
                  <a:txBody>
                    <a:bodyPr/>
                    <a:lstStyle/>
                    <a:p>
                      <a:r>
                        <a:rPr sz="1300" b="0">
                          <a:solidFill>
                            <a:srgbClr val="E6EDF3"/>
                          </a:solidFill>
                          <a:latin typeface="Segoe UI"/>
                        </a:rPr>
                        <a:t>64/64</a:t>
                      </a:r>
                    </a:p>
                  </a:txBody>
                  <a:tcPr marT="25400" marB="25400" marL="63500" marR="63500" anchor="ctr">
                    <a:solidFill>
                      <a:srgbClr val="0A0E1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600" b="1" i="0">
                <a:solidFill>
                  <a:srgbClr val="E6EDF3"/>
                </a:solidFill>
                <a:latin typeface="Segoe UI"/>
              </a:rPr>
              <a:t>Prior work — the four-way intersection</a:t>
            </a:r>
          </a:p>
        </p:txBody>
      </p:sp>
      <p:sp>
        <p:nvSpPr>
          <p:cNvPr id="3" name="TextBox 2"/>
          <p:cNvSpPr txBox="1"/>
          <p:nvPr/>
        </p:nvSpPr>
        <p:spPr>
          <a:xfrm>
            <a:off x="548640" y="1207008"/>
            <a:ext cx="11094415" cy="822960"/>
          </a:xfrm>
          <a:prstGeom prst="rect">
            <a:avLst/>
          </a:prstGeom>
          <a:noFill/>
        </p:spPr>
        <p:txBody>
          <a:bodyPr wrap="square">
            <a:spAutoFit/>
          </a:bodyPr>
          <a:lstStyle/>
          <a:p>
            <a:pPr>
              <a:spcAft>
                <a:spcPts val="600"/>
              </a:spcAft>
            </a:pPr>
            <a:r>
              <a:rPr sz="1200" b="0" i="0">
                <a:solidFill>
                  <a:srgbClr val="8B98A5"/>
                </a:solidFill>
                <a:latin typeface="Segoe UI"/>
              </a:rPr>
              <a:t>Elsevier draft, Table 9</a:t>
            </a:r>
          </a:p>
        </p:txBody>
      </p:sp>
      <p:graphicFrame>
        <p:nvGraphicFramePr>
          <p:cNvPr id="4" name="Table 3"/>
          <p:cNvGraphicFramePr>
            <a:graphicFrameLocks noGrp="1"/>
          </p:cNvGraphicFramePr>
          <p:nvPr/>
        </p:nvGraphicFramePr>
        <p:xfrm>
          <a:off x="502920" y="1783080"/>
          <a:ext cx="11185855" cy="2798064"/>
        </p:xfrm>
        <a:graphic>
          <a:graphicData uri="http://schemas.openxmlformats.org/drawingml/2006/table">
            <a:tbl>
              <a:tblPr firstRow="1" bandRow="1">
                <a:tableStyleId>{5C22544A-7EE6-4342-B048-85BDC9FD1C3A}</a:tableStyleId>
              </a:tblPr>
              <a:tblGrid>
                <a:gridCol w="1398231"/>
                <a:gridCol w="1398231"/>
                <a:gridCol w="1398231"/>
                <a:gridCol w="1398231"/>
                <a:gridCol w="1398231"/>
                <a:gridCol w="1398231"/>
                <a:gridCol w="1398231"/>
                <a:gridCol w="1398238"/>
              </a:tblGrid>
              <a:tr h="310896">
                <a:tc>
                  <a:txBody>
                    <a:bodyPr/>
                    <a:lstStyle/>
                    <a:p>
                      <a:r>
                        <a:rPr sz="1000" b="1">
                          <a:solidFill>
                            <a:srgbClr val="58A6FF"/>
                          </a:solidFill>
                          <a:latin typeface="Segoe UI"/>
                        </a:rPr>
                        <a:t>Approach</a:t>
                      </a:r>
                    </a:p>
                  </a:txBody>
                  <a:tcPr marT="25400" marB="25400" marL="63500" marR="63500" anchor="ctr">
                    <a:solidFill>
                      <a:srgbClr val="0A0E14"/>
                    </a:solidFill>
                  </a:tcPr>
                </a:tc>
                <a:tc>
                  <a:txBody>
                    <a:bodyPr/>
                    <a:lstStyle/>
                    <a:p>
                      <a:r>
                        <a:rPr sz="1000" b="1">
                          <a:solidFill>
                            <a:srgbClr val="58A6FF"/>
                          </a:solidFill>
                          <a:latin typeface="Segoe UI"/>
                        </a:rPr>
                        <a:t>Stealth mechanism</a:t>
                      </a:r>
                    </a:p>
                  </a:txBody>
                  <a:tcPr marT="25400" marB="25400" marL="63500" marR="63500" anchor="ctr">
                    <a:solidFill>
                      <a:srgbClr val="0A0E14"/>
                    </a:solidFill>
                  </a:tcPr>
                </a:tc>
                <a:tc>
                  <a:txBody>
                    <a:bodyPr/>
                    <a:lstStyle/>
                    <a:p>
                      <a:r>
                        <a:rPr sz="1000" b="1">
                          <a:solidFill>
                            <a:srgbClr val="58A6FF"/>
                          </a:solidFill>
                          <a:latin typeface="Segoe UI"/>
                        </a:rPr>
                        <a:t>BER</a:t>
                      </a:r>
                    </a:p>
                  </a:txBody>
                  <a:tcPr marT="25400" marB="25400" marL="63500" marR="63500" anchor="ctr">
                    <a:solidFill>
                      <a:srgbClr val="0A0E14"/>
                    </a:solidFill>
                  </a:tcPr>
                </a:tc>
                <a:tc>
                  <a:txBody>
                    <a:bodyPr/>
                    <a:lstStyle/>
                    <a:p>
                      <a:r>
                        <a:rPr sz="1000" b="1">
                          <a:solidFill>
                            <a:srgbClr val="58A6FF"/>
                          </a:solidFill>
                          <a:latin typeface="Segoe UI"/>
                        </a:rPr>
                        <a:t>Hardware</a:t>
                      </a:r>
                    </a:p>
                  </a:txBody>
                  <a:tcPr marT="25400" marB="25400" marL="63500" marR="63500" anchor="ctr">
                    <a:solidFill>
                      <a:srgbClr val="0A0E14"/>
                    </a:solidFill>
                  </a:tcPr>
                </a:tc>
                <a:tc>
                  <a:txBody>
                    <a:bodyPr/>
                    <a:lstStyle/>
                    <a:p>
                      <a:r>
                        <a:rPr sz="1000" b="1">
                          <a:solidFill>
                            <a:srgbClr val="58A6FF"/>
                          </a:solidFill>
                          <a:latin typeface="Segoe UI"/>
                        </a:rPr>
                        <a:t>Encrypted</a:t>
                      </a:r>
                    </a:p>
                  </a:txBody>
                  <a:tcPr marT="25400" marB="25400" marL="63500" marR="63500" anchor="ctr">
                    <a:solidFill>
                      <a:srgbClr val="0A0E14"/>
                    </a:solidFill>
                  </a:tcPr>
                </a:tc>
                <a:tc>
                  <a:txBody>
                    <a:bodyPr/>
                    <a:lstStyle/>
                    <a:p>
                      <a:r>
                        <a:rPr sz="1000" b="1">
                          <a:solidFill>
                            <a:srgbClr val="58A6FF"/>
                          </a:solidFill>
                          <a:latin typeface="Segoe UI"/>
                        </a:rPr>
                        <a:t>EW domains</a:t>
                      </a:r>
                    </a:p>
                  </a:txBody>
                  <a:tcPr marT="25400" marB="25400" marL="63500" marR="63500" anchor="ctr">
                    <a:solidFill>
                      <a:srgbClr val="0A0E14"/>
                    </a:solidFill>
                  </a:tcPr>
                </a:tc>
                <a:tc>
                  <a:txBody>
                    <a:bodyPr/>
                    <a:lstStyle/>
                    <a:p>
                      <a:r>
                        <a:rPr sz="1000" b="1">
                          <a:solidFill>
                            <a:srgbClr val="58A6FF"/>
                          </a:solidFill>
                          <a:latin typeface="Segoe UI"/>
                        </a:rPr>
                        <a:t>Few-shot</a:t>
                      </a:r>
                    </a:p>
                  </a:txBody>
                  <a:tcPr marT="25400" marB="25400" marL="63500" marR="63500" anchor="ctr">
                    <a:solidFill>
                      <a:srgbClr val="0A0E14"/>
                    </a:solidFill>
                  </a:tcPr>
                </a:tc>
                <a:tc>
                  <a:txBody>
                    <a:bodyPr/>
                    <a:lstStyle/>
                    <a:p>
                      <a:r>
                        <a:rPr sz="1000" b="1">
                          <a:solidFill>
                            <a:srgbClr val="58A6FF"/>
                          </a:solidFill>
                          <a:latin typeface="Segoe UI"/>
                        </a:rPr>
                        <a:t>Note</a:t>
                      </a:r>
                    </a:p>
                  </a:txBody>
                  <a:tcPr marT="25400" marB="25400" marL="63500" marR="63500" anchor="ctr">
                    <a:solidFill>
                      <a:srgbClr val="0A0E14"/>
                    </a:solidFill>
                  </a:tcPr>
                </a:tc>
              </a:tr>
              <a:tr h="310896">
                <a:tc>
                  <a:txBody>
                    <a:bodyPr/>
                    <a:lstStyle/>
                    <a:p>
                      <a:r>
                        <a:rPr sz="1000" b="0">
                          <a:solidFill>
                            <a:srgbClr val="E6EDF3"/>
                          </a:solidFill>
                          <a:latin typeface="Segoe UI"/>
                        </a:rPr>
                        <a:t>DSSS / FHSS</a:t>
                      </a:r>
                    </a:p>
                  </a:txBody>
                  <a:tcPr marT="25400" marB="25400" marL="63500" marR="63500" anchor="ctr">
                    <a:solidFill>
                      <a:srgbClr val="0F141C"/>
                    </a:solidFill>
                  </a:tcPr>
                </a:tc>
                <a:tc>
                  <a:txBody>
                    <a:bodyPr/>
                    <a:lstStyle/>
                    <a:p>
                      <a:r>
                        <a:rPr sz="1000" b="0">
                          <a:solidFill>
                            <a:srgbClr val="E6EDF3"/>
                          </a:solidFill>
                          <a:latin typeface="Segoe UI"/>
                        </a:rPr>
                        <a:t>PN spreading</a:t>
                      </a:r>
                    </a:p>
                  </a:txBody>
                  <a:tcPr marT="25400" marB="25400" marL="63500" marR="63500" anchor="ctr">
                    <a:solidFill>
                      <a:srgbClr val="0F141C"/>
                    </a:solidFill>
                  </a:tcPr>
                </a:tc>
                <a:tc>
                  <a:txBody>
                    <a:bodyPr/>
                    <a:lstStyle/>
                    <a:p>
                      <a:r>
                        <a:rPr sz="1000" b="0">
                          <a:solidFill>
                            <a:srgbClr val="E6EDF3"/>
                          </a:solidFill>
                          <a:latin typeface="Segoe UI"/>
                        </a:rPr>
                        <a:t>1e-3</a:t>
                      </a:r>
                    </a:p>
                  </a:txBody>
                  <a:tcPr marT="25400" marB="25400" marL="63500" marR="63500" anchor="ctr">
                    <a:solidFill>
                      <a:srgbClr val="0F141C"/>
                    </a:solidFill>
                  </a:tcPr>
                </a:tc>
                <a:tc>
                  <a:txBody>
                    <a:bodyPr/>
                    <a:lstStyle/>
                    <a:p>
                      <a:r>
                        <a:rPr sz="1000" b="0">
                          <a:solidFill>
                            <a:srgbClr val="E6EDF3"/>
                          </a:solidFill>
                          <a:latin typeface="Segoe UI"/>
                        </a:rPr>
                        <a:t>deployed</a:t>
                      </a:r>
                    </a:p>
                  </a:txBody>
                  <a:tcPr marT="25400" marB="25400" marL="63500" marR="63500" anchor="ctr">
                    <a:solidFill>
                      <a:srgbClr val="0F141C"/>
                    </a:solidFill>
                  </a:tcPr>
                </a:tc>
                <a:tc>
                  <a:txBody>
                    <a:bodyPr/>
                    <a:lstStyle/>
                    <a:p>
                      <a:r>
                        <a:rPr sz="1000" b="0">
                          <a:solidFill>
                            <a:srgbClr val="E6EDF3"/>
                          </a:solidFill>
                          <a:latin typeface="Segoe UI"/>
                        </a:rPr>
                        <a:t>no</a:t>
                      </a:r>
                    </a:p>
                  </a:txBody>
                  <a:tcPr marT="25400" marB="25400" marL="63500" marR="63500" anchor="ctr">
                    <a:solidFill>
                      <a:srgbClr val="0F141C"/>
                    </a:solidFill>
                  </a:tcPr>
                </a:tc>
                <a:tc>
                  <a:txBody>
                    <a:bodyPr/>
                    <a:lstStyle/>
                    <a:p>
                      <a:r>
                        <a:rPr sz="1000" b="0">
                          <a:solidFill>
                            <a:srgbClr val="E6EDF3"/>
                          </a:solidFill>
                          <a:latin typeface="Segoe UI"/>
                        </a:rPr>
                        <a:t>external</a:t>
                      </a:r>
                    </a:p>
                  </a:txBody>
                  <a:tcPr marT="25400" marB="25400" marL="63500" marR="63500" anchor="ctr">
                    <a:solidFill>
                      <a:srgbClr val="0F141C"/>
                    </a:solidFill>
                  </a:tcPr>
                </a:tc>
                <a:tc>
                  <a:txBody>
                    <a:bodyPr/>
                    <a:lstStyle/>
                    <a:p>
                      <a:r>
                        <a:rPr sz="1000" b="0">
                          <a:solidFill>
                            <a:srgbClr val="E6EDF3"/>
                          </a:solidFill>
                          <a:latin typeface="Segoe UI"/>
                        </a:rPr>
                        <a:t>1</a:t>
                      </a:r>
                    </a:p>
                  </a:txBody>
                  <a:tcPr marT="25400" marB="25400" marL="63500" marR="63500" anchor="ctr">
                    <a:solidFill>
                      <a:srgbClr val="0F141C"/>
                    </a:solidFill>
                  </a:tcPr>
                </a:tc>
                <a:tc>
                  <a:txBody>
                    <a:bodyPr/>
                    <a:lstStyle/>
                    <a:p>
                      <a:r>
                        <a:rPr sz="1000" b="0">
                          <a:solidFill>
                            <a:srgbClr val="E6EDF3"/>
                          </a:solidFill>
                          <a:latin typeface="Segoe UI"/>
                        </a:rPr>
                        <a:t>cyclostationary code/hop rate is visible</a:t>
                      </a:r>
                    </a:p>
                  </a:txBody>
                  <a:tcPr marT="25400" marB="25400" marL="63500" marR="63500" anchor="ctr">
                    <a:solidFill>
                      <a:srgbClr val="0F141C"/>
                    </a:solidFill>
                  </a:tcPr>
                </a:tc>
              </a:tr>
              <a:tr h="310896">
                <a:tc>
                  <a:txBody>
                    <a:bodyPr/>
                    <a:lstStyle/>
                    <a:p>
                      <a:r>
                        <a:rPr sz="1000" b="0">
                          <a:solidFill>
                            <a:srgbClr val="E6EDF3"/>
                          </a:solidFill>
                          <a:latin typeface="Segoe UI"/>
                        </a:rPr>
                        <a:t>Channel autoencoder</a:t>
                      </a:r>
                    </a:p>
                  </a:txBody>
                  <a:tcPr marT="25400" marB="25400" marL="63500" marR="63500" anchor="ctr">
                    <a:solidFill>
                      <a:srgbClr val="0A0E14"/>
                    </a:solidFill>
                  </a:tcPr>
                </a:tc>
                <a:tc>
                  <a:txBody>
                    <a:bodyPr/>
                    <a:lstStyle/>
                    <a:p>
                      <a:r>
                        <a:rPr sz="1000" b="0">
                          <a:solidFill>
                            <a:srgbClr val="E6EDF3"/>
                          </a:solidFill>
                          <a:latin typeface="Segoe UI"/>
                        </a:rPr>
                        <a:t>end-to-end optimised</a:t>
                      </a:r>
                    </a:p>
                  </a:txBody>
                  <a:tcPr marT="25400" marB="25400" marL="63500" marR="63500" anchor="ctr">
                    <a:solidFill>
                      <a:srgbClr val="0A0E14"/>
                    </a:solidFill>
                  </a:tcPr>
                </a:tc>
                <a:tc>
                  <a:txBody>
                    <a:bodyPr/>
                    <a:lstStyle/>
                    <a:p>
                      <a:r>
                        <a:rPr sz="1000" b="0">
                          <a:solidFill>
                            <a:srgbClr val="E6EDF3"/>
                          </a:solidFill>
                          <a:latin typeface="Segoe UI"/>
                        </a:rPr>
                        <a:t>1e-4</a:t>
                      </a:r>
                    </a:p>
                  </a:txBody>
                  <a:tcPr marT="25400" marB="25400" marL="63500" marR="63500" anchor="ctr">
                    <a:solidFill>
                      <a:srgbClr val="0A0E14"/>
                    </a:solidFill>
                  </a:tcPr>
                </a:tc>
                <a:tc>
                  <a:txBody>
                    <a:bodyPr/>
                    <a:lstStyle/>
                    <a:p>
                      <a:r>
                        <a:rPr sz="1000" b="0">
                          <a:solidFill>
                            <a:srgbClr val="E6EDF3"/>
                          </a:solidFill>
                          <a:latin typeface="Segoe UI"/>
                        </a:rPr>
                        <a:t>USRP</a:t>
                      </a:r>
                    </a:p>
                  </a:txBody>
                  <a:tcPr marT="25400" marB="25400" marL="63500" marR="63500" anchor="ctr">
                    <a:solidFill>
                      <a:srgbClr val="0A0E14"/>
                    </a:solidFill>
                  </a:tcPr>
                </a:tc>
                <a:tc>
                  <a:txBody>
                    <a:bodyPr/>
                    <a:lstStyle/>
                    <a:p>
                      <a:r>
                        <a:rPr sz="1000" b="0">
                          <a:solidFill>
                            <a:srgbClr val="E6EDF3"/>
                          </a:solidFill>
                          <a:latin typeface="Segoe UI"/>
                        </a:rPr>
                        <a:t>yes</a:t>
                      </a:r>
                    </a:p>
                  </a:txBody>
                  <a:tcPr marT="25400" marB="25400" marL="63500" marR="63500" anchor="ctr">
                    <a:solidFill>
                      <a:srgbClr val="0A0E14"/>
                    </a:solidFill>
                  </a:tcPr>
                </a:tc>
                <a:tc>
                  <a:txBody>
                    <a:bodyPr/>
                    <a:lstStyle/>
                    <a:p>
                      <a:r>
                        <a:rPr sz="1000" b="0">
                          <a:solidFill>
                            <a:srgbClr val="E6EDF3"/>
                          </a:solidFill>
                          <a:latin typeface="Segoe UI"/>
                        </a:rPr>
                        <a:t>no</a:t>
                      </a:r>
                    </a:p>
                  </a:txBody>
                  <a:tcPr marT="25400" marB="25400" marL="63500" marR="63500" anchor="ctr">
                    <a:solidFill>
                      <a:srgbClr val="0A0E14"/>
                    </a:solidFill>
                  </a:tcPr>
                </a:tc>
                <a:tc>
                  <a:txBody>
                    <a:bodyPr/>
                    <a:lstStyle/>
                    <a:p>
                      <a:r>
                        <a:rPr sz="1000" b="0">
                          <a:solidFill>
                            <a:srgbClr val="E6EDF3"/>
                          </a:solidFill>
                          <a:latin typeface="Segoe UI"/>
                        </a:rPr>
                        <a:t>0</a:t>
                      </a:r>
                    </a:p>
                  </a:txBody>
                  <a:tcPr marT="25400" marB="25400" marL="63500" marR="63500" anchor="ctr">
                    <a:solidFill>
                      <a:srgbClr val="0A0E14"/>
                    </a:solidFill>
                  </a:tcPr>
                </a:tc>
                <a:tc>
                  <a:txBody>
                    <a:bodyPr/>
                    <a:lstStyle/>
                    <a:p>
                      <a:r>
                        <a:rPr sz="1000" b="0">
                          <a:solidFill>
                            <a:srgbClr val="E6EDF3"/>
                          </a:solidFill>
                          <a:latin typeface="Segoe UI"/>
                        </a:rPr>
                        <a:t>elegant, but zero EW domains tested</a:t>
                      </a:r>
                    </a:p>
                  </a:txBody>
                  <a:tcPr marT="25400" marB="25400" marL="63500" marR="63500" anchor="ctr">
                    <a:solidFill>
                      <a:srgbClr val="0A0E14"/>
                    </a:solidFill>
                  </a:tcPr>
                </a:tc>
              </a:tr>
              <a:tr h="310896">
                <a:tc>
                  <a:txBody>
                    <a:bodyPr/>
                    <a:lstStyle/>
                    <a:p>
                      <a:r>
                        <a:rPr sz="1000" b="0">
                          <a:solidFill>
                            <a:srgbClr val="E6EDF3"/>
                          </a:solidFill>
                          <a:latin typeface="Segoe UI"/>
                        </a:rPr>
                        <a:t>AE + smoothing</a:t>
                      </a:r>
                    </a:p>
                  </a:txBody>
                  <a:tcPr marT="25400" marB="25400" marL="63500" marR="63500" anchor="ctr">
                    <a:solidFill>
                      <a:srgbClr val="0F141C"/>
                    </a:solidFill>
                  </a:tcPr>
                </a:tc>
                <a:tc>
                  <a:txBody>
                    <a:bodyPr/>
                    <a:lstStyle/>
                    <a:p>
                      <a:r>
                        <a:rPr sz="1000" b="0">
                          <a:solidFill>
                            <a:srgbClr val="E6EDF3"/>
                          </a:solidFill>
                          <a:latin typeface="Segoe UI"/>
                        </a:rPr>
                        <a:t>interference suppression</a:t>
                      </a:r>
                    </a:p>
                  </a:txBody>
                  <a:tcPr marT="25400" marB="25400" marL="63500" marR="63500" anchor="ctr">
                    <a:solidFill>
                      <a:srgbClr val="0F141C"/>
                    </a:solidFill>
                  </a:tcPr>
                </a:tc>
                <a:tc>
                  <a:txBody>
                    <a:bodyPr/>
                    <a:lstStyle/>
                    <a:p>
                      <a:r>
                        <a:rPr sz="1000" b="0">
                          <a:solidFill>
                            <a:srgbClr val="E6EDF3"/>
                          </a:solidFill>
                          <a:latin typeface="Segoe UI"/>
                        </a:rPr>
                        <a:t>variable</a:t>
                      </a:r>
                    </a:p>
                  </a:txBody>
                  <a:tcPr marT="25400" marB="25400" marL="63500" marR="63500" anchor="ctr">
                    <a:solidFill>
                      <a:srgbClr val="0F141C"/>
                    </a:solidFill>
                  </a:tcPr>
                </a:tc>
                <a:tc>
                  <a:txBody>
                    <a:bodyPr/>
                    <a:lstStyle/>
                    <a:p>
                      <a:r>
                        <a:rPr sz="1000" b="0">
                          <a:solidFill>
                            <a:srgbClr val="E6EDF3"/>
                          </a:solidFill>
                          <a:latin typeface="Segoe UI"/>
                        </a:rPr>
                        <a:t>sim only</a:t>
                      </a:r>
                    </a:p>
                  </a:txBody>
                  <a:tcPr marT="25400" marB="25400" marL="63500" marR="63500" anchor="ctr">
                    <a:solidFill>
                      <a:srgbClr val="0F141C"/>
                    </a:solidFill>
                  </a:tcPr>
                </a:tc>
                <a:tc>
                  <a:txBody>
                    <a:bodyPr/>
                    <a:lstStyle/>
                    <a:p>
                      <a:r>
                        <a:rPr sz="1000" b="0">
                          <a:solidFill>
                            <a:srgbClr val="E6EDF3"/>
                          </a:solidFill>
                          <a:latin typeface="Segoe UI"/>
                        </a:rPr>
                        <a:t>yes</a:t>
                      </a:r>
                    </a:p>
                  </a:txBody>
                  <a:tcPr marT="25400" marB="25400" marL="63500" marR="63500" anchor="ctr">
                    <a:solidFill>
                      <a:srgbClr val="0F141C"/>
                    </a:solidFill>
                  </a:tcPr>
                </a:tc>
                <a:tc>
                  <a:txBody>
                    <a:bodyPr/>
                    <a:lstStyle/>
                    <a:p>
                      <a:r>
                        <a:rPr sz="1000" b="0">
                          <a:solidFill>
                            <a:srgbClr val="E6EDF3"/>
                          </a:solidFill>
                          <a:latin typeface="Segoe UI"/>
                        </a:rPr>
                        <a:t>no</a:t>
                      </a:r>
                    </a:p>
                  </a:txBody>
                  <a:tcPr marT="25400" marB="25400" marL="63500" marR="63500" anchor="ctr">
                    <a:solidFill>
                      <a:srgbClr val="0F141C"/>
                    </a:solidFill>
                  </a:tcPr>
                </a:tc>
                <a:tc>
                  <a:txBody>
                    <a:bodyPr/>
                    <a:lstStyle/>
                    <a:p>
                      <a:r>
                        <a:rPr sz="1000" b="0">
                          <a:solidFill>
                            <a:srgbClr val="E6EDF3"/>
                          </a:solidFill>
                          <a:latin typeface="Segoe UI"/>
                        </a:rPr>
                        <a:t>0</a:t>
                      </a:r>
                    </a:p>
                  </a:txBody>
                  <a:tcPr marT="25400" marB="25400" marL="63500" marR="63500" anchor="ctr">
                    <a:solidFill>
                      <a:srgbClr val="0F141C"/>
                    </a:solidFill>
                  </a:tcPr>
                </a:tc>
                <a:tc>
                  <a:txBody>
                    <a:bodyPr/>
                    <a:lstStyle/>
                    <a:p>
                      <a:r>
                        <a:rPr sz="1000" b="0">
                          <a:solidFill>
                            <a:srgbClr val="E6EDF3"/>
                          </a:solidFill>
                          <a:latin typeface="Segoe UI"/>
                        </a:rPr>
                        <a:t>simulation only</a:t>
                      </a:r>
                    </a:p>
                  </a:txBody>
                  <a:tcPr marT="25400" marB="25400" marL="63500" marR="63500" anchor="ctr">
                    <a:solidFill>
                      <a:srgbClr val="0F141C"/>
                    </a:solidFill>
                  </a:tcPr>
                </a:tc>
              </a:tr>
              <a:tr h="310896">
                <a:tc>
                  <a:txBody>
                    <a:bodyPr/>
                    <a:lstStyle/>
                    <a:p>
                      <a:r>
                        <a:rPr sz="1000" b="0">
                          <a:solidFill>
                            <a:srgbClr val="E6EDF3"/>
                          </a:solidFill>
                          <a:latin typeface="Segoe UI"/>
                        </a:rPr>
                        <a:t>Deep complex CNN</a:t>
                      </a:r>
                    </a:p>
                  </a:txBody>
                  <a:tcPr marT="25400" marB="25400" marL="63500" marR="63500" anchor="ctr">
                    <a:solidFill>
                      <a:srgbClr val="0A0E14"/>
                    </a:solidFill>
                  </a:tcPr>
                </a:tc>
                <a:tc>
                  <a:txBody>
                    <a:bodyPr/>
                    <a:lstStyle/>
                    <a:p>
                      <a:r>
                        <a:rPr sz="1000" b="0">
                          <a:solidFill>
                            <a:srgbClr val="E6EDF3"/>
                          </a:solidFill>
                          <a:latin typeface="Segoe UI"/>
                        </a:rPr>
                        <a:t>complex-valued NN</a:t>
                      </a:r>
                    </a:p>
                  </a:txBody>
                  <a:tcPr marT="25400" marB="25400" marL="63500" marR="63500" anchor="ctr">
                    <a:solidFill>
                      <a:srgbClr val="0A0E14"/>
                    </a:solidFill>
                  </a:tcPr>
                </a:tc>
                <a:tc>
                  <a:txBody>
                    <a:bodyPr/>
                    <a:lstStyle/>
                    <a:p>
                      <a:r>
                        <a:rPr sz="1000" b="0">
                          <a:solidFill>
                            <a:srgbClr val="E6EDF3"/>
                          </a:solidFill>
                          <a:latin typeface="Segoe UI"/>
                        </a:rPr>
                        <a:t>1e-2</a:t>
                      </a:r>
                    </a:p>
                  </a:txBody>
                  <a:tcPr marT="25400" marB="25400" marL="63500" marR="63500" anchor="ctr">
                    <a:solidFill>
                      <a:srgbClr val="0A0E14"/>
                    </a:solidFill>
                  </a:tcPr>
                </a:tc>
                <a:tc>
                  <a:txBody>
                    <a:bodyPr/>
                    <a:lstStyle/>
                    <a:p>
                      <a:r>
                        <a:rPr sz="1000" b="0">
                          <a:solidFill>
                            <a:srgbClr val="E6EDF3"/>
                          </a:solidFill>
                          <a:latin typeface="Segoe UI"/>
                        </a:rPr>
                        <a:t>sim only</a:t>
                      </a:r>
                    </a:p>
                  </a:txBody>
                  <a:tcPr marT="25400" marB="25400" marL="63500" marR="63500" anchor="ctr">
                    <a:solidFill>
                      <a:srgbClr val="0A0E14"/>
                    </a:solidFill>
                  </a:tcPr>
                </a:tc>
                <a:tc>
                  <a:txBody>
                    <a:bodyPr/>
                    <a:lstStyle/>
                    <a:p>
                      <a:r>
                        <a:rPr sz="1000" b="0">
                          <a:solidFill>
                            <a:srgbClr val="E6EDF3"/>
                          </a:solidFill>
                          <a:latin typeface="Segoe UI"/>
                        </a:rPr>
                        <a:t>yes</a:t>
                      </a:r>
                    </a:p>
                  </a:txBody>
                  <a:tcPr marT="25400" marB="25400" marL="63500" marR="63500" anchor="ctr">
                    <a:solidFill>
                      <a:srgbClr val="0A0E14"/>
                    </a:solidFill>
                  </a:tcPr>
                </a:tc>
                <a:tc>
                  <a:txBody>
                    <a:bodyPr/>
                    <a:lstStyle/>
                    <a:p>
                      <a:r>
                        <a:rPr sz="1000" b="0">
                          <a:solidFill>
                            <a:srgbClr val="E6EDF3"/>
                          </a:solidFill>
                          <a:latin typeface="Segoe UI"/>
                        </a:rPr>
                        <a:t>no</a:t>
                      </a:r>
                    </a:p>
                  </a:txBody>
                  <a:tcPr marT="25400" marB="25400" marL="63500" marR="63500" anchor="ctr">
                    <a:solidFill>
                      <a:srgbClr val="0A0E14"/>
                    </a:solidFill>
                  </a:tcPr>
                </a:tc>
                <a:tc>
                  <a:txBody>
                    <a:bodyPr/>
                    <a:lstStyle/>
                    <a:p>
                      <a:r>
                        <a:rPr sz="1000" b="0">
                          <a:solidFill>
                            <a:srgbClr val="E6EDF3"/>
                          </a:solidFill>
                          <a:latin typeface="Segoe UI"/>
                        </a:rPr>
                        <a:t>0</a:t>
                      </a:r>
                    </a:p>
                  </a:txBody>
                  <a:tcPr marT="25400" marB="25400" marL="63500" marR="63500" anchor="ctr">
                    <a:solidFill>
                      <a:srgbClr val="0A0E14"/>
                    </a:solidFill>
                  </a:tcPr>
                </a:tc>
                <a:tc>
                  <a:txBody>
                    <a:bodyPr/>
                    <a:lstStyle/>
                    <a:p>
                      <a:r>
                        <a:rPr sz="1000" b="0">
                          <a:solidFill>
                            <a:srgbClr val="E6EDF3"/>
                          </a:solidFill>
                          <a:latin typeface="Segoe UI"/>
                        </a:rPr>
                        <a:t>simulation only</a:t>
                      </a:r>
                    </a:p>
                  </a:txBody>
                  <a:tcPr marT="25400" marB="25400" marL="63500" marR="63500" anchor="ctr">
                    <a:solidFill>
                      <a:srgbClr val="0A0E14"/>
                    </a:solidFill>
                  </a:tcPr>
                </a:tc>
              </a:tr>
              <a:tr h="310896">
                <a:tc>
                  <a:txBody>
                    <a:bodyPr/>
                    <a:lstStyle/>
                    <a:p>
                      <a:r>
                        <a:rPr sz="1000" b="0">
                          <a:solidFill>
                            <a:srgbClr val="E6EDF3"/>
                          </a:solidFill>
                          <a:latin typeface="Segoe UI"/>
                        </a:rPr>
                        <a:t>GAN power optimisation</a:t>
                      </a:r>
                    </a:p>
                  </a:txBody>
                  <a:tcPr marT="25400" marB="25400" marL="63500" marR="63500" anchor="ctr">
                    <a:solidFill>
                      <a:srgbClr val="0F141C"/>
                    </a:solidFill>
                  </a:tcPr>
                </a:tc>
                <a:tc>
                  <a:txBody>
                    <a:bodyPr/>
                    <a:lstStyle/>
                    <a:p>
                      <a:r>
                        <a:rPr sz="1000" b="0">
                          <a:solidFill>
                            <a:srgbClr val="E6EDF3"/>
                          </a:solidFill>
                          <a:latin typeface="Segoe UI"/>
                        </a:rPr>
                        <a:t>power theoretic</a:t>
                      </a:r>
                    </a:p>
                  </a:txBody>
                  <a:tcPr marT="25400" marB="25400" marL="63500" marR="63500" anchor="ctr">
                    <a:solidFill>
                      <a:srgbClr val="0F141C"/>
                    </a:solidFill>
                  </a:tcPr>
                </a:tc>
                <a:tc>
                  <a:txBody>
                    <a:bodyPr/>
                    <a:lstStyle/>
                    <a:p>
                      <a:r>
                        <a:rPr sz="1000" b="0">
                          <a:solidFill>
                            <a:srgbClr val="E6EDF3"/>
                          </a:solidFill>
                          <a:latin typeface="Segoe UI"/>
                        </a:rPr>
                        <a:t>N/R</a:t>
                      </a:r>
                    </a:p>
                  </a:txBody>
                  <a:tcPr marT="25400" marB="25400" marL="63500" marR="63500" anchor="ctr">
                    <a:solidFill>
                      <a:srgbClr val="0F141C"/>
                    </a:solidFill>
                  </a:tcPr>
                </a:tc>
                <a:tc>
                  <a:txBody>
                    <a:bodyPr/>
                    <a:lstStyle/>
                    <a:p>
                      <a:r>
                        <a:rPr sz="1000" b="0">
                          <a:solidFill>
                            <a:srgbClr val="E6EDF3"/>
                          </a:solidFill>
                          <a:latin typeface="Segoe UI"/>
                        </a:rPr>
                        <a:t>sim only</a:t>
                      </a:r>
                    </a:p>
                  </a:txBody>
                  <a:tcPr marT="25400" marB="25400" marL="63500" marR="63500" anchor="ctr">
                    <a:solidFill>
                      <a:srgbClr val="0F141C"/>
                    </a:solidFill>
                  </a:tcPr>
                </a:tc>
                <a:tc>
                  <a:txBody>
                    <a:bodyPr/>
                    <a:lstStyle/>
                    <a:p>
                      <a:r>
                        <a:rPr sz="1000" b="0">
                          <a:solidFill>
                            <a:srgbClr val="E6EDF3"/>
                          </a:solidFill>
                          <a:latin typeface="Segoe UI"/>
                        </a:rPr>
                        <a:t>yes</a:t>
                      </a:r>
                    </a:p>
                  </a:txBody>
                  <a:tcPr marT="25400" marB="25400" marL="63500" marR="63500" anchor="ctr">
                    <a:solidFill>
                      <a:srgbClr val="0F141C"/>
                    </a:solidFill>
                  </a:tcPr>
                </a:tc>
                <a:tc>
                  <a:txBody>
                    <a:bodyPr/>
                    <a:lstStyle/>
                    <a:p>
                      <a:r>
                        <a:rPr sz="1000" b="0">
                          <a:solidFill>
                            <a:srgbClr val="E6EDF3"/>
                          </a:solidFill>
                          <a:latin typeface="Segoe UI"/>
                        </a:rPr>
                        <a:t>no</a:t>
                      </a:r>
                    </a:p>
                  </a:txBody>
                  <a:tcPr marT="25400" marB="25400" marL="63500" marR="63500" anchor="ctr">
                    <a:solidFill>
                      <a:srgbClr val="0F141C"/>
                    </a:solidFill>
                  </a:tcPr>
                </a:tc>
                <a:tc>
                  <a:txBody>
                    <a:bodyPr/>
                    <a:lstStyle/>
                    <a:p>
                      <a:r>
                        <a:rPr sz="1000" b="0">
                          <a:solidFill>
                            <a:srgbClr val="E6EDF3"/>
                          </a:solidFill>
                          <a:latin typeface="Segoe UI"/>
                        </a:rPr>
                        <a:t>0</a:t>
                      </a:r>
                    </a:p>
                  </a:txBody>
                  <a:tcPr marT="25400" marB="25400" marL="63500" marR="63500" anchor="ctr">
                    <a:solidFill>
                      <a:srgbClr val="0F141C"/>
                    </a:solidFill>
                  </a:tcPr>
                </a:tc>
                <a:tc>
                  <a:txBody>
                    <a:bodyPr/>
                    <a:lstStyle/>
                    <a:p>
                      <a:r>
                        <a:rPr sz="1000" b="0">
                          <a:solidFill>
                            <a:srgbClr val="E6EDF3"/>
                          </a:solidFill>
                          <a:latin typeface="Segoe UI"/>
                        </a:rPr>
                        <a:t>power only, no multi-domain test</a:t>
                      </a:r>
                    </a:p>
                  </a:txBody>
                  <a:tcPr marT="25400" marB="25400" marL="63500" marR="63500" anchor="ctr">
                    <a:solidFill>
                      <a:srgbClr val="0F141C"/>
                    </a:solidFill>
                  </a:tcPr>
                </a:tc>
              </a:tr>
              <a:tr h="310896">
                <a:tc>
                  <a:txBody>
                    <a:bodyPr/>
                    <a:lstStyle/>
                    <a:p>
                      <a:r>
                        <a:rPr sz="1000" b="0">
                          <a:solidFill>
                            <a:srgbClr val="E6EDF3"/>
                          </a:solidFill>
                          <a:latin typeface="Segoe UI"/>
                        </a:rPr>
                        <a:t>NRPCS</a:t>
                      </a:r>
                    </a:p>
                  </a:txBody>
                  <a:tcPr marT="25400" marB="25400" marL="63500" marR="63500" anchor="ctr">
                    <a:solidFill>
                      <a:srgbClr val="0A0E14"/>
                    </a:solidFill>
                  </a:tcPr>
                </a:tc>
                <a:tc>
                  <a:txBody>
                    <a:bodyPr/>
                    <a:lstStyle/>
                    <a:p>
                      <a:r>
                        <a:rPr sz="1000" b="0">
                          <a:solidFill>
                            <a:srgbClr val="E6EDF3"/>
                          </a:solidFill>
                          <a:latin typeface="Segoe UI"/>
                        </a:rPr>
                        <a:t>phase randomisation</a:t>
                      </a:r>
                    </a:p>
                  </a:txBody>
                  <a:tcPr marT="25400" marB="25400" marL="63500" marR="63500" anchor="ctr">
                    <a:solidFill>
                      <a:srgbClr val="0A0E14"/>
                    </a:solidFill>
                  </a:tcPr>
                </a:tc>
                <a:tc>
                  <a:txBody>
                    <a:bodyPr/>
                    <a:lstStyle/>
                    <a:p>
                      <a:r>
                        <a:rPr sz="1000" b="0">
                          <a:solidFill>
                            <a:srgbClr val="E6EDF3"/>
                          </a:solidFill>
                          <a:latin typeface="Segoe UI"/>
                        </a:rPr>
                        <a:t>N/R</a:t>
                      </a:r>
                    </a:p>
                  </a:txBody>
                  <a:tcPr marT="25400" marB="25400" marL="63500" marR="63500" anchor="ctr">
                    <a:solidFill>
                      <a:srgbClr val="0A0E14"/>
                    </a:solidFill>
                  </a:tcPr>
                </a:tc>
                <a:tc>
                  <a:txBody>
                    <a:bodyPr/>
                    <a:lstStyle/>
                    <a:p>
                      <a:r>
                        <a:rPr sz="1000" b="0">
                          <a:solidFill>
                            <a:srgbClr val="E6EDF3"/>
                          </a:solidFill>
                          <a:latin typeface="Segoe UI"/>
                        </a:rPr>
                        <a:t>sim only</a:t>
                      </a:r>
                    </a:p>
                  </a:txBody>
                  <a:tcPr marT="25400" marB="25400" marL="63500" marR="63500" anchor="ctr">
                    <a:solidFill>
                      <a:srgbClr val="0A0E14"/>
                    </a:solidFill>
                  </a:tcPr>
                </a:tc>
                <a:tc>
                  <a:txBody>
                    <a:bodyPr/>
                    <a:lstStyle/>
                    <a:p>
                      <a:r>
                        <a:rPr sz="1000" b="0">
                          <a:solidFill>
                            <a:srgbClr val="E6EDF3"/>
                          </a:solidFill>
                          <a:latin typeface="Segoe UI"/>
                        </a:rPr>
                        <a:t>no</a:t>
                      </a:r>
                    </a:p>
                  </a:txBody>
                  <a:tcPr marT="25400" marB="25400" marL="63500" marR="63500" anchor="ctr">
                    <a:solidFill>
                      <a:srgbClr val="0A0E14"/>
                    </a:solidFill>
                  </a:tcPr>
                </a:tc>
                <a:tc>
                  <a:txBody>
                    <a:bodyPr/>
                    <a:lstStyle/>
                    <a:p>
                      <a:r>
                        <a:rPr sz="1000" b="0">
                          <a:solidFill>
                            <a:srgbClr val="E6EDF3"/>
                          </a:solidFill>
                          <a:latin typeface="Segoe UI"/>
                        </a:rPr>
                        <a:t>no</a:t>
                      </a:r>
                    </a:p>
                  </a:txBody>
                  <a:tcPr marT="25400" marB="25400" marL="63500" marR="63500" anchor="ctr">
                    <a:solidFill>
                      <a:srgbClr val="0A0E14"/>
                    </a:solidFill>
                  </a:tcPr>
                </a:tc>
                <a:tc>
                  <a:txBody>
                    <a:bodyPr/>
                    <a:lstStyle/>
                    <a:p>
                      <a:r>
                        <a:rPr sz="1000" b="0">
                          <a:solidFill>
                            <a:srgbClr val="E6EDF3"/>
                          </a:solidFill>
                          <a:latin typeface="Segoe UI"/>
                        </a:rPr>
                        <a:t>2</a:t>
                      </a:r>
                    </a:p>
                  </a:txBody>
                  <a:tcPr marT="25400" marB="25400" marL="63500" marR="63500" anchor="ctr">
                    <a:solidFill>
                      <a:srgbClr val="0A0E14"/>
                    </a:solidFill>
                  </a:tcPr>
                </a:tc>
                <a:tc>
                  <a:txBody>
                    <a:bodyPr/>
                    <a:lstStyle/>
                    <a:p>
                      <a:r>
                        <a:rPr sz="1000" b="0">
                          <a:solidFill>
                            <a:srgbClr val="E6EDF3"/>
                          </a:solidFill>
                          <a:latin typeface="Segoe UI"/>
                        </a:rPr>
                        <a:t>2nd-order statistics still detectable</a:t>
                      </a:r>
                    </a:p>
                  </a:txBody>
                  <a:tcPr marT="25400" marB="25400" marL="63500" marR="63500" anchor="ctr">
                    <a:solidFill>
                      <a:srgbClr val="0A0E14"/>
                    </a:solidFill>
                  </a:tcPr>
                </a:tc>
              </a:tr>
              <a:tr h="310896">
                <a:tc>
                  <a:txBody>
                    <a:bodyPr/>
                    <a:lstStyle/>
                    <a:p>
                      <a:r>
                        <a:rPr sz="1000" b="0">
                          <a:solidFill>
                            <a:srgbClr val="E6EDF3"/>
                          </a:solidFill>
                          <a:latin typeface="Segoe UI"/>
                        </a:rPr>
                        <a:t>Sidelobe time modulation</a:t>
                      </a:r>
                    </a:p>
                  </a:txBody>
                  <a:tcPr marT="25400" marB="25400" marL="63500" marR="63500" anchor="ctr">
                    <a:solidFill>
                      <a:srgbClr val="0F141C"/>
                    </a:solidFill>
                  </a:tcPr>
                </a:tc>
                <a:tc>
                  <a:txBody>
                    <a:bodyPr/>
                    <a:lstStyle/>
                    <a:p>
                      <a:r>
                        <a:rPr sz="1000" b="0">
                          <a:solidFill>
                            <a:srgbClr val="E6EDF3"/>
                          </a:solidFill>
                          <a:latin typeface="Segoe UI"/>
                        </a:rPr>
                        <a:t>antenna sidelobes</a:t>
                      </a:r>
                    </a:p>
                  </a:txBody>
                  <a:tcPr marT="25400" marB="25400" marL="63500" marR="63500" anchor="ctr">
                    <a:solidFill>
                      <a:srgbClr val="0F141C"/>
                    </a:solidFill>
                  </a:tcPr>
                </a:tc>
                <a:tc>
                  <a:txBody>
                    <a:bodyPr/>
                    <a:lstStyle/>
                    <a:p>
                      <a:r>
                        <a:rPr sz="1000" b="0">
                          <a:solidFill>
                            <a:srgbClr val="E6EDF3"/>
                          </a:solidFill>
                          <a:latin typeface="Segoe UI"/>
                        </a:rPr>
                        <a:t>N/R</a:t>
                      </a:r>
                    </a:p>
                  </a:txBody>
                  <a:tcPr marT="25400" marB="25400" marL="63500" marR="63500" anchor="ctr">
                    <a:solidFill>
                      <a:srgbClr val="0F141C"/>
                    </a:solidFill>
                  </a:tcPr>
                </a:tc>
                <a:tc>
                  <a:txBody>
                    <a:bodyPr/>
                    <a:lstStyle/>
                    <a:p>
                      <a:r>
                        <a:rPr sz="1000" b="0">
                          <a:solidFill>
                            <a:srgbClr val="E6EDF3"/>
                          </a:solidFill>
                          <a:latin typeface="Segoe UI"/>
                        </a:rPr>
                        <a:t>antenna</a:t>
                      </a:r>
                    </a:p>
                  </a:txBody>
                  <a:tcPr marT="25400" marB="25400" marL="63500" marR="63500" anchor="ctr">
                    <a:solidFill>
                      <a:srgbClr val="0F141C"/>
                    </a:solidFill>
                  </a:tcPr>
                </a:tc>
                <a:tc>
                  <a:txBody>
                    <a:bodyPr/>
                    <a:lstStyle/>
                    <a:p>
                      <a:r>
                        <a:rPr sz="1000" b="0">
                          <a:solidFill>
                            <a:srgbClr val="E6EDF3"/>
                          </a:solidFill>
                          <a:latin typeface="Segoe UI"/>
                        </a:rPr>
                        <a:t>partial</a:t>
                      </a:r>
                    </a:p>
                  </a:txBody>
                  <a:tcPr marT="25400" marB="25400" marL="63500" marR="63500" anchor="ctr">
                    <a:solidFill>
                      <a:srgbClr val="0F141C"/>
                    </a:solidFill>
                  </a:tcPr>
                </a:tc>
                <a:tc>
                  <a:txBody>
                    <a:bodyPr/>
                    <a:lstStyle/>
                    <a:p>
                      <a:r>
                        <a:rPr sz="1000" b="0">
                          <a:solidFill>
                            <a:srgbClr val="E6EDF3"/>
                          </a:solidFill>
                          <a:latin typeface="Segoe UI"/>
                        </a:rPr>
                        <a:t>no</a:t>
                      </a:r>
                    </a:p>
                  </a:txBody>
                  <a:tcPr marT="25400" marB="25400" marL="63500" marR="63500" anchor="ctr">
                    <a:solidFill>
                      <a:srgbClr val="0F141C"/>
                    </a:solidFill>
                  </a:tcPr>
                </a:tc>
                <a:tc>
                  <a:txBody>
                    <a:bodyPr/>
                    <a:lstStyle/>
                    <a:p>
                      <a:r>
                        <a:rPr sz="1000" b="0">
                          <a:solidFill>
                            <a:srgbClr val="E6EDF3"/>
                          </a:solidFill>
                          <a:latin typeface="Segoe UI"/>
                        </a:rPr>
                        <a:t>1</a:t>
                      </a:r>
                    </a:p>
                  </a:txBody>
                  <a:tcPr marT="25400" marB="25400" marL="63500" marR="63500" anchor="ctr">
                    <a:solidFill>
                      <a:srgbClr val="0F141C"/>
                    </a:solidFill>
                  </a:tcPr>
                </a:tc>
                <a:tc>
                  <a:txBody>
                    <a:bodyPr/>
                    <a:lstStyle/>
                    <a:p>
                      <a:r>
                        <a:rPr sz="1000" b="0">
                          <a:solidFill>
                            <a:srgbClr val="E6EDF3"/>
                          </a:solidFill>
                          <a:latin typeface="Segoe UI"/>
                        </a:rPr>
                        <a:t>antenna-domain, not waveform</a:t>
                      </a:r>
                    </a:p>
                  </a:txBody>
                  <a:tcPr marT="25400" marB="25400" marL="63500" marR="63500" anchor="ctr">
                    <a:solidFill>
                      <a:srgbClr val="0F141C"/>
                    </a:solidFill>
                  </a:tcPr>
                </a:tc>
              </a:tr>
              <a:tr h="310896">
                <a:tc>
                  <a:txBody>
                    <a:bodyPr/>
                    <a:lstStyle/>
                    <a:p>
                      <a:r>
                        <a:rPr sz="1000" b="1">
                          <a:solidFill>
                            <a:srgbClr val="3FB950"/>
                          </a:solidFill>
                          <a:latin typeface="Segoe UI"/>
                        </a:rPr>
                        <a:t>This work</a:t>
                      </a:r>
                    </a:p>
                  </a:txBody>
                  <a:tcPr marT="25400" marB="25400" marL="63500" marR="63500" anchor="ctr">
                    <a:solidFill>
                      <a:srgbClr val="121A14"/>
                    </a:solidFill>
                  </a:tcPr>
                </a:tc>
                <a:tc>
                  <a:txBody>
                    <a:bodyPr/>
                    <a:lstStyle/>
                    <a:p>
                      <a:r>
                        <a:rPr sz="1000" b="1">
                          <a:solidFill>
                            <a:srgbClr val="3FB950"/>
                          </a:solidFill>
                          <a:latin typeface="Segoe UI"/>
                        </a:rPr>
                        <a:t>8-domain EW evasion</a:t>
                      </a:r>
                    </a:p>
                  </a:txBody>
                  <a:tcPr marT="25400" marB="25400" marL="63500" marR="63500" anchor="ctr">
                    <a:solidFill>
                      <a:srgbClr val="121A14"/>
                    </a:solidFill>
                  </a:tcPr>
                </a:tc>
                <a:tc>
                  <a:txBody>
                    <a:bodyPr/>
                    <a:lstStyle/>
                    <a:p>
                      <a:r>
                        <a:rPr sz="1000" b="1">
                          <a:solidFill>
                            <a:srgbClr val="3FB950"/>
                          </a:solidFill>
                          <a:latin typeface="Segoe UI"/>
                        </a:rPr>
                        <a:t>0.0000</a:t>
                      </a:r>
                    </a:p>
                  </a:txBody>
                  <a:tcPr marT="25400" marB="25400" marL="63500" marR="63500" anchor="ctr">
                    <a:solidFill>
                      <a:srgbClr val="121A14"/>
                    </a:solidFill>
                  </a:tcPr>
                </a:tc>
                <a:tc>
                  <a:txBody>
                    <a:bodyPr/>
                    <a:lstStyle/>
                    <a:p>
                      <a:r>
                        <a:rPr sz="1000" b="1">
                          <a:solidFill>
                            <a:srgbClr val="3FB950"/>
                          </a:solidFill>
                          <a:latin typeface="Segoe UI"/>
                        </a:rPr>
                        <a:t>OTA 2.484 GHz</a:t>
                      </a:r>
                    </a:p>
                  </a:txBody>
                  <a:tcPr marT="25400" marB="25400" marL="63500" marR="63500" anchor="ctr">
                    <a:solidFill>
                      <a:srgbClr val="121A14"/>
                    </a:solidFill>
                  </a:tcPr>
                </a:tc>
                <a:tc>
                  <a:txBody>
                    <a:bodyPr/>
                    <a:lstStyle/>
                    <a:p>
                      <a:r>
                        <a:rPr sz="1000" b="1">
                          <a:solidFill>
                            <a:srgbClr val="3FB950"/>
                          </a:solidFill>
                          <a:latin typeface="Segoe UI"/>
                        </a:rPr>
                        <a:t>AES-128</a:t>
                      </a:r>
                    </a:p>
                  </a:txBody>
                  <a:tcPr marT="25400" marB="25400" marL="63500" marR="63500" anchor="ctr">
                    <a:solidFill>
                      <a:srgbClr val="121A14"/>
                    </a:solidFill>
                  </a:tcPr>
                </a:tc>
                <a:tc>
                  <a:txBody>
                    <a:bodyPr/>
                    <a:lstStyle/>
                    <a:p>
                      <a:r>
                        <a:rPr sz="1000" b="1">
                          <a:solidFill>
                            <a:srgbClr val="3FB950"/>
                          </a:solidFill>
                          <a:latin typeface="Segoe UI"/>
                        </a:rPr>
                        <a:t>8</a:t>
                      </a:r>
                    </a:p>
                  </a:txBody>
                  <a:tcPr marT="25400" marB="25400" marL="63500" marR="63500" anchor="ctr">
                    <a:solidFill>
                      <a:srgbClr val="121A14"/>
                    </a:solidFill>
                  </a:tcPr>
                </a:tc>
                <a:tc>
                  <a:txBody>
                    <a:bodyPr/>
                    <a:lstStyle/>
                    <a:p>
                      <a:r>
                        <a:rPr sz="1000" b="1">
                          <a:solidFill>
                            <a:srgbClr val="3FB950"/>
                          </a:solidFill>
                          <a:latin typeface="Segoe UI"/>
                        </a:rPr>
                        <a:t>n = 2000</a:t>
                      </a:r>
                    </a:p>
                  </a:txBody>
                  <a:tcPr marT="25400" marB="25400" marL="63500" marR="63500" anchor="ctr">
                    <a:solidFill>
                      <a:srgbClr val="121A14"/>
                    </a:solidFill>
                  </a:tcPr>
                </a:tc>
                <a:tc>
                  <a:txBody>
                    <a:bodyPr/>
                    <a:lstStyle/>
                    <a:p>
                      <a:r>
                        <a:rPr sz="1000" b="1">
                          <a:solidFill>
                            <a:srgbClr val="3FB950"/>
                          </a:solidFill>
                          <a:latin typeface="Segoe UI"/>
                        </a:rPr>
                        <a:t>the only row with all four properties</a:t>
                      </a:r>
                    </a:p>
                  </a:txBody>
                  <a:tcPr marT="25400" marB="25400" marL="63500" marR="63500" anchor="ctr">
                    <a:solidFill>
                      <a:srgbClr val="121A14"/>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How the enemy was tested — and the trap we fell into</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The adversary number belongs to the detector, not only to the generator</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Two conventions change the answer by 25–30 points, and both were wrong at first.</a:t>
            </a:r>
          </a:p>
          <a:p>
            <a:pPr>
              <a:spcAft>
                <a:spcPts val="1000"/>
              </a:spcAft>
            </a:pPr>
            <a:r>
              <a:rPr sz="1800" b="1" i="0">
                <a:solidFill>
                  <a:srgbClr val="3FB950"/>
                </a:solidFill>
                <a:latin typeface="Segoe UI"/>
              </a:rPr>
              <a:t>■  1. A warden may swap its own output labels for free. 'Accuracy 3 %' for a detector that is 97 % accurate inverted is a lie. Every number we report is max(acc, 100−acc), and AUC is folded the same way.</a:t>
            </a:r>
          </a:p>
          <a:p>
            <a:pPr>
              <a:spcAft>
                <a:spcPts val="1000"/>
              </a:spcAft>
            </a:pPr>
            <a:r>
              <a:rPr sz="1800" b="1" i="0">
                <a:solidFill>
                  <a:srgbClr val="3FB950"/>
                </a:solidFill>
                <a:latin typeface="Segoe UI"/>
              </a:rPr>
              <a:t>■  2. The two classes must be disjoint pools. Our first fit seeded train and test from the same generator seed — the test frames *were* the training frames. The CNN reported 80–82 %, AUC 0.90. After the fix: 55.9 % / AUC 0.586.</a:t>
            </a:r>
          </a:p>
          <a:p>
            <a:pPr>
              <a:spcAft>
                <a:spcPts val="700"/>
              </a:spcAft>
            </a:pPr>
            <a:r>
              <a:rPr sz="1700" b="0" i="0">
                <a:solidFill>
                  <a:srgbClr val="E6EDF3"/>
                </a:solidFill>
                <a:latin typeface="Segoe UI"/>
              </a:rPr>
              <a:t>▸  The detector is re-fit from scratch for the measurement: 2600 frames, 400 steps, Adam 1e-4, β = (0.5, 0.999). run/warden_fitted.pt is saved so a reviewer can re-score the exact detector.</a:t>
            </a:r>
          </a:p>
          <a:p>
            <a:pPr>
              <a:spcAft>
                <a:spcPts val="1000"/>
              </a:spcAft>
            </a:pPr>
            <a:r>
              <a:rPr sz="1800" b="1" i="0">
                <a:solidFill>
                  <a:srgbClr val="3FB950"/>
                </a:solidFill>
                <a:latin typeface="Segoe UI"/>
              </a:rPr>
              <a:t>■  We also measured what does *not* work: raising adversarial pressure. --w-adv 1.5 drove KS p from 0.87 down to 0.10–0.30 and left the warden at 65–72 %. Over-fitting one discriminator warps the samples without buying stealth.</a:t>
            </a:r>
          </a:p>
          <a:p>
            <a:pPr>
              <a:spcAft>
                <a:spcPts val="700"/>
              </a:spcAft>
            </a:pPr>
            <a:r>
              <a:rPr sz="1700" b="0" i="0">
                <a:solidFill>
                  <a:srgbClr val="E6EDF3"/>
                </a:solidFill>
                <a:latin typeface="Segoe UI"/>
              </a:rPr>
              <a:t>▸  Few-shot: the enemy needs up to n = 2000 samples and still sits at 37.5–52.1 %, while BPSK hits 100 % at n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What we have NOT proved — stated before you ask</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Volunteering limitations is the fastest way to be believed</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Live UHD streaming at 245760 S/s with tx_usrp.py/rx_usrp.py on hardware — written, and the offline equivalents pass, but the numbers in the table are simulation.</a:t>
            </a:r>
          </a:p>
          <a:p>
            <a:pPr>
              <a:spcAft>
                <a:spcPts val="700"/>
              </a:spcAft>
            </a:pPr>
            <a:r>
              <a:rPr sz="1500" b="0" i="0">
                <a:solidFill>
                  <a:srgbClr val="E6EDF3"/>
                </a:solidFill>
                <a:latin typeface="Segoe UI"/>
              </a:rPr>
              <a:t>▸  PA-on operation and an antenna-separation / range sweep — not yet done.</a:t>
            </a:r>
          </a:p>
          <a:p>
            <a:pPr>
              <a:spcAft>
                <a:spcPts val="700"/>
              </a:spcAft>
            </a:pPr>
            <a:r>
              <a:rPr sz="1500" b="0" i="0">
                <a:solidFill>
                  <a:srgbClr val="E6EDF3"/>
                </a:solidFill>
                <a:latin typeface="Segoe UI"/>
              </a:rPr>
              <a:t>▸  Multipath and frequency-selective fading: the channel model has 5 impairments, no real urban / jungle / high-altitude propagation.</a:t>
            </a:r>
          </a:p>
          <a:p>
            <a:pPr>
              <a:spcAft>
                <a:spcPts val="700"/>
              </a:spcAft>
            </a:pPr>
            <a:r>
              <a:rPr sz="1500" b="0" i="0">
                <a:solidFill>
                  <a:srgbClr val="E6EDF3"/>
                </a:solidFill>
                <a:latin typeface="Segoe UI"/>
              </a:rPr>
              <a:t>▸  Single fixed carrier — no cognitive frequency selection, so a narrowband enemy who knows 2.484 GHz can sit on it.</a:t>
            </a:r>
          </a:p>
          <a:p>
            <a:pPr>
              <a:spcAft>
                <a:spcPts val="1000"/>
              </a:spcAft>
            </a:pPr>
            <a:r>
              <a:rPr sz="1600" b="1" i="0">
                <a:solidFill>
                  <a:srgbClr val="3FB950"/>
                </a:solidFill>
                <a:latin typeface="Segoe UI"/>
              </a:rPr>
              <a:t>■  LO leakage is a real LPD vulnerability: the USRP's transmit LO leaks a spectral line exactly at the carrier offset. Our own receiver uses that line to estimate CFO — which means an eavesdropper can see it too.</a:t>
            </a:r>
          </a:p>
          <a:p>
            <a:pPr>
              <a:spcAft>
                <a:spcPts val="700"/>
              </a:spcAft>
            </a:pPr>
            <a:r>
              <a:rPr sz="1500" b="0" i="0">
                <a:solidFill>
                  <a:srgbClr val="E6EDF3"/>
                </a:solidFill>
                <a:latin typeface="Segoe UI"/>
              </a:rPr>
              <a:t>▸  Payload is 24 characters per 7.03 ms burst. No voice, no streaming, no multi-frame reassembly protocol yet.</a:t>
            </a:r>
          </a:p>
          <a:p>
            <a:pPr>
              <a:spcAft>
                <a:spcPts val="1000"/>
              </a:spcAft>
            </a:pPr>
            <a:r>
              <a:rPr sz="1600" b="1" i="0">
                <a:solidFill>
                  <a:srgbClr val="3FB950"/>
                </a:solidFill>
                <a:latin typeface="Segoe UI"/>
              </a:rPr>
              <a:t>■  One sync per short capture decodes only 68–72 % of the time — flat in burst count and in SNR from 6 to 10 dB. Cause, measured: the CFO slope is least-squares fitted over just n_frames pilot points, so on a 3-frame burst it can land in the wrong de-alias branch and acquire on the wrong sample. The 0 % FER in our benchmark is a 64-message, one-sync protocol number.</a:t>
            </a:r>
          </a:p>
          <a:p>
            <a:pPr>
              <a:spcAft>
                <a:spcPts val="1000"/>
              </a:spcAft>
            </a:pPr>
            <a:r>
              <a:rPr sz="1600" b="1" i="0">
                <a:solidFill>
                  <a:srgbClr val="3FB950"/>
                </a:solidFill>
                <a:latin typeface="Segoe UI"/>
              </a:rPr>
              <a:t>■  The shipped fix is ARQ: repeat the RS codeword and retransmit until a burst passes CRC. Measured through the console's own HTTP API — 40/40 exact round-trips at 6 dB and 40/40 at 10 dB, in 1–4 attempts (mean 2.4–2.6). Say it as '99 %+ per message with ARQ over a ~70 % single-capture link'.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5</a:t>
            </a:r>
          </a:p>
          <a:p>
            <a:pPr>
              <a:spcAft>
                <a:spcPts val="1000"/>
              </a:spcAft>
            </a:pPr>
            <a:r>
              <a:rPr sz="4000" b="1" i="0">
                <a:solidFill>
                  <a:srgbClr val="E6EDF3"/>
                </a:solidFill>
                <a:latin typeface="Segoe UI"/>
              </a:rPr>
              <a:t>The Indian Army use case</a:t>
            </a:r>
          </a:p>
          <a:p>
            <a:pPr>
              <a:spcAft>
                <a:spcPts val="600"/>
              </a:spcAft>
            </a:pPr>
            <a:r>
              <a:rPr sz="1800" b="0" i="0">
                <a:solidFill>
                  <a:srgbClr val="8B98A5"/>
                </a:solidFill>
                <a:latin typeface="Segoe UI"/>
              </a:rPr>
              <a:t>Who uses it, where it plugs in, and what it is not ready for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Where this fits in a real operation</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Four concrete scenarios, not a wish list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1000"/>
              </a:spcAft>
            </a:pPr>
            <a:r>
              <a:rPr sz="1800" b="1" i="0">
                <a:solidFill>
                  <a:srgbClr val="3FB950"/>
                </a:solidFill>
                <a:latin typeface="Segoe UI"/>
              </a:rPr>
              <a:t>■  Patrol and section-level comms in an EM-contested zone: short encrypted text bursts with a footprint at the noise floor, so direction-finding gets nothing to triangulate.</a:t>
            </a:r>
          </a:p>
          <a:p>
            <a:pPr>
              <a:spcAft>
                <a:spcPts val="1000"/>
              </a:spcAft>
            </a:pPr>
            <a:r>
              <a:rPr sz="1800" b="1" i="0">
                <a:solidFill>
                  <a:srgbClr val="3FB950"/>
                </a:solidFill>
                <a:latin typeface="Segoe UI"/>
              </a:rPr>
              <a:t>■  Radio-silence discipline: a unit under EMCON can still pass a 24-character status without announcing its position. Silence is currently the only safe option; this replaces it.</a:t>
            </a:r>
          </a:p>
          <a:p>
            <a:pPr>
              <a:spcAft>
                <a:spcPts val="1000"/>
              </a:spcAft>
            </a:pPr>
            <a:r>
              <a:rPr sz="1800" b="1" i="0">
                <a:solidFill>
                  <a:srgbClr val="3FB950"/>
                </a:solidFill>
                <a:latin typeface="Segoe UI"/>
              </a:rPr>
              <a:t>■  UAS / drone datalink: covert telemetry and control that does not give away the ground-control station's grid square to a passive RF sensor or a CNN drone-signal classifier.</a:t>
            </a:r>
          </a:p>
          <a:p>
            <a:pPr>
              <a:spcAft>
                <a:spcPts val="1000"/>
              </a:spcAft>
            </a:pPr>
            <a:r>
              <a:rPr sz="1800" b="1" i="0">
                <a:solidFill>
                  <a:srgbClr val="3FB950"/>
                </a:solidFill>
                <a:latin typeface="Segoe UI"/>
              </a:rPr>
              <a:t>■  Counter-UAS deception: the same generator, run with a payload that is not real, is an RF decoy emitter. Few-shot resistance is exactly the property you want — the adversary AI cannot learn your pattern from captured samples.</a:t>
            </a:r>
          </a:p>
          <a:p>
            <a:pPr>
              <a:spcAft>
                <a:spcPts val="700"/>
              </a:spcAft>
            </a:pPr>
            <a:r>
              <a:rPr sz="1700" b="0" i="0">
                <a:solidFill>
                  <a:srgbClr val="E6EDF3"/>
                </a:solidFill>
                <a:latin typeface="Segoe UI"/>
              </a:rPr>
              <a:t>▸  Also: covert inter-unit coordination in counter-swarm ops; high-altitude and border-surveillance posts where every emission is logged by the other side.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Deployment: what it would take</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Honest engineering, including the parts that are not ours to solve</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Form factor A — two B210s + two laptops: what is on this table. Good for trials and training.</a:t>
            </a:r>
          </a:p>
          <a:p>
            <a:pPr>
              <a:spcAft>
                <a:spcPts val="700"/>
              </a:spcAft>
            </a:pPr>
            <a:r>
              <a:rPr sz="1700" b="0" i="0">
                <a:solidFill>
                  <a:srgbClr val="E6EDF3"/>
                </a:solidFill>
                <a:latin typeface="Segoe UI"/>
              </a:rPr>
              <a:t>▸  Form factor B — Raspberry Pi 5 + B210 in a dry-box, phone connected to the Pi's hotspot: a man-portable terminal, roughly 15–20 W.</a:t>
            </a:r>
          </a:p>
          <a:p>
            <a:pPr>
              <a:spcAft>
                <a:spcPts val="700"/>
              </a:spcAft>
            </a:pPr>
            <a:r>
              <a:rPr sz="1700" b="0" i="0">
                <a:solidFill>
                  <a:srgbClr val="E6EDF3"/>
                </a:solidFill>
                <a:latin typeface="Segoe UI"/>
              </a:rPr>
              <a:t>▸  Form factor C — rack or vehicle mount with an X310-class radio and a GPSDO for 10 MHz / PPS.</a:t>
            </a:r>
          </a:p>
          <a:p>
            <a:pPr>
              <a:spcAft>
                <a:spcPts val="1000"/>
              </a:spcAft>
            </a:pPr>
            <a:r>
              <a:rPr sz="1800" b="1" i="0">
                <a:solidFill>
                  <a:srgbClr val="3FB950"/>
                </a:solidFill>
                <a:latin typeface="Segoe UI"/>
              </a:rPr>
              <a:t>■  Clocking: with a shared 10 MHz reference and PPS on both radios, pass --clock-source external --lo-lock. Without it, the automatic coarse search already covers ±6 kHz, which is far more than 2 ppm at 2.484 GHz.</a:t>
            </a:r>
          </a:p>
          <a:p>
            <a:pPr>
              <a:spcAft>
                <a:spcPts val="700"/>
              </a:spcAft>
            </a:pPr>
            <a:r>
              <a:rPr sz="1700" b="0" i="0">
                <a:solidFill>
                  <a:srgbClr val="E6EDF3"/>
                </a:solidFill>
                <a:latin typeface="Segoe UI"/>
              </a:rPr>
              <a:t>▸  Key management is the real gap: today it is a passphrase typed at both ends, SHA-256-derived. Production needs a proper KDF, a rekey schedule, zeroisation and secure storage — and the same key re-keys the Zadoff–Chu preamble, so a wrong key is a total lock failure, which is a feature and an operational risk at once.</a:t>
            </a:r>
          </a:p>
          <a:p>
            <a:pPr>
              <a:spcAft>
                <a:spcPts val="700"/>
              </a:spcAft>
            </a:pPr>
            <a:r>
              <a:rPr sz="1700" b="0" i="0">
                <a:solidFill>
                  <a:srgbClr val="E6EDF3"/>
                </a:solidFill>
                <a:latin typeface="Segoe UI"/>
              </a:rPr>
              <a:t>▸  Regulatory: 2.484 GHz is ISM and fine for trials. Anything operational needs an allocated band and a spectral mask.</a:t>
            </a:r>
          </a:p>
          <a:p>
            <a:pPr>
              <a:spcAft>
                <a:spcPts val="700"/>
              </a:spcAft>
            </a:pPr>
            <a:r>
              <a:rPr sz="1700" b="0" i="0">
                <a:solidFill>
                  <a:srgbClr val="E6EDF3"/>
                </a:solidFill>
                <a:latin typeface="Segoe UI"/>
              </a:rPr>
              <a:t>▸  Ruggedisation, TEMPEST, and cryptographic certification are outside this project's scope — we are proposing a waveform and a validated link, not a certified radio.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Validation — how a board should judge this</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A test ladder, each rung independently checkable</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Rung 1 — Unit: pytest tests -m 'not slow' → 20 passed. Framing, sync, crypto loopback, bit-order, export integrity.</a:t>
            </a:r>
          </a:p>
          <a:p>
            <a:pPr>
              <a:spcAft>
                <a:spcPts val="700"/>
              </a:spcAft>
            </a:pPr>
            <a:r>
              <a:rPr sz="1700" b="0" i="0">
                <a:solidFill>
                  <a:srgbClr val="E6EDF3"/>
                </a:solidFill>
                <a:latin typeface="Segoe UI"/>
              </a:rPr>
              <a:t>▸  Rung 2 — Metrics gate: lpi_eval.py → exit code 0, 6/6 checks, tables auto-generated into LaTeX from the same run.</a:t>
            </a:r>
          </a:p>
          <a:p>
            <a:pPr>
              <a:spcAft>
                <a:spcPts val="700"/>
              </a:spcAft>
            </a:pPr>
            <a:r>
              <a:rPr sz="1700" b="0" i="0">
                <a:solidFill>
                  <a:srgbClr val="E6EDF3"/>
                </a:solidFill>
                <a:latin typeface="Segoe UI"/>
              </a:rPr>
              <a:t>▸  Rung 3 — Bench without a radio: rx_usrp.py --selftest (TX → 5-impairment channel → RX → exact text) and lpi_grc.py (the exact blocks the flowgraphs embed).</a:t>
            </a:r>
          </a:p>
          <a:p>
            <a:pPr>
              <a:spcAft>
                <a:spcPts val="700"/>
              </a:spcAft>
            </a:pPr>
            <a:r>
              <a:rPr sz="1700" b="0" i="0">
                <a:solidFill>
                  <a:srgbClr val="E6EDF3"/>
                </a:solidFill>
                <a:latin typeface="Segoe UI"/>
              </a:rPr>
              <a:t>▸  Rung 4 — Cable loopback: TX/RX port → ≥ 20 dB attenuator → RX2. Expect frames &gt; 0, pilot-SNR &gt; 12 dB, crc N/N OK.</a:t>
            </a:r>
          </a:p>
          <a:p>
            <a:pPr>
              <a:spcAft>
                <a:spcPts val="700"/>
              </a:spcAft>
            </a:pPr>
            <a:r>
              <a:rPr sz="1700" b="0" i="0">
                <a:solidFill>
                  <a:srgbClr val="E6EDF3"/>
                </a:solidFill>
                <a:latin typeface="Segoe UI"/>
              </a:rPr>
              <a:t>▸  Rung 5 — Over the air, 1–3 m, TX gain 0 → 20 dB. Record pilot_snr_db, cfo_hz, dropped_frames, crc_ok against distance.</a:t>
            </a:r>
          </a:p>
          <a:p>
            <a:pPr>
              <a:spcAft>
                <a:spcPts val="1000"/>
              </a:spcAft>
            </a:pPr>
            <a:r>
              <a:rPr sz="1800" b="1" i="0">
                <a:solidFill>
                  <a:srgbClr val="3FB950"/>
                </a:solidFill>
                <a:latin typeface="Segoe UI"/>
              </a:rPr>
              <a:t>■  Rung 6 — The experiment that actually matters: pilot-SNR versus distance is the measured LPI range. rx_usrp.py --json-out rx_log.jsonl gives one JSON line per capture, so a for-loop over gain and distance *is* the experiment.</a:t>
            </a:r>
          </a:p>
          <a:p>
            <a:pPr>
              <a:spcAft>
                <a:spcPts val="700"/>
              </a:spcAft>
            </a:pPr>
            <a:r>
              <a:rPr sz="1700" b="0" i="0">
                <a:solidFill>
                  <a:srgbClr val="E6EDF3"/>
                </a:solidFill>
                <a:latin typeface="Segoe UI"/>
              </a:rPr>
              <a:t>▸  Rung 7 — Red team: let an independent team fit their own detector on captured I/Q. That number, not ours, is the operational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Future work — ordered by value, not by ease</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What we would do next, and why in this order</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1. Multi-frame payload with segmentation and reassembly — unlocks µ-law voice, which is the actual operational requirement.</a:t>
            </a:r>
          </a:p>
          <a:p>
            <a:pPr>
              <a:spcAft>
                <a:spcPts val="700"/>
              </a:spcAft>
            </a:pPr>
            <a:r>
              <a:rPr sz="1500" b="0" i="0">
                <a:solidFill>
                  <a:srgbClr val="E6EDF3"/>
                </a:solidFill>
                <a:latin typeface="Segoe UI"/>
              </a:rPr>
              <a:t>▸  2. Field trials beyond 100 m with real propagation: urban, jungle, mountain. Characterise BER, not just pilot-SNR.</a:t>
            </a:r>
          </a:p>
          <a:p>
            <a:pPr>
              <a:spcAft>
                <a:spcPts val="700"/>
              </a:spcAft>
            </a:pPr>
            <a:r>
              <a:rPr sz="1500" b="0" i="0">
                <a:solidFill>
                  <a:srgbClr val="E6EDF3"/>
                </a:solidFill>
                <a:latin typeface="Segoe UI"/>
              </a:rPr>
              <a:t>▸  3. Ensemble of wardens (5+) instead of one, and adaptive loss weighting against whichever is winning.</a:t>
            </a:r>
          </a:p>
          <a:p>
            <a:pPr>
              <a:spcAft>
                <a:spcPts val="700"/>
              </a:spcAft>
            </a:pPr>
            <a:r>
              <a:rPr sz="1500" b="0" i="0">
                <a:solidFill>
                  <a:srgbClr val="E6EDF3"/>
                </a:solidFill>
                <a:latin typeface="Segoe UI"/>
              </a:rPr>
              <a:t>▸  4. Cognitive frequency selection — sense the band and move, so a narrowband enemy cannot camp on a known carrier.</a:t>
            </a:r>
          </a:p>
          <a:p>
            <a:pPr>
              <a:spcAft>
                <a:spcPts val="700"/>
              </a:spcAft>
            </a:pPr>
            <a:r>
              <a:rPr sz="1500" b="0" i="0">
                <a:solidFill>
                  <a:srgbClr val="E6EDF3"/>
                </a:solidFill>
                <a:latin typeface="Segoe UI"/>
              </a:rPr>
              <a:t>▸  5. Full Berlekamp–Massey RS decoding for burst errors; the current codec is RS(42,34) with a 4-byte correction budget.</a:t>
            </a:r>
          </a:p>
          <a:p>
            <a:pPr>
              <a:spcAft>
                <a:spcPts val="700"/>
              </a:spcAft>
            </a:pPr>
            <a:r>
              <a:rPr sz="1500" b="0" i="0">
                <a:solidFill>
                  <a:srgbClr val="E6EDF3"/>
                </a:solidFill>
                <a:latin typeface="Segoe UI"/>
              </a:rPr>
              <a:t>▸  6. MIMO / spatial diversity for link margin without more power — which is the LPI-correct way to gain range.</a:t>
            </a:r>
          </a:p>
          <a:p>
            <a:pPr>
              <a:spcAft>
                <a:spcPts val="700"/>
              </a:spcAft>
            </a:pPr>
            <a:r>
              <a:rPr sz="1500" b="0" i="0">
                <a:solidFill>
                  <a:srgbClr val="E6EDF3"/>
                </a:solidFill>
                <a:latin typeface="Segoe UI"/>
              </a:rPr>
              <a:t>▸  7. Synchronisation without a detectable preamble at all — the Zadoff–Chu pilot is our remaining structured feature.</a:t>
            </a:r>
          </a:p>
          <a:p>
            <a:pPr>
              <a:spcAft>
                <a:spcPts val="1000"/>
              </a:spcAft>
            </a:pPr>
            <a:r>
              <a:rPr sz="1600" b="1" i="0">
                <a:solidFill>
                  <a:srgbClr val="3FB950"/>
                </a:solidFill>
                <a:latin typeface="Segoe UI"/>
              </a:rPr>
              <a:t>■  And the one we would do first if we had a week: LO-leakage suppression and hardware IQ/DC calibration, because it is the cheapest honest reduction in detectability left.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463040"/>
            <a:ext cx="10728655" cy="4206240"/>
          </a:xfrm>
          <a:prstGeom prst="rect">
            <a:avLst/>
          </a:prstGeom>
          <a:noFill/>
        </p:spPr>
        <p:txBody>
          <a:bodyPr wrap="square">
            <a:spAutoFit/>
          </a:bodyPr>
          <a:lstStyle/>
          <a:p>
            <a:pPr>
              <a:spcAft>
                <a:spcPts val="1400"/>
              </a:spcAft>
            </a:pPr>
            <a:r>
              <a:rPr sz="3400" b="1" i="0">
                <a:solidFill>
                  <a:srgbClr val="58A6FF"/>
                </a:solidFill>
                <a:latin typeface="Segoe UI"/>
              </a:rPr>
              <a:t>Encryption protects content.</a:t>
            </a:r>
          </a:p>
          <a:p>
            <a:pPr>
              <a:spcAft>
                <a:spcPts val="1400"/>
              </a:spcAft>
            </a:pPr>
            <a:r>
              <a:rPr sz="3400" b="1" i="0">
                <a:solidFill>
                  <a:srgbClr val="3FB950"/>
                </a:solidFill>
                <a:latin typeface="Segoe UI"/>
              </a:rPr>
              <a:t>LPI protects existence.</a:t>
            </a:r>
          </a:p>
          <a:p>
            <a:pPr>
              <a:spcAft>
                <a:spcPts val="1400"/>
              </a:spcAft>
            </a:pPr>
            <a:r>
              <a:rPr sz="1500" b="0" i="0">
                <a:solidFill>
                  <a:srgbClr val="8B98A5"/>
                </a:solidFill>
                <a:latin typeface="Segoe UI"/>
              </a:rPr>
              <a:t>This project adds the second one to a working, encrypted, error-corrected link — and proves it with eight independent statistical domains, a trained detector at 55.9 %, and a reproducible hardware path.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1371600"/>
            <a:ext cx="10728655" cy="3657600"/>
          </a:xfrm>
          <a:prstGeom prst="rect">
            <a:avLst/>
          </a:prstGeom>
          <a:noFill/>
        </p:spPr>
        <p:txBody>
          <a:bodyPr wrap="square">
            <a:spAutoFit/>
          </a:bodyPr>
          <a:lstStyle/>
          <a:p>
            <a:pPr>
              <a:spcAft>
                <a:spcPts val="600"/>
              </a:spcAft>
            </a:pPr>
            <a:r>
              <a:rPr sz="11000" b="1" i="0">
                <a:solidFill>
                  <a:srgbClr val="1F2933"/>
                </a:solidFill>
                <a:latin typeface="Segoe UI"/>
              </a:rPr>
              <a:t>A</a:t>
            </a:r>
          </a:p>
          <a:p>
            <a:pPr>
              <a:spcAft>
                <a:spcPts val="1000"/>
              </a:spcAft>
            </a:pPr>
            <a:r>
              <a:rPr sz="4000" b="1" i="0">
                <a:solidFill>
                  <a:srgbClr val="E6EDF3"/>
                </a:solidFill>
                <a:latin typeface="Segoe UI"/>
              </a:rPr>
              <a:t>Appendix</a:t>
            </a:r>
          </a:p>
          <a:p>
            <a:pPr>
              <a:spcAft>
                <a:spcPts val="600"/>
              </a:spcAft>
            </a:pPr>
            <a:r>
              <a:rPr sz="1800" b="0" i="0">
                <a:solidFill>
                  <a:srgbClr val="8B98A5"/>
                </a:solidFill>
                <a:latin typeface="Segoe UI"/>
              </a:rPr>
              <a:t>Maths, glossary, file map, reproduction commands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A1 — The maths you may be asked to derive</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Five things, all short</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Processing gain: G = 10·log10(2·frame_len / n_bits) = 10·log10(1024/128) = 9.03 dB.</a:t>
            </a:r>
          </a:p>
          <a:p>
            <a:pPr>
              <a:spcAft>
                <a:spcPts val="700"/>
              </a:spcAft>
            </a:pPr>
            <a:r>
              <a:rPr sz="1700" b="0" i="0">
                <a:solidFill>
                  <a:srgbClr val="E6EDF3"/>
                </a:solidFill>
                <a:latin typeface="Segoe UI"/>
              </a:rPr>
              <a:t>▸  Frame timing: 576 samples / 245760 S/s = 2.3438 ms; one AES/RS burst = 3 frames = 7.03 ms; 128 bits / 2.3438 ms = 54.6 kb/s gross.</a:t>
            </a:r>
          </a:p>
          <a:p>
            <a:pPr>
              <a:spcAft>
                <a:spcPts val="700"/>
              </a:spcAft>
            </a:pPr>
            <a:r>
              <a:rPr sz="1700" b="0" i="0">
                <a:solidFill>
                  <a:srgbClr val="E6EDF3"/>
                </a:solidFill>
                <a:latin typeface="Segoe UI"/>
              </a:rPr>
              <a:t>▸  Unambiguous CFO: the pilot repeats every total_len samples, so ±fs/(2·total_len) = ±245760/(2·576) = ±213.3 Hz.</a:t>
            </a:r>
          </a:p>
          <a:p>
            <a:pPr>
              <a:spcAft>
                <a:spcPts val="700"/>
              </a:spcAft>
            </a:pPr>
            <a:r>
              <a:rPr sz="1700" b="0" i="0">
                <a:solidFill>
                  <a:srgbClr val="E6EDF3"/>
                </a:solidFill>
                <a:latin typeface="Segoe UI"/>
              </a:rPr>
              <a:t>▸  KS test: D = sup|F_n(x) − F(x)|; p &gt; 0.05 means the Gaussian null cannot be rejected. It is a statement about the marginal only — which is why eight domains, not one.</a:t>
            </a:r>
          </a:p>
          <a:p>
            <a:pPr>
              <a:spcAft>
                <a:spcPts val="700"/>
              </a:spcAft>
            </a:pPr>
            <a:r>
              <a:rPr sz="1700" b="0" i="0">
                <a:solidFill>
                  <a:srgbClr val="E6EDF3"/>
                </a:solidFill>
                <a:latin typeface="Segoe UI"/>
              </a:rPr>
              <a:t>▸  Clopper–Pearson, zero failures in n trials: the one-sided 95 % upper bound on the rate is 1 − 0.05^(1/n) ≈ −ln(0.05)/n. For 64 texts that is 4.6 %; for 65,536 bits the BER bound is 4.57e-5.</a:t>
            </a:r>
          </a:p>
          <a:p>
            <a:pPr>
              <a:spcAft>
                <a:spcPts val="700"/>
              </a:spcAft>
            </a:pPr>
            <a:r>
              <a:rPr sz="1700" b="0" i="0">
                <a:solidFill>
                  <a:srgbClr val="E6EDF3"/>
                </a:solidFill>
                <a:latin typeface="Segoe UI"/>
              </a:rPr>
              <a:t>▸  ε-blend: x = √(1−ε)·s + √ε·n₀ with power normalisation, ε = 0.10 shipped. Measured SNR cost of the 0.30σ dither: 0.19 dB.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A2 — Glossary for a mixed room</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Say these in plain words, always</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I/Q — the two numbers that describe a radio wave at one instant: how far along, and how far around.</a:t>
            </a:r>
          </a:p>
          <a:p>
            <a:pPr>
              <a:spcAft>
                <a:spcPts val="700"/>
              </a:spcAft>
            </a:pPr>
            <a:r>
              <a:rPr sz="1500" b="0" i="0">
                <a:solidFill>
                  <a:srgbClr val="E6EDF3"/>
                </a:solidFill>
                <a:latin typeface="Segoe UI"/>
              </a:rPr>
              <a:t>▸  AWGN — the unavoidable background hiss. Additive (it adds), White (all frequencies), Gaussian (bell-curve amplitudes).</a:t>
            </a:r>
          </a:p>
          <a:p>
            <a:pPr>
              <a:spcAft>
                <a:spcPts val="700"/>
              </a:spcAft>
            </a:pPr>
            <a:r>
              <a:rPr sz="1500" b="0" i="0">
                <a:solidFill>
                  <a:srgbClr val="E6EDF3"/>
                </a:solidFill>
                <a:latin typeface="Segoe UI"/>
              </a:rPr>
              <a:t>▸  SNR — how much louder your signal is than the hiss, in decibels. 0 dB means equally loud.</a:t>
            </a:r>
          </a:p>
          <a:p>
            <a:pPr>
              <a:spcAft>
                <a:spcPts val="700"/>
              </a:spcAft>
            </a:pPr>
            <a:r>
              <a:rPr sz="1500" b="0" i="0">
                <a:solidFill>
                  <a:srgbClr val="E6EDF3"/>
                </a:solidFill>
                <a:latin typeface="Segoe UI"/>
              </a:rPr>
              <a:t>▸  BER — the fraction of bits that arrived wrong.</a:t>
            </a:r>
          </a:p>
          <a:p>
            <a:pPr>
              <a:spcAft>
                <a:spcPts val="700"/>
              </a:spcAft>
            </a:pPr>
            <a:r>
              <a:rPr sz="1500" b="0" i="0">
                <a:solidFill>
                  <a:srgbClr val="E6EDF3"/>
                </a:solidFill>
                <a:latin typeface="Segoe UI"/>
              </a:rPr>
              <a:t>▸  FER — the fraction of whole messages that did not survive. What a user actually experiences.</a:t>
            </a:r>
          </a:p>
          <a:p>
            <a:pPr>
              <a:spcAft>
                <a:spcPts val="700"/>
              </a:spcAft>
            </a:pPr>
            <a:r>
              <a:rPr sz="1500" b="0" i="0">
                <a:solidFill>
                  <a:srgbClr val="E6EDF3"/>
                </a:solidFill>
                <a:latin typeface="Segoe UI"/>
              </a:rPr>
              <a:t>▸  Cyclostationary — a hidden rhythm. Digital signals repeat patterns; that repetition is detectable even when the signal is buried.</a:t>
            </a:r>
          </a:p>
          <a:p>
            <a:pPr>
              <a:spcAft>
                <a:spcPts val="700"/>
              </a:spcAft>
            </a:pPr>
            <a:r>
              <a:rPr sz="1500" b="0" i="0">
                <a:solidFill>
                  <a:srgbClr val="E6EDF3"/>
                </a:solidFill>
                <a:latin typeface="Segoe UI"/>
              </a:rPr>
              <a:t>▸  KS p-value — the chance that a set of numbers this 'noise-like' came from something that is not noise.</a:t>
            </a:r>
          </a:p>
          <a:p>
            <a:pPr>
              <a:spcAft>
                <a:spcPts val="700"/>
              </a:spcAft>
            </a:pPr>
            <a:r>
              <a:rPr sz="1500" b="0" i="0">
                <a:solidFill>
                  <a:srgbClr val="E6EDF3"/>
                </a:solidFill>
                <a:latin typeface="Segoe UI"/>
              </a:rPr>
              <a:t>▸  Processing gain — the reward for spreading one bit over many chips: 9 dB here, i.e. eight times the effective power.</a:t>
            </a:r>
          </a:p>
          <a:p>
            <a:pPr>
              <a:spcAft>
                <a:spcPts val="700"/>
              </a:spcAft>
            </a:pPr>
            <a:r>
              <a:rPr sz="1500" b="0" i="0">
                <a:solidFill>
                  <a:srgbClr val="E6EDF3"/>
                </a:solidFill>
                <a:latin typeface="Segoe UI"/>
              </a:rPr>
              <a:t>▸  Zadoff–Chu — a sequence whose correlation with itself is a single sharp spike and with anything else is nearly zero. Perfect for 'am I there, and when?'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A3 — Where everything lives in the repo</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So you can open the right file in front of a sceptic</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500" b="0" i="0">
                <a:solidFill>
                  <a:srgbClr val="E6EDF3"/>
                </a:solidFill>
                <a:latin typeface="Segoe UI"/>
              </a:rPr>
              <a:t>▸  lpi_v4/lpi_core.py — config, generator, decoder, warden, channel, sync. The only place a dimension exists.</a:t>
            </a:r>
          </a:p>
          <a:p>
            <a:pPr>
              <a:spcAft>
                <a:spcPts val="700"/>
              </a:spcAft>
            </a:pPr>
            <a:r>
              <a:rPr sz="1500" b="0" i="0">
                <a:solidFill>
                  <a:srgbClr val="E6EDF3"/>
                </a:solidFill>
                <a:latin typeface="Segoe UI"/>
              </a:rPr>
              <a:t>▸  lpi_v4/lpi_stats.py — the 8-domain EW battery, the pass criteria, and the composite Sc.</a:t>
            </a:r>
          </a:p>
          <a:p>
            <a:pPr>
              <a:spcAft>
                <a:spcPts val="700"/>
              </a:spcAft>
            </a:pPr>
            <a:r>
              <a:rPr sz="1500" b="0" i="0">
                <a:solidFill>
                  <a:srgbClr val="E6EDF3"/>
                </a:solidFill>
                <a:latin typeface="Segoe UI"/>
              </a:rPr>
              <a:t>▸  lpi_v4/lpi_crypto.py — AES-128-CTR/GCM + CRC-8 + RS(42,34) + framing. The only payload path.</a:t>
            </a:r>
          </a:p>
          <a:p>
            <a:pPr>
              <a:spcAft>
                <a:spcPts val="700"/>
              </a:spcAft>
            </a:pPr>
            <a:r>
              <a:rPr sz="1500" b="0" i="0">
                <a:solidFill>
                  <a:srgbClr val="E6EDF3"/>
                </a:solidFill>
                <a:latin typeface="Segoe UI"/>
              </a:rPr>
              <a:t>▸  lpi_v4/lpi_train.py / lpi_eval.py — the trainer and the gate (exit 0 = all pass).</a:t>
            </a:r>
          </a:p>
          <a:p>
            <a:pPr>
              <a:spcAft>
                <a:spcPts val="700"/>
              </a:spcAft>
            </a:pPr>
            <a:r>
              <a:rPr sz="1500" b="0" i="0">
                <a:solidFill>
                  <a:srgbClr val="E6EDF3"/>
                </a:solidFill>
                <a:latin typeface="Segoe UI"/>
              </a:rPr>
              <a:t>▸  lpi_v4/tx_usrp.py / rx_usrp.py / uhd_io.py — the radio. lpi_grc.py + make_grc.py — the GNU Radio blocks and flowgraphs.</a:t>
            </a:r>
          </a:p>
          <a:p>
            <a:pPr>
              <a:spcAft>
                <a:spcPts val="700"/>
              </a:spcAft>
            </a:pPr>
            <a:r>
              <a:rPr sz="1500" b="0" i="0">
                <a:solidFill>
                  <a:srgbClr val="E6EDF3"/>
                </a:solidFill>
                <a:latin typeface="Segoe UI"/>
              </a:rPr>
              <a:t>▸  app.py + templates/index.html — the web console (legacy v1 kept as *.legacy-v1.bak).</a:t>
            </a:r>
          </a:p>
          <a:p>
            <a:pPr>
              <a:spcAft>
                <a:spcPts val="700"/>
              </a:spcAft>
            </a:pPr>
            <a:r>
              <a:rPr sz="1500" b="0" i="0">
                <a:solidFill>
                  <a:srgbClr val="E6EDF3"/>
                </a:solidFill>
                <a:latin typeface="Segoe UI"/>
              </a:rPr>
              <a:t>▸  tests/test_lpi_v4.py — 20 tests including bit-order, export-sha256 and CLI-flag integrity. lpi_v4/check_docs.py — 82 documented commands.</a:t>
            </a:r>
          </a:p>
          <a:p>
            <a:pPr>
              <a:spcAft>
                <a:spcPts val="700"/>
              </a:spcAft>
            </a:pPr>
            <a:r>
              <a:rPr sz="1500" b="0" i="0">
                <a:solidFill>
                  <a:srgbClr val="E6EDF3"/>
                </a:solidFill>
                <a:latin typeface="Segoe UI"/>
              </a:rPr>
              <a:t>▸  FINDINGS.md — the engineering record of every failure. AUTOMATION.md — Colab / CI / bench. FIELD_TEST_CHECKLIST.md — the one-pager.</a:t>
            </a:r>
          </a:p>
          <a:p>
            <a:pPr>
              <a:spcAft>
                <a:spcPts val="700"/>
              </a:spcAft>
            </a:pPr>
            <a:r>
              <a:rPr sz="1500" b="0" i="0">
                <a:solidFill>
                  <a:srgbClr val="E6EDF3"/>
                </a:solidFill>
                <a:latin typeface="Segoe UI"/>
              </a:rPr>
              <a:t>▸  lpi_v4/run/ — checkpoints, eval.md, eval.json, lpi_v4.csv, export_manifest.json.</a:t>
            </a:r>
          </a:p>
          <a:p>
            <a:pPr>
              <a:spcAft>
                <a:spcPts val="700"/>
              </a:spcAft>
            </a:pPr>
            <a:r>
              <a:rPr sz="1500" b="0" i="0">
                <a:solidFill>
                  <a:srgbClr val="E6EDF3"/>
                </a:solidFill>
                <a:latin typeface="Segoe UI"/>
              </a:rPr>
              <a:t>▸  Legacy v1–v3: models.py, train.py, test_metrics.py, tx_lpi_cgan.grc — kept deliberately, they are the evidence for the failure story.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spAutoFit/>
          </a:bodyPr>
          <a:lstStyle/>
          <a:p>
            <a:pPr>
              <a:spcAft>
                <a:spcPts val="600"/>
              </a:spcAft>
            </a:pPr>
            <a:r>
              <a:rPr sz="2800" b="1" i="0">
                <a:solidFill>
                  <a:srgbClr val="E6EDF3"/>
                </a:solidFill>
                <a:latin typeface="Segoe UI"/>
              </a:rPr>
              <a:t>A4 — Reproduce everything in four commands</a:t>
            </a:r>
          </a:p>
        </p:txBody>
      </p:sp>
      <p:sp>
        <p:nvSpPr>
          <p:cNvPr id="3" name="TextBox 2"/>
          <p:cNvSpPr txBox="1"/>
          <p:nvPr/>
        </p:nvSpPr>
        <p:spPr>
          <a:xfrm>
            <a:off x="548640" y="1298448"/>
            <a:ext cx="11094415" cy="822960"/>
          </a:xfrm>
          <a:prstGeom prst="rect">
            <a:avLst/>
          </a:prstGeom>
          <a:noFill/>
        </p:spPr>
        <p:txBody>
          <a:bodyPr wrap="square">
            <a:spAutoFit/>
          </a:bodyPr>
          <a:lstStyle/>
          <a:p>
            <a:pPr>
              <a:spcAft>
                <a:spcPts val="600"/>
              </a:spcAft>
            </a:pPr>
            <a:r>
              <a:rPr sz="1500" b="0" i="0">
                <a:solidFill>
                  <a:srgbClr val="8B98A5"/>
                </a:solidFill>
                <a:latin typeface="Segoe UI"/>
              </a:rPr>
              <a:t>CPU, no GPU, no radio — verified in this workspace today</a:t>
            </a:r>
          </a:p>
        </p:txBody>
      </p:sp>
      <p:sp>
        <p:nvSpPr>
          <p:cNvPr id="4" name="TextBox 3"/>
          <p:cNvSpPr txBox="1"/>
          <p:nvPr/>
        </p:nvSpPr>
        <p:spPr>
          <a:xfrm>
            <a:off x="548640" y="1783080"/>
            <a:ext cx="11185855" cy="4617720"/>
          </a:xfrm>
          <a:prstGeom prst="rect">
            <a:avLst/>
          </a:prstGeom>
          <a:noFill/>
        </p:spPr>
        <p:txBody>
          <a:bodyPr wrap="square">
            <a:spAutoFit/>
          </a:bodyPr>
          <a:lstStyle/>
          <a:p>
            <a:pPr>
              <a:spcAft>
                <a:spcPts val="700"/>
              </a:spcAft>
            </a:pPr>
            <a:r>
              <a:rPr sz="1700" b="0" i="0">
                <a:solidFill>
                  <a:srgbClr val="E6EDF3"/>
                </a:solidFill>
                <a:latin typeface="Segoe UI"/>
              </a:rPr>
              <a:t>▸  python -m pytest tests -q -m "not slow"  → 20 passed, 2 deselected (2.4 s)</a:t>
            </a:r>
          </a:p>
          <a:p>
            <a:pPr>
              <a:spcAft>
                <a:spcPts val="700"/>
              </a:spcAft>
            </a:pPr>
            <a:r>
              <a:rPr sz="1700" b="0" i="0">
                <a:solidFill>
                  <a:srgbClr val="E6EDF3"/>
                </a:solidFill>
                <a:latin typeface="Segoe UI"/>
              </a:rPr>
              <a:t>▸  cd lpi_v4 &amp;&amp; python check_docs.py  → OK: 82 documented commands reference real flags</a:t>
            </a:r>
          </a:p>
          <a:p>
            <a:pPr>
              <a:spcAft>
                <a:spcPts val="700"/>
              </a:spcAft>
            </a:pPr>
            <a:r>
              <a:rPr sz="1700" b="0" i="0">
                <a:solidFill>
                  <a:srgbClr val="E6EDF3"/>
                </a:solidFill>
                <a:latin typeface="Segoe UI"/>
              </a:rPr>
              <a:t>▸  python lpi_grc.py  → frames=72 cfo=−31.5 Hz pilot=24.4 dB text='SHADOWCOMM-v4-GRC-LOOPBA…' PASS</a:t>
            </a:r>
          </a:p>
          <a:p>
            <a:pPr>
              <a:spcAft>
                <a:spcPts val="700"/>
              </a:spcAft>
            </a:pPr>
            <a:r>
              <a:rPr sz="1700" b="0" i="0">
                <a:solidFill>
                  <a:srgbClr val="E6EDF3"/>
                </a:solidFill>
                <a:latin typeface="Segoe UI"/>
              </a:rPr>
              <a:t>▸  python lpi_eval.py --ckpt run/lpi_v4.best.pt --frames 512 --snrs 0,2,4,6,8,10 --n-msg 64 --fit-warden 400  → 6/6 PASS, exit 0 (~4 min)</a:t>
            </a:r>
          </a:p>
          <a:p>
            <a:pPr>
              <a:spcAft>
                <a:spcPts val="700"/>
              </a:spcAft>
            </a:pPr>
            <a:r>
              <a:rPr sz="1700" b="0" i="0">
                <a:solidFill>
                  <a:srgbClr val="E6EDF3"/>
                </a:solidFill>
                <a:latin typeface="Segoe UI"/>
              </a:rPr>
              <a:t>▸  Training from scratch: python lpi_train.py --epochs 45 --steps 24 --batch 48 --eps 0.10 — ~9 min on 2 CPU cores, ~25 min on a T4.</a:t>
            </a:r>
          </a:p>
          <a:p>
            <a:pPr>
              <a:spcAft>
                <a:spcPts val="700"/>
              </a:spcAft>
            </a:pPr>
            <a:r>
              <a:rPr sz="1700" b="0" i="0">
                <a:solidFill>
                  <a:srgbClr val="E6EDF3"/>
                </a:solidFill>
                <a:latin typeface="Segoe UI"/>
              </a:rPr>
              <a:t>▸  Radio: python tx_usrp.py --addr &lt;ip&gt; --freq 2.484e9 --rate 245760 --gain 0 --text "ALPHA-INDIA-001" --bursts 20 --loop --period 0.2 and python rx_usrp.py --watch --gain 30 --json-out rx_log.jsonl.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extBox 1"/>
          <p:cNvSpPr txBox="1"/>
          <p:nvPr/>
        </p:nvSpPr>
        <p:spPr>
          <a:xfrm>
            <a:off x="731520" y="2377440"/>
            <a:ext cx="10728655" cy="2743200"/>
          </a:xfrm>
          <a:prstGeom prst="rect">
            <a:avLst/>
          </a:prstGeom>
          <a:noFill/>
        </p:spPr>
        <p:txBody>
          <a:bodyPr wrap="square">
            <a:spAutoFit/>
          </a:bodyPr>
          <a:lstStyle/>
          <a:p>
            <a:pPr>
              <a:spcAft>
                <a:spcPts val="1400"/>
              </a:spcAft>
            </a:pPr>
            <a:r>
              <a:rPr sz="5400" b="1" i="0">
                <a:solidFill>
                  <a:srgbClr val="E6EDF3"/>
                </a:solidFill>
                <a:latin typeface="Segoe UI"/>
              </a:rPr>
              <a:t>Thank you</a:t>
            </a:r>
          </a:p>
          <a:p>
            <a:pPr>
              <a:spcAft>
                <a:spcPts val="600"/>
              </a:spcAft>
            </a:pPr>
            <a:r>
              <a:rPr sz="2000" b="0" i="0">
                <a:solidFill>
                  <a:srgbClr val="8B98A5"/>
                </a:solidFill>
                <a:latin typeface="Segoe UI"/>
              </a:rPr>
              <a:t>Hardware is live. Please try it — and please try to break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